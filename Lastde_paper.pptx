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0"/>
    <p:sldId id="264" r:id="rId11"/>
    <p:sldId id="265" r:id="rId12"/>
    <p:sldId id="266" r:id="rId13"/>
    <p:sldId id="267" r:id="rId14"/>
    <p:sldId id="268" r:id="rId15"/>
    <p:sldId id="270" r:id="rId16"/>
    <p:sldId id="271" r:id="rId17"/>
    <p:sldId id="272" r:id="rId18"/>
    <p:sldId id="273" r:id="rId1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DetectLRR</c:f>
              <c:strCache>
                <c:ptCount val="1"/>
                <c:pt idx="0">
                  <c:v>DetectLRR</c:v>
                </c:pt>
              </c:strCache>
            </c:strRef>
          </c:tx>
          <c:spPr>
            <a:solidFill>
              <a:srgbClr val="637279"/>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White box</c:v>
                </c:pt>
                <c:pt idx="1">
                  <c:v>Black box</c:v>
                </c:pt>
              </c:strCache>
            </c:strRef>
          </c:cat>
          <c:val>
            <c:numRef>
              <c:f>'Chart Data'!$B$2:$B$3</c:f>
              <c:numCache>
                <c:formatCode>General</c:formatCode>
                <c:ptCount val="2"/>
                <c:pt idx="0">
                  <c:v>90.8</c:v>
                </c:pt>
                <c:pt idx="1">
                  <c:v>80.45</c:v>
                </c:pt>
              </c:numCache>
            </c:numRef>
          </c:val>
        </c:ser>
        <c:ser>
          <c:idx val="1"/>
          <c:order val="1"/>
          <c:tx>
            <c:strRef>
              <c:f>Lastde</c:f>
              <c:strCache>
                <c:ptCount val="1"/>
                <c:pt idx="0">
                  <c:v>Lastde</c:v>
                </c:pt>
              </c:strCache>
            </c:strRef>
          </c:tx>
          <c:spPr>
            <a:solidFill>
              <a:srgbClr val="147A78"/>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White box</c:v>
                </c:pt>
                <c:pt idx="1">
                  <c:v>Black box</c:v>
                </c:pt>
              </c:strCache>
            </c:strRef>
          </c:cat>
          <c:val>
            <c:numRef>
              <c:f>'Chart Data'!$D$2:$D$3</c:f>
              <c:numCache>
                <c:formatCode>General</c:formatCode>
                <c:ptCount val="2"/>
                <c:pt idx="0">
                  <c:v>95.89</c:v>
                </c:pt>
                <c:pt idx="1">
                  <c:v>86.38</c:v>
                </c:pt>
              </c:numCache>
            </c:numRef>
          </c:val>
        </c:ser>
        <c:dLbls>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75" b="0" i="0" u="none" strike="noStrike" kern="1200" baseline="0">
                <a:solidFill>
                  <a:srgbClr val="182226"/>
                </a:solidFill>
                <a:latin typeface="Arial" panose="020B0604020202090204"/>
                <a:ea typeface="Arial" panose="020B0604020202090204"/>
                <a:cs typeface="Arial" panose="020B0604020202090204"/>
              </a:defRPr>
            </a:pPr>
          </a:p>
        </c:txPr>
        <c:crossAx val="48672768"/>
        <c:crosses val="autoZero"/>
        <c:auto val="1"/>
        <c:lblAlgn val="ctr"/>
        <c:lblOffset val="100"/>
        <c:noMultiLvlLbl val="0"/>
      </c:catAx>
      <c:valAx>
        <c:axId val="48672768"/>
        <c:scaling>
          <c:orientation val="minMax"/>
          <c:max val="100"/>
          <c:min val="70"/>
        </c:scaling>
        <c:delete val="0"/>
        <c:axPos val="l"/>
        <c:majorGridlines>
          <c:spPr>
            <a:ln w="9525">
              <a:solidFill>
                <a:srgbClr val="D7DED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604020202090204"/>
                    <a:ea typeface="Arial" panose="020B0604020202090204"/>
                    <a:cs typeface="Arial" panose="020B0604020202090204"/>
                  </a:rPr>
                  <a:t>Average AUROC</a:t>
                </a:r>
                <a:endParaRPr>
                  <a:latin typeface="Arial" panose="020B0604020202090204"/>
                  <a:ea typeface="Arial" panose="020B0604020202090204"/>
                  <a:cs typeface="Arial" panose="020B060402020209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00" b="0" i="0" u="none" strike="noStrike" kern="1200" baseline="0">
                <a:solidFill>
                  <a:srgbClr val="637279"/>
                </a:solidFill>
                <a:latin typeface="Arial" panose="020B0604020202090204"/>
                <a:ea typeface="Arial" panose="020B0604020202090204"/>
                <a:cs typeface="Arial" panose="020B0604020202090204"/>
              </a:defRPr>
            </a:pPr>
          </a:p>
        </c:txPr>
        <c:crossAx val="48650112"/>
        <c:crosses val="autoZero"/>
        <c:crossBetween val="between"/>
        <c:majorUnit val="5"/>
      </c:valAx>
      <c:spPr>
        <a:solidFill>
          <a:srgbClr val="F7F6F2"/>
        </a:solidFill>
        <a:ln w="0">
          <a:noFill/>
          <a:prstDash val="solid"/>
        </a:ln>
      </c:spPr>
    </c:plotArea>
    <c:legend>
      <c:legendPos val="b"/>
      <c:layout/>
      <c:overlay val="0"/>
      <c:txPr>
        <a:bodyPr rot="0" spcFirstLastPara="0" vertOverflow="ellipsis" vert="horz" wrap="square" anchor="ctr" anchorCtr="1"/>
        <a:lstStyle/>
        <a:p>
          <a:pPr>
            <a:defRPr lang="zh-CN" sz="975" b="0" i="0" u="none" strike="noStrike" kern="1200" baseline="0">
              <a:solidFill>
                <a:srgbClr val="182226"/>
              </a:solidFill>
              <a:latin typeface="Arial" panose="020B0604020202090204"/>
              <a:ea typeface="Arial" panose="020B0604020202090204"/>
              <a:cs typeface="Arial" panose="020B0604020202090204"/>
            </a:defRPr>
          </a:pPr>
        </a:p>
      </c:txPr>
    </c:legend>
    <c:plotVisOnly val="1"/>
    <c:dispBlanksAs val="gap"/>
    <c:showDLblsOverMax val="0"/>
    <c:extLst>
      <c:ext uri="{0b15fc19-7d7d-44ad-8c2d-2c3a37ce22c3}">
        <chartProps xmlns="https://web.wps.cn/et/2018/main" chartId="{ae2357f6-db2d-49ed-91bd-9373956735b5}"/>
      </c:ext>
    </c:extLst>
  </c:chart>
  <c:spPr>
    <a:solidFill>
      <a:srgbClr val="F7F6F2"/>
    </a:solidFill>
    <a:ln w="0">
      <a:noFill/>
      <a:prstDash val="solid"/>
    </a:ln>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Fast-DetectGPT</c:f>
              <c:strCache>
                <c:ptCount val="1"/>
                <c:pt idx="0">
                  <c:v>Fast-DetectGPT</c:v>
                </c:pt>
              </c:strCache>
            </c:strRef>
          </c:tx>
          <c:spPr>
            <a:solidFill>
              <a:srgbClr val="637279"/>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White box</c:v>
                </c:pt>
                <c:pt idx="1">
                  <c:v>Black box</c:v>
                </c:pt>
              </c:strCache>
            </c:strRef>
          </c:cat>
          <c:val>
            <c:numRef>
              <c:f>'Chart Data'!$B$2:$B$3</c:f>
              <c:numCache>
                <c:formatCode>General</c:formatCode>
                <c:ptCount val="2"/>
                <c:pt idx="0">
                  <c:v>97.82</c:v>
                </c:pt>
                <c:pt idx="1">
                  <c:v>85.68</c:v>
                </c:pt>
              </c:numCache>
            </c:numRef>
          </c:val>
        </c:ser>
        <c:ser>
          <c:idx val="1"/>
          <c:order val="1"/>
          <c:tx>
            <c:strRef>
              <c:f>Lastde++</c:f>
              <c:strCache>
                <c:ptCount val="1"/>
                <c:pt idx="0">
                  <c:v>Lastde++</c:v>
                </c:pt>
              </c:strCache>
            </c:strRef>
          </c:tx>
          <c:spPr>
            <a:solidFill>
              <a:srgbClr val="E7684A"/>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White box</c:v>
                </c:pt>
                <c:pt idx="1">
                  <c:v>Black box</c:v>
                </c:pt>
              </c:strCache>
            </c:strRef>
          </c:cat>
          <c:val>
            <c:numRef>
              <c:f>'Chart Data'!$D$2:$D$3</c:f>
              <c:numCache>
                <c:formatCode>General</c:formatCode>
                <c:ptCount val="2"/>
                <c:pt idx="0">
                  <c:v>98.85</c:v>
                </c:pt>
                <c:pt idx="1">
                  <c:v>91.47</c:v>
                </c:pt>
              </c:numCache>
            </c:numRef>
          </c:val>
        </c:ser>
        <c:dLbls>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75" b="0" i="0" u="none" strike="noStrike" kern="1200" baseline="0">
                <a:solidFill>
                  <a:srgbClr val="182226"/>
                </a:solidFill>
                <a:latin typeface="Arial" panose="020B0604020202090204"/>
                <a:ea typeface="Arial" panose="020B0604020202090204"/>
                <a:cs typeface="Arial" panose="020B0604020202090204"/>
              </a:defRPr>
            </a:pPr>
          </a:p>
        </c:txPr>
        <c:crossAx val="48672768"/>
        <c:crosses val="autoZero"/>
        <c:auto val="1"/>
        <c:lblAlgn val="ctr"/>
        <c:lblOffset val="100"/>
        <c:noMultiLvlLbl val="0"/>
      </c:catAx>
      <c:valAx>
        <c:axId val="48672768"/>
        <c:scaling>
          <c:orientation val="minMax"/>
          <c:max val="100"/>
          <c:min val="70"/>
        </c:scaling>
        <c:delete val="0"/>
        <c:axPos val="l"/>
        <c:majorGridlines>
          <c:spPr>
            <a:ln w="9525">
              <a:solidFill>
                <a:srgbClr val="D7DED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604020202090204"/>
                    <a:ea typeface="Arial" panose="020B0604020202090204"/>
                    <a:cs typeface="Arial" panose="020B0604020202090204"/>
                  </a:rPr>
                  <a:t>Average AUROC</a:t>
                </a:r>
                <a:endParaRPr>
                  <a:latin typeface="Arial" panose="020B0604020202090204"/>
                  <a:ea typeface="Arial" panose="020B0604020202090204"/>
                  <a:cs typeface="Arial" panose="020B060402020209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00" b="0" i="0" u="none" strike="noStrike" kern="1200" baseline="0">
                <a:solidFill>
                  <a:srgbClr val="637279"/>
                </a:solidFill>
                <a:latin typeface="Arial" panose="020B0604020202090204"/>
                <a:ea typeface="Arial" panose="020B0604020202090204"/>
                <a:cs typeface="Arial" panose="020B0604020202090204"/>
              </a:defRPr>
            </a:pPr>
          </a:p>
        </c:txPr>
        <c:crossAx val="48650112"/>
        <c:crosses val="autoZero"/>
        <c:crossBetween val="between"/>
        <c:majorUnit val="5"/>
      </c:valAx>
      <c:spPr>
        <a:solidFill>
          <a:srgbClr val="F7F6F2"/>
        </a:solidFill>
        <a:ln w="0">
          <a:noFill/>
          <a:prstDash val="solid"/>
        </a:ln>
      </c:spPr>
    </c:plotArea>
    <c:legend>
      <c:legendPos val="b"/>
      <c:layout/>
      <c:overlay val="0"/>
      <c:txPr>
        <a:bodyPr rot="0" spcFirstLastPara="0" vertOverflow="ellipsis" vert="horz" wrap="square" anchor="ctr" anchorCtr="1"/>
        <a:lstStyle/>
        <a:p>
          <a:pPr>
            <a:defRPr lang="zh-CN" sz="975" b="0" i="0" u="none" strike="noStrike" kern="1200" baseline="0">
              <a:solidFill>
                <a:srgbClr val="182226"/>
              </a:solidFill>
              <a:latin typeface="Arial" panose="020B0604020202090204"/>
              <a:ea typeface="Arial" panose="020B0604020202090204"/>
              <a:cs typeface="Arial" panose="020B0604020202090204"/>
            </a:defRPr>
          </a:pPr>
        </a:p>
      </c:txPr>
    </c:legend>
    <c:plotVisOnly val="1"/>
    <c:dispBlanksAs val="gap"/>
    <c:showDLblsOverMax val="0"/>
    <c:extLst>
      <c:ext uri="{0b15fc19-7d7d-44ad-8c2d-2c3a37ce22c3}">
        <chartProps xmlns="https://web.wps.cn/et/2018/main" chartId="{8c32f598-6369-478b-8d00-df9fe8a81961}"/>
      </c:ext>
    </c:extLst>
  </c:chart>
  <c:spPr>
    <a:solidFill>
      <a:srgbClr val="F7F6F2"/>
    </a:solidFill>
    <a:ln w="0">
      <a:noFill/>
      <a:prstDash val="solid"/>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0:40</a:t>
            </a:r>
          </a:p>
          <a:p/>
          <a:p>
            <a:r>
              <a:t>Introduce the paper and the central question: can a detector identify LLM-generated text without training a new classifier? The talk follows the paper from its probability-sequence observation through the method, experiments, robustness tests and limitations.</a:t>
            </a:r>
          </a:p>
          <a:p/>
          <a:p>
            <a:r>
              <a:t>Sources:</a:t>
            </a:r>
          </a:p>
          <a:p>
            <a:r>
              <a:t>- Xu et al., Training-free LLM-generated Text Detection by Mining Token Probability Sequences, ICLR 2025.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1:05</a:t>
            </a:r>
          </a:p>
          <a:p/>
          <a:p>
            <a:r>
              <a:t>State the task and the paper's three contributions. The authors treat token probabilities as a sequence, build Lastde from global and local statistics, and introduce Lastde++ to normalize scores using conditional samples. The paper evaluates both access to the true source model and the more realistic proxy-model setting.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1:00</a:t>
            </a:r>
          </a:p>
          <a:p/>
          <a:p>
            <a:r>
              <a:t>Define the two regimes. White-box scoring uses the actual generator, while black-box scoring uses an accessible proxy. Proxy mismatch changes tokenization and probability estimates, so black-box results are lower and more variable.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0:55</a:t>
            </a:r>
          </a:p>
          <a:p/>
          <a:p>
            <a:r>
              <a:t>Place Lastde among training-free methods. Likelihood and rank methods compress the text into global statistics. Sampling methods compare a candidate with a reference distribution but can be expensive. Lastde adds local temporal structure from the token probability sequence.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1:20</a:t>
            </a:r>
          </a:p>
          <a:p/>
          <a:p>
            <a:r>
              <a:t>Explain TPS as the sequence of conditional probabilities assigned to observed tokens. Human writers choose surprising words more often, creating deeper valleys. LLM generation tends to favor probable tokens. The authors use local fluctuation patterns rather than relying only on the average probability.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1:15</a:t>
            </a:r>
          </a:p>
          <a:p/>
          <a:p>
            <a:r>
              <a:t>Give the full pipeline before the equations. The model extracts token log probabilities, creates representations at several scales, measures local segment relations, converts them into diversity entropy, and combines the local statistic with average log likelihood. Lastde++ adds sample normalization after this pipeline.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1:15</a:t>
            </a:r>
          </a:p>
          <a:p/>
          <a:p>
            <a:r>
              <a:t>At each scale, overlapping windows form local vectors. Cosine similarity compares adjacent vectors. The method discretizes these similarity values, estimates state frequencies and computes normalized entropy. High entropy means a richer set of local transitions, while low entropy indicates concentrated or repetitive patterns.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1:00</a:t>
            </a:r>
          </a:p>
          <a:p/>
          <a:p>
            <a:r>
              <a:t>Read the figure qualitatively. Across the six dataset and model pairs, human text has higher diversity entropy at most scales. This supports the claim that human probability dynamics are more varied, while LLM text produces more concentrated patterns.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1:15</a:t>
            </a:r>
          </a:p>
          <a:p/>
          <a:p>
            <a:r>
              <a:t>The numerator captures global predictability, and the denominator captures variation in local complexity across scales. The ablation distributions show more overlap when either component is used alone. Their combination gives better separation. Lastde defaults are s=3, epsilon=10n and tau-prime=5.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1:10</a:t>
            </a:r>
          </a:p>
          <a:p/>
          <a:p>
            <a:r>
              <a:t>Lastde++ creates a text-specific reference distribution using conditional samples. It converts the candidate score into a standardized deviation. The default uses 100 samples, while the Fast-DetectGPT configuration discussed in the paper uses 10,000. Lastde++ defaults are s=4, epsilon=8n and tau-prime=15.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1:00</a:t>
            </a:r>
          </a:p>
          <a:p/>
          <a:p>
            <a:r>
              <a:t>Summarize the benchmark. The main metric is AUROC. The black-box experiments use GPT-J 6B as the default proxy. The main setup filters texts below 150 words, which limits claims about short responses.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1:20</a:t>
            </a:r>
          </a:p>
          <a:p/>
          <a:p>
            <a:r>
              <a:t>Compare the methods within their families. Lastde improves over DetectLRR in both settings. Lastde++ improves over Fast-DetectGPT and reaches 91.47 average AUROC in black-box detection. The black-box gains matter most because they reflect the practical proxy-model setting.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1:20</a:t>
            </a:r>
          </a:p>
          <a:p/>
          <a:p>
            <a:r>
              <a:t>The cross-language experiments cover English, German and Chinese. Lastde++ remains strong across these languages. Paraphrasing reduces AUROC in both white-box and black-box settings. Lastde++ keeps a higher absolute score, but the attack remains effective.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1:15</a:t>
            </a:r>
          </a:p>
          <a:p/>
          <a:p>
            <a:r>
              <a:t>The ablation supports the combination of global likelihood and local MDE. Figure 8 adds an important caveat: black-box performance changes substantially with the proxy model. A method can perform well with one proxy and much worse with another.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1:15</a:t>
            </a:r>
          </a:p>
          <a:p/>
          <a:p>
            <a:r>
              <a:t>Summarize the limits that affect interpretation. The benchmark provides limited evidence for short text. Paraphrasing reduces performance, proxy choice matters, and AUROC does not determine a universal threshold. The paper's ethics statement says the detector should provide supplementary evidence and support human judgment in critical decisions.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timing: 0:50</a:t>
            </a:r>
          </a:p>
          <a:p/>
          <a:p>
            <a:r>
              <a:t>Conclude with the central chain of evidence. Local token-probability dynamics differ between human and LLM text. Lastde combines this local signal with global likelihood. Lastde++ adds efficient normalization. The reported results are strong, especially in black-box averages, but reliability still depends on text length, proxy choice and resistance to rewriting.</a:t>
            </a:r>
          </a:p>
          <a:p/>
          <a:p>
            <a:r>
              <a:t>Sources:</a:t>
            </a:r>
          </a:p>
          <a:p>
            <a:r>
              <a:t>- Xu et al., ICLR 2025.</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6.xml"/><Relationship Id="rId2" Type="http://schemas.openxmlformats.org/officeDocument/2006/relationships/chart" Target="../charts/chart2.xml"/><Relationship Id="rId1" Type="http://schemas.openxmlformats.org/officeDocument/2006/relationships/chart" Target="../charts/char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A1E"/>
        </a:solidFill>
        <a:effectLst/>
      </p:bgPr>
    </p:bg>
    <p:spTree>
      <p:nvGrpSpPr>
        <p:cNvPr id="1" name=""/>
        <p:cNvGrpSpPr/>
        <p:nvPr/>
      </p:nvGrpSpPr>
      <p:grpSpPr/>
      <p:sp>
        <p:nvSpPr>
          <p:cNvPr id="8" name="矩形 7"/>
          <p:cNvSpPr>
            <a:spLocks noGrp="1"/>
          </p:cNvSpPr>
          <p:nvPr/>
        </p:nvSpPr>
        <p:spPr>
          <a:xfrm>
            <a:off x="0" y="0"/>
            <a:ext cx="152400" cy="6858000"/>
          </a:xfrm>
          <a:prstGeom prst="rect">
            <a:avLst/>
          </a:prstGeom>
          <a:solidFill>
            <a:srgbClr val="E7684A"/>
          </a:solidFill>
          <a:ln w="0">
            <a:solidFill>
              <a:srgbClr val="E7684A"/>
            </a:solidFill>
            <a:prstDash val="solid"/>
          </a:ln>
        </p:spPr>
      </p:sp>
      <p:sp>
        <p:nvSpPr>
          <p:cNvPr id="3" name="矩形 2"/>
          <p:cNvSpPr>
            <a:spLocks noGrp="1"/>
          </p:cNvSpPr>
          <p:nvPr/>
        </p:nvSpPr>
        <p:spPr>
          <a:xfrm>
            <a:off x="685800" y="1466850"/>
            <a:ext cx="9048750" cy="1428750"/>
          </a:xfrm>
          <a:prstGeom prst="rect">
            <a:avLst/>
          </a:prstGeom>
          <a:noFill/>
          <a:ln w="0">
            <a:noFill/>
            <a:prstDash val="solid"/>
          </a:ln>
        </p:spPr>
        <p:txBody>
          <a:bodyPr wrap="square" lIns="0" tIns="0" rIns="0" bIns="0" anchor="t">
            <a:normAutofit/>
          </a:bodyPr>
          <a:lstStyle>
            <a:defPPr algn="l">
              <a:defRPr sz="3825" b="1">
                <a:solidFill>
                  <a:srgbClr val="FFFFFF"/>
                </a:solidFill>
                <a:latin typeface="Arial" panose="020B0604020202090204"/>
                <a:ea typeface="Arial" panose="020B0604020202090204"/>
                <a:cs typeface="Arial" panose="020B0604020202090204"/>
              </a:defRPr>
            </a:defPPr>
            <a:lvl1pPr algn="l">
              <a:defRPr sz="3825" b="1">
                <a:solidFill>
                  <a:srgbClr val="FFFFFF"/>
                </a:solidFill>
                <a:latin typeface="Arial" panose="020B0604020202090204"/>
                <a:ea typeface="Arial" panose="020B0604020202090204"/>
                <a:cs typeface="Arial" panose="020B0604020202090204"/>
              </a:defRPr>
            </a:lvl1pPr>
            <a:lvl2pPr algn="l">
              <a:defRPr sz="3825" b="1">
                <a:solidFill>
                  <a:srgbClr val="FFFFFF"/>
                </a:solidFill>
                <a:latin typeface="Arial" panose="020B0604020202090204"/>
                <a:ea typeface="Arial" panose="020B0604020202090204"/>
                <a:cs typeface="Arial" panose="020B0604020202090204"/>
              </a:defRPr>
            </a:lvl2pPr>
            <a:lvl3pPr algn="l">
              <a:defRPr sz="3825" b="1">
                <a:solidFill>
                  <a:srgbClr val="FFFFFF"/>
                </a:solidFill>
                <a:latin typeface="Arial" panose="020B0604020202090204"/>
                <a:ea typeface="Arial" panose="020B0604020202090204"/>
                <a:cs typeface="Arial" panose="020B0604020202090204"/>
              </a:defRPr>
            </a:lvl3pPr>
            <a:lvl4pPr algn="l">
              <a:defRPr sz="3825" b="1">
                <a:solidFill>
                  <a:srgbClr val="FFFFFF"/>
                </a:solidFill>
                <a:latin typeface="Arial" panose="020B0604020202090204"/>
                <a:ea typeface="Arial" panose="020B0604020202090204"/>
                <a:cs typeface="Arial" panose="020B0604020202090204"/>
              </a:defRPr>
            </a:lvl4pPr>
            <a:lvl5pPr algn="l">
              <a:defRPr sz="3825" b="1">
                <a:solidFill>
                  <a:srgbClr val="FFFFFF"/>
                </a:solidFill>
                <a:latin typeface="Arial" panose="020B0604020202090204"/>
                <a:ea typeface="Arial" panose="020B0604020202090204"/>
                <a:cs typeface="Arial" panose="020B0604020202090204"/>
              </a:defRPr>
            </a:lvl5pPr>
            <a:lvl6pPr algn="l">
              <a:defRPr sz="3825" b="1">
                <a:solidFill>
                  <a:srgbClr val="FFFFFF"/>
                </a:solidFill>
                <a:latin typeface="Arial" panose="020B0604020202090204"/>
                <a:ea typeface="Arial" panose="020B0604020202090204"/>
                <a:cs typeface="Arial" panose="020B0604020202090204"/>
              </a:defRPr>
            </a:lvl6pPr>
            <a:lvl7pPr algn="l">
              <a:defRPr sz="3825" b="1">
                <a:solidFill>
                  <a:srgbClr val="FFFFFF"/>
                </a:solidFill>
                <a:latin typeface="Arial" panose="020B0604020202090204"/>
                <a:ea typeface="Arial" panose="020B0604020202090204"/>
                <a:cs typeface="Arial" panose="020B0604020202090204"/>
              </a:defRPr>
            </a:lvl7pPr>
            <a:lvl8pPr algn="l">
              <a:defRPr sz="3825" b="1">
                <a:solidFill>
                  <a:srgbClr val="FFFFFF"/>
                </a:solidFill>
                <a:latin typeface="Arial" panose="020B0604020202090204"/>
                <a:ea typeface="Arial" panose="020B0604020202090204"/>
                <a:cs typeface="Arial" panose="020B0604020202090204"/>
              </a:defRPr>
            </a:lvl8pPr>
            <a:lvl9pPr algn="l">
              <a:defRPr sz="3825" b="1">
                <a:solidFill>
                  <a:srgbClr val="FFFFFF"/>
                </a:solidFill>
                <a:latin typeface="Arial" panose="020B0604020202090204"/>
                <a:ea typeface="Arial" panose="020B0604020202090204"/>
                <a:cs typeface="Arial" panose="020B0604020202090204"/>
              </a:defRPr>
            </a:lvl9pPr>
          </a:lstStyle>
          <a:p>
            <a:pPr algn="l">
              <a:lnSpc>
                <a:spcPct val="95000"/>
              </a:lnSpc>
              <a:buNone/>
              <a:defRPr sz="3825" b="1">
                <a:solidFill>
                  <a:srgbClr val="FFFFFF"/>
                </a:solidFill>
                <a:latin typeface="Arial" panose="020B0604020202090204"/>
                <a:ea typeface="Arial" panose="020B0604020202090204"/>
                <a:cs typeface="Arial" panose="020B0604020202090204"/>
              </a:defRPr>
            </a:pPr>
            <a:r>
              <a:rPr sz="3825" b="1">
                <a:solidFill>
                  <a:srgbClr val="FFFFFF"/>
                </a:solidFill>
                <a:latin typeface="Arial" panose="020B0604020202090204"/>
                <a:ea typeface="Arial" panose="020B0604020202090204"/>
                <a:cs typeface="Arial" panose="020B0604020202090204"/>
              </a:rPr>
              <a:t>Training-free LLM-generated</a:t>
            </a:r>
            <a:endParaRPr sz="3825" b="1">
              <a:solidFill>
                <a:srgbClr val="FFFFFF"/>
              </a:solidFill>
              <a:latin typeface="Arial" panose="020B0604020202090204"/>
              <a:ea typeface="Arial" panose="020B0604020202090204"/>
              <a:cs typeface="Arial" panose="020B0604020202090204"/>
            </a:endParaRPr>
          </a:p>
          <a:p>
            <a:pPr algn="l">
              <a:lnSpc>
                <a:spcPct val="95000"/>
              </a:lnSpc>
              <a:buNone/>
              <a:defRPr sz="3825" b="1">
                <a:solidFill>
                  <a:srgbClr val="FFFFFF"/>
                </a:solidFill>
                <a:latin typeface="Arial" panose="020B0604020202090204"/>
                <a:ea typeface="Arial" panose="020B0604020202090204"/>
                <a:cs typeface="Arial" panose="020B0604020202090204"/>
              </a:defRPr>
            </a:pPr>
            <a:r>
              <a:rPr sz="3825" b="1">
                <a:solidFill>
                  <a:srgbClr val="FFFFFF"/>
                </a:solidFill>
                <a:latin typeface="Arial" panose="020B0604020202090204"/>
                <a:ea typeface="Arial" panose="020B0604020202090204"/>
                <a:cs typeface="Arial" panose="020B0604020202090204"/>
              </a:rPr>
              <a:t>Text Detection</a:t>
            </a:r>
            <a:endParaRPr sz="3825" b="1">
              <a:solidFill>
                <a:srgbClr val="FFFFFF"/>
              </a:solidFill>
              <a:latin typeface="Arial" panose="020B0604020202090204"/>
              <a:ea typeface="Arial" panose="020B0604020202090204"/>
              <a:cs typeface="Arial" panose="020B0604020202090204"/>
            </a:endParaRPr>
          </a:p>
        </p:txBody>
      </p:sp>
      <p:sp>
        <p:nvSpPr>
          <p:cNvPr id="4" name="矩形 3"/>
          <p:cNvSpPr>
            <a:spLocks noGrp="1"/>
          </p:cNvSpPr>
          <p:nvPr/>
        </p:nvSpPr>
        <p:spPr>
          <a:xfrm>
            <a:off x="723900" y="3200400"/>
            <a:ext cx="8191500" cy="552450"/>
          </a:xfrm>
          <a:prstGeom prst="rect">
            <a:avLst/>
          </a:prstGeom>
          <a:noFill/>
          <a:ln w="0">
            <a:noFill/>
            <a:prstDash val="solid"/>
          </a:ln>
        </p:spPr>
        <p:txBody>
          <a:bodyPr wrap="square" lIns="0" tIns="0" rIns="0" bIns="0" anchor="t">
            <a:normAutofit/>
          </a:bodyPr>
          <a:lstStyle>
            <a:defPPr algn="l">
              <a:defRPr sz="1875" b="0">
                <a:solidFill>
                  <a:srgbClr val="C7D2D4"/>
                </a:solidFill>
                <a:latin typeface="Arial" panose="020B0604020202090204"/>
                <a:ea typeface="Arial" panose="020B0604020202090204"/>
                <a:cs typeface="Arial" panose="020B0604020202090204"/>
              </a:defRPr>
            </a:defPPr>
            <a:lvl1pPr algn="l">
              <a:defRPr sz="1875" b="0">
                <a:solidFill>
                  <a:srgbClr val="C7D2D4"/>
                </a:solidFill>
                <a:latin typeface="Arial" panose="020B0604020202090204"/>
                <a:ea typeface="Arial" panose="020B0604020202090204"/>
                <a:cs typeface="Arial" panose="020B0604020202090204"/>
              </a:defRPr>
            </a:lvl1pPr>
            <a:lvl2pPr algn="l">
              <a:defRPr sz="1875" b="0">
                <a:solidFill>
                  <a:srgbClr val="C7D2D4"/>
                </a:solidFill>
                <a:latin typeface="Arial" panose="020B0604020202090204"/>
                <a:ea typeface="Arial" panose="020B0604020202090204"/>
                <a:cs typeface="Arial" panose="020B0604020202090204"/>
              </a:defRPr>
            </a:lvl2pPr>
            <a:lvl3pPr algn="l">
              <a:defRPr sz="1875" b="0">
                <a:solidFill>
                  <a:srgbClr val="C7D2D4"/>
                </a:solidFill>
                <a:latin typeface="Arial" panose="020B0604020202090204"/>
                <a:ea typeface="Arial" panose="020B0604020202090204"/>
                <a:cs typeface="Arial" panose="020B0604020202090204"/>
              </a:defRPr>
            </a:lvl3pPr>
            <a:lvl4pPr algn="l">
              <a:defRPr sz="1875" b="0">
                <a:solidFill>
                  <a:srgbClr val="C7D2D4"/>
                </a:solidFill>
                <a:latin typeface="Arial" panose="020B0604020202090204"/>
                <a:ea typeface="Arial" panose="020B0604020202090204"/>
                <a:cs typeface="Arial" panose="020B0604020202090204"/>
              </a:defRPr>
            </a:lvl4pPr>
            <a:lvl5pPr algn="l">
              <a:defRPr sz="1875" b="0">
                <a:solidFill>
                  <a:srgbClr val="C7D2D4"/>
                </a:solidFill>
                <a:latin typeface="Arial" panose="020B0604020202090204"/>
                <a:ea typeface="Arial" panose="020B0604020202090204"/>
                <a:cs typeface="Arial" panose="020B0604020202090204"/>
              </a:defRPr>
            </a:lvl5pPr>
            <a:lvl6pPr algn="l">
              <a:defRPr sz="1875" b="0">
                <a:solidFill>
                  <a:srgbClr val="C7D2D4"/>
                </a:solidFill>
                <a:latin typeface="Arial" panose="020B0604020202090204"/>
                <a:ea typeface="Arial" panose="020B0604020202090204"/>
                <a:cs typeface="Arial" panose="020B0604020202090204"/>
              </a:defRPr>
            </a:lvl6pPr>
            <a:lvl7pPr algn="l">
              <a:defRPr sz="1875" b="0">
                <a:solidFill>
                  <a:srgbClr val="C7D2D4"/>
                </a:solidFill>
                <a:latin typeface="Arial" panose="020B0604020202090204"/>
                <a:ea typeface="Arial" panose="020B0604020202090204"/>
                <a:cs typeface="Arial" panose="020B0604020202090204"/>
              </a:defRPr>
            </a:lvl7pPr>
            <a:lvl8pPr algn="l">
              <a:defRPr sz="1875" b="0">
                <a:solidFill>
                  <a:srgbClr val="C7D2D4"/>
                </a:solidFill>
                <a:latin typeface="Arial" panose="020B0604020202090204"/>
                <a:ea typeface="Arial" panose="020B0604020202090204"/>
                <a:cs typeface="Arial" panose="020B0604020202090204"/>
              </a:defRPr>
            </a:lvl8pPr>
            <a:lvl9pPr algn="l">
              <a:defRPr sz="1875" b="0">
                <a:solidFill>
                  <a:srgbClr val="C7D2D4"/>
                </a:solidFill>
                <a:latin typeface="Arial" panose="020B0604020202090204"/>
                <a:ea typeface="Arial" panose="020B0604020202090204"/>
                <a:cs typeface="Arial" panose="020B0604020202090204"/>
              </a:defRPr>
            </a:lvl9pPr>
          </a:lstStyle>
          <a:p>
            <a:pPr algn="l">
              <a:lnSpc>
                <a:spcPct val="102000"/>
              </a:lnSpc>
              <a:buNone/>
              <a:defRPr sz="1875" b="0">
                <a:solidFill>
                  <a:srgbClr val="C7D2D4"/>
                </a:solidFill>
                <a:latin typeface="Arial" panose="020B0604020202090204"/>
                <a:ea typeface="Arial" panose="020B0604020202090204"/>
                <a:cs typeface="Arial" panose="020B0604020202090204"/>
              </a:defRPr>
            </a:pPr>
            <a:r>
              <a:rPr sz="1875" b="0">
                <a:solidFill>
                  <a:srgbClr val="C7D2D4"/>
                </a:solidFill>
                <a:latin typeface="Arial" panose="020B0604020202090204"/>
                <a:ea typeface="Arial" panose="020B0604020202090204"/>
                <a:cs typeface="Arial" panose="020B0604020202090204"/>
              </a:rPr>
              <a:t>Mining token probability sequences with Lastde and Lastde++</a:t>
            </a:r>
            <a:endParaRPr sz="1875" b="0">
              <a:solidFill>
                <a:srgbClr val="C7D2D4"/>
              </a:solidFill>
              <a:latin typeface="Arial" panose="020B0604020202090204"/>
              <a:ea typeface="Arial" panose="020B0604020202090204"/>
              <a:cs typeface="Arial" panose="020B0604020202090204"/>
            </a:endParaRPr>
          </a:p>
        </p:txBody>
      </p:sp>
      <p:sp>
        <p:nvSpPr>
          <p:cNvPr id="5" name="矩形 4"/>
          <p:cNvSpPr>
            <a:spLocks noGrp="1"/>
          </p:cNvSpPr>
          <p:nvPr/>
        </p:nvSpPr>
        <p:spPr>
          <a:xfrm>
            <a:off x="723900" y="4476750"/>
            <a:ext cx="6858000" cy="323850"/>
          </a:xfrm>
          <a:prstGeom prst="rect">
            <a:avLst/>
          </a:prstGeom>
          <a:noFill/>
          <a:ln w="0">
            <a:noFill/>
            <a:prstDash val="solid"/>
          </a:ln>
        </p:spPr>
        <p:txBody>
          <a:bodyPr wrap="square" lIns="0" tIns="0" rIns="0" bIns="0" anchor="t">
            <a:normAutofit/>
          </a:bodyPr>
          <a:lstStyle>
            <a:defPPr algn="l">
              <a:defRPr sz="1350" b="0">
                <a:solidFill>
                  <a:srgbClr val="9DB0B5"/>
                </a:solidFill>
                <a:latin typeface="Arial" panose="020B0604020202090204"/>
                <a:ea typeface="Arial" panose="020B0604020202090204"/>
                <a:cs typeface="Arial" panose="020B0604020202090204"/>
              </a:defRPr>
            </a:defPPr>
            <a:lvl1pPr algn="l">
              <a:defRPr sz="1350" b="0">
                <a:solidFill>
                  <a:srgbClr val="9DB0B5"/>
                </a:solidFill>
                <a:latin typeface="Arial" panose="020B0604020202090204"/>
                <a:ea typeface="Arial" panose="020B0604020202090204"/>
                <a:cs typeface="Arial" panose="020B0604020202090204"/>
              </a:defRPr>
            </a:lvl1pPr>
            <a:lvl2pPr algn="l">
              <a:defRPr sz="1350" b="0">
                <a:solidFill>
                  <a:srgbClr val="9DB0B5"/>
                </a:solidFill>
                <a:latin typeface="Arial" panose="020B0604020202090204"/>
                <a:ea typeface="Arial" panose="020B0604020202090204"/>
                <a:cs typeface="Arial" panose="020B0604020202090204"/>
              </a:defRPr>
            </a:lvl2pPr>
            <a:lvl3pPr algn="l">
              <a:defRPr sz="1350" b="0">
                <a:solidFill>
                  <a:srgbClr val="9DB0B5"/>
                </a:solidFill>
                <a:latin typeface="Arial" panose="020B0604020202090204"/>
                <a:ea typeface="Arial" panose="020B0604020202090204"/>
                <a:cs typeface="Arial" panose="020B0604020202090204"/>
              </a:defRPr>
            </a:lvl3pPr>
            <a:lvl4pPr algn="l">
              <a:defRPr sz="1350" b="0">
                <a:solidFill>
                  <a:srgbClr val="9DB0B5"/>
                </a:solidFill>
                <a:latin typeface="Arial" panose="020B0604020202090204"/>
                <a:ea typeface="Arial" panose="020B0604020202090204"/>
                <a:cs typeface="Arial" panose="020B0604020202090204"/>
              </a:defRPr>
            </a:lvl4pPr>
            <a:lvl5pPr algn="l">
              <a:defRPr sz="1350" b="0">
                <a:solidFill>
                  <a:srgbClr val="9DB0B5"/>
                </a:solidFill>
                <a:latin typeface="Arial" panose="020B0604020202090204"/>
                <a:ea typeface="Arial" panose="020B0604020202090204"/>
                <a:cs typeface="Arial" panose="020B0604020202090204"/>
              </a:defRPr>
            </a:lvl5pPr>
            <a:lvl6pPr algn="l">
              <a:defRPr sz="1350" b="0">
                <a:solidFill>
                  <a:srgbClr val="9DB0B5"/>
                </a:solidFill>
                <a:latin typeface="Arial" panose="020B0604020202090204"/>
                <a:ea typeface="Arial" panose="020B0604020202090204"/>
                <a:cs typeface="Arial" panose="020B0604020202090204"/>
              </a:defRPr>
            </a:lvl6pPr>
            <a:lvl7pPr algn="l">
              <a:defRPr sz="1350" b="0">
                <a:solidFill>
                  <a:srgbClr val="9DB0B5"/>
                </a:solidFill>
                <a:latin typeface="Arial" panose="020B0604020202090204"/>
                <a:ea typeface="Arial" panose="020B0604020202090204"/>
                <a:cs typeface="Arial" panose="020B0604020202090204"/>
              </a:defRPr>
            </a:lvl7pPr>
            <a:lvl8pPr algn="l">
              <a:defRPr sz="1350" b="0">
                <a:solidFill>
                  <a:srgbClr val="9DB0B5"/>
                </a:solidFill>
                <a:latin typeface="Arial" panose="020B0604020202090204"/>
                <a:ea typeface="Arial" panose="020B0604020202090204"/>
                <a:cs typeface="Arial" panose="020B0604020202090204"/>
              </a:defRPr>
            </a:lvl8pPr>
            <a:lvl9pPr algn="l">
              <a:defRPr sz="1350" b="0">
                <a:solidFill>
                  <a:srgbClr val="9DB0B5"/>
                </a:solidFill>
                <a:latin typeface="Arial" panose="020B0604020202090204"/>
                <a:ea typeface="Arial" panose="020B0604020202090204"/>
                <a:cs typeface="Arial" panose="020B0604020202090204"/>
              </a:defRPr>
            </a:lvl9pPr>
          </a:lstStyle>
          <a:p>
            <a:pPr algn="l">
              <a:lnSpc>
                <a:spcPct val="102000"/>
              </a:lnSpc>
              <a:buNone/>
              <a:defRPr sz="1350" b="0">
                <a:solidFill>
                  <a:srgbClr val="9DB0B5"/>
                </a:solidFill>
                <a:latin typeface="Arial" panose="020B0604020202090204"/>
                <a:ea typeface="Arial" panose="020B0604020202090204"/>
                <a:cs typeface="Arial" panose="020B0604020202090204"/>
              </a:defRPr>
            </a:pPr>
            <a:r>
              <a:rPr sz="1350" b="0">
                <a:solidFill>
                  <a:srgbClr val="9DB0B5"/>
                </a:solidFill>
                <a:latin typeface="Arial" panose="020B0604020202090204"/>
                <a:ea typeface="Arial" panose="020B0604020202090204"/>
                <a:cs typeface="Arial" panose="020B0604020202090204"/>
              </a:rPr>
              <a:t>Method, experiments, robustness and limitations</a:t>
            </a:r>
            <a:endParaRPr sz="1350" b="0">
              <a:solidFill>
                <a:srgbClr val="9DB0B5"/>
              </a:solidFill>
              <a:latin typeface="Arial" panose="020B0604020202090204"/>
              <a:ea typeface="Arial" panose="020B0604020202090204"/>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6" name="矩形 15"/>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Research question and contributions</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02</a:t>
            </a:r>
            <a:endParaRPr sz="1125" b="1">
              <a:solidFill>
                <a:srgbClr val="637279"/>
              </a:solidFill>
              <a:latin typeface="Arial" panose="020B0604020202090204"/>
              <a:ea typeface="Arial" panose="020B0604020202090204"/>
              <a:cs typeface="Arial" panose="020B0604020202090204"/>
            </a:endParaRPr>
          </a:p>
        </p:txBody>
      </p:sp>
      <p:sp>
        <p:nvSpPr>
          <p:cNvPr id="4" name="圆角矩形 3"/>
          <p:cNvSpPr>
            <a:spLocks noGrp="1"/>
          </p:cNvSpPr>
          <p:nvPr/>
        </p:nvSpPr>
        <p:spPr>
          <a:xfrm>
            <a:off x="809625" y="1285875"/>
            <a:ext cx="10572750" cy="666750"/>
          </a:xfrm>
          <a:prstGeom prst="roundRect">
            <a:avLst>
              <a:gd name="adj" fmla="val 7143"/>
            </a:avLst>
          </a:prstGeom>
          <a:solidFill>
            <a:srgbClr val="F4E9C5"/>
          </a:solidFill>
          <a:ln w="9525">
            <a:solidFill>
              <a:srgbClr val="C99B27"/>
            </a:solidFill>
            <a:prstDash val="solid"/>
          </a:ln>
        </p:spPr>
        <p:txBody>
          <a:bodyPr wrap="square" lIns="0" tIns="0" rIns="0" bIns="0" anchor="ctr">
            <a:normAutofit/>
          </a:bodyPr>
          <a:lstStyle>
            <a:defPPr algn="ctr">
              <a:defRPr sz="2175" b="1">
                <a:solidFill>
                  <a:srgbClr val="182226"/>
                </a:solidFill>
                <a:latin typeface="Arial" panose="020B0604020202090204"/>
                <a:ea typeface="Arial" panose="020B0604020202090204"/>
                <a:cs typeface="Arial" panose="020B0604020202090204"/>
              </a:defRPr>
            </a:defPPr>
            <a:lvl1pPr algn="ctr">
              <a:defRPr sz="2175" b="1">
                <a:solidFill>
                  <a:srgbClr val="182226"/>
                </a:solidFill>
                <a:latin typeface="Arial" panose="020B0604020202090204"/>
                <a:ea typeface="Arial" panose="020B0604020202090204"/>
                <a:cs typeface="Arial" panose="020B0604020202090204"/>
              </a:defRPr>
            </a:lvl1pPr>
            <a:lvl2pPr algn="ctr">
              <a:defRPr sz="2175" b="1">
                <a:solidFill>
                  <a:srgbClr val="182226"/>
                </a:solidFill>
                <a:latin typeface="Arial" panose="020B0604020202090204"/>
                <a:ea typeface="Arial" panose="020B0604020202090204"/>
                <a:cs typeface="Arial" panose="020B0604020202090204"/>
              </a:defRPr>
            </a:lvl2pPr>
            <a:lvl3pPr algn="ctr">
              <a:defRPr sz="2175" b="1">
                <a:solidFill>
                  <a:srgbClr val="182226"/>
                </a:solidFill>
                <a:latin typeface="Arial" panose="020B0604020202090204"/>
                <a:ea typeface="Arial" panose="020B0604020202090204"/>
                <a:cs typeface="Arial" panose="020B0604020202090204"/>
              </a:defRPr>
            </a:lvl3pPr>
            <a:lvl4pPr algn="ctr">
              <a:defRPr sz="2175" b="1">
                <a:solidFill>
                  <a:srgbClr val="182226"/>
                </a:solidFill>
                <a:latin typeface="Arial" panose="020B0604020202090204"/>
                <a:ea typeface="Arial" panose="020B0604020202090204"/>
                <a:cs typeface="Arial" panose="020B0604020202090204"/>
              </a:defRPr>
            </a:lvl4pPr>
            <a:lvl5pPr algn="ctr">
              <a:defRPr sz="2175" b="1">
                <a:solidFill>
                  <a:srgbClr val="182226"/>
                </a:solidFill>
                <a:latin typeface="Arial" panose="020B0604020202090204"/>
                <a:ea typeface="Arial" panose="020B0604020202090204"/>
                <a:cs typeface="Arial" panose="020B0604020202090204"/>
              </a:defRPr>
            </a:lvl5pPr>
            <a:lvl6pPr algn="ctr">
              <a:defRPr sz="2175" b="1">
                <a:solidFill>
                  <a:srgbClr val="182226"/>
                </a:solidFill>
                <a:latin typeface="Arial" panose="020B0604020202090204"/>
                <a:ea typeface="Arial" panose="020B0604020202090204"/>
                <a:cs typeface="Arial" panose="020B0604020202090204"/>
              </a:defRPr>
            </a:lvl6pPr>
            <a:lvl7pPr algn="ctr">
              <a:defRPr sz="2175" b="1">
                <a:solidFill>
                  <a:srgbClr val="182226"/>
                </a:solidFill>
                <a:latin typeface="Arial" panose="020B0604020202090204"/>
                <a:ea typeface="Arial" panose="020B0604020202090204"/>
                <a:cs typeface="Arial" panose="020B0604020202090204"/>
              </a:defRPr>
            </a:lvl7pPr>
            <a:lvl8pPr algn="ctr">
              <a:defRPr sz="2175" b="1">
                <a:solidFill>
                  <a:srgbClr val="182226"/>
                </a:solidFill>
                <a:latin typeface="Arial" panose="020B0604020202090204"/>
                <a:ea typeface="Arial" panose="020B0604020202090204"/>
                <a:cs typeface="Arial" panose="020B0604020202090204"/>
              </a:defRPr>
            </a:lvl8pPr>
            <a:lvl9pPr algn="ctr">
              <a:defRPr sz="2175" b="1">
                <a:solidFill>
                  <a:srgbClr val="182226"/>
                </a:solidFill>
                <a:latin typeface="Arial" panose="020B0604020202090204"/>
                <a:ea typeface="Arial" panose="020B0604020202090204"/>
                <a:cs typeface="Arial" panose="020B0604020202090204"/>
              </a:defRPr>
            </a:lvl9pPr>
          </a:lstStyle>
          <a:p>
            <a:pPr algn="ctr">
              <a:lnSpc>
                <a:spcPct val="102000"/>
              </a:lnSpc>
              <a:buNone/>
              <a:defRPr sz="2175" b="1">
                <a:solidFill>
                  <a:srgbClr val="182226"/>
                </a:solidFill>
                <a:latin typeface="Arial" panose="020B0604020202090204"/>
                <a:ea typeface="Arial" panose="020B0604020202090204"/>
                <a:cs typeface="Arial" panose="020B0604020202090204"/>
              </a:defRPr>
            </a:pPr>
            <a:r>
              <a:rPr sz="2175" b="1">
                <a:solidFill>
                  <a:srgbClr val="182226"/>
                </a:solidFill>
                <a:latin typeface="Arial" panose="020B0604020202090204"/>
                <a:ea typeface="Arial" panose="020B0604020202090204"/>
                <a:cs typeface="Arial" panose="020B0604020202090204"/>
              </a:rPr>
              <a:t>Given a text t, estimate whether an LLM generated it without training a detector.</a:t>
            </a:r>
            <a:endParaRPr sz="2175" b="1">
              <a:solidFill>
                <a:srgbClr val="182226"/>
              </a:solidFill>
              <a:latin typeface="Arial" panose="020B0604020202090204"/>
              <a:ea typeface="Arial" panose="020B0604020202090204"/>
              <a:cs typeface="Arial" panose="020B0604020202090204"/>
            </a:endParaRPr>
          </a:p>
        </p:txBody>
      </p:sp>
      <p:sp>
        <p:nvSpPr>
          <p:cNvPr id="5" name="矩形 4"/>
          <p:cNvSpPr>
            <a:spLocks noGrp="1"/>
          </p:cNvSpPr>
          <p:nvPr/>
        </p:nvSpPr>
        <p:spPr>
          <a:xfrm>
            <a:off x="762000" y="2571750"/>
            <a:ext cx="66675" cy="2000250"/>
          </a:xfrm>
          <a:prstGeom prst="rect">
            <a:avLst/>
          </a:prstGeom>
          <a:solidFill>
            <a:srgbClr val="147A78"/>
          </a:solidFill>
          <a:ln w="0">
            <a:solidFill>
              <a:srgbClr val="147A78"/>
            </a:solidFill>
            <a:prstDash val="solid"/>
          </a:ln>
        </p:spPr>
      </p:sp>
      <p:sp>
        <p:nvSpPr>
          <p:cNvPr id="6" name="矩形 5"/>
          <p:cNvSpPr>
            <a:spLocks noGrp="1"/>
          </p:cNvSpPr>
          <p:nvPr/>
        </p:nvSpPr>
        <p:spPr>
          <a:xfrm>
            <a:off x="971550" y="2686050"/>
            <a:ext cx="3067050" cy="323850"/>
          </a:xfrm>
          <a:prstGeom prst="rect">
            <a:avLst/>
          </a:prstGeom>
          <a:noFill/>
          <a:ln w="0">
            <a:noFill/>
            <a:prstDash val="solid"/>
          </a:ln>
        </p:spPr>
        <p:txBody>
          <a:bodyPr wrap="square" lIns="0" tIns="0" rIns="0" bIns="0" anchor="t">
            <a:normAutofit/>
          </a:bodyPr>
          <a:lstStyle>
            <a:defPPr algn="l">
              <a:defRPr sz="1575" b="1">
                <a:solidFill>
                  <a:srgbClr val="147A78"/>
                </a:solidFill>
                <a:latin typeface="Arial" panose="020B0604020202090204"/>
                <a:ea typeface="Arial" panose="020B0604020202090204"/>
                <a:cs typeface="Arial" panose="020B0604020202090204"/>
              </a:defRPr>
            </a:defPPr>
            <a:lvl1pPr algn="l">
              <a:defRPr sz="1575" b="1">
                <a:solidFill>
                  <a:srgbClr val="147A78"/>
                </a:solidFill>
                <a:latin typeface="Arial" panose="020B0604020202090204"/>
                <a:ea typeface="Arial" panose="020B0604020202090204"/>
                <a:cs typeface="Arial" panose="020B0604020202090204"/>
              </a:defRPr>
            </a:lvl1pPr>
            <a:lvl2pPr algn="l">
              <a:defRPr sz="1575" b="1">
                <a:solidFill>
                  <a:srgbClr val="147A78"/>
                </a:solidFill>
                <a:latin typeface="Arial" panose="020B0604020202090204"/>
                <a:ea typeface="Arial" panose="020B0604020202090204"/>
                <a:cs typeface="Arial" panose="020B0604020202090204"/>
              </a:defRPr>
            </a:lvl2pPr>
            <a:lvl3pPr algn="l">
              <a:defRPr sz="1575" b="1">
                <a:solidFill>
                  <a:srgbClr val="147A78"/>
                </a:solidFill>
                <a:latin typeface="Arial" panose="020B0604020202090204"/>
                <a:ea typeface="Arial" panose="020B0604020202090204"/>
                <a:cs typeface="Arial" panose="020B0604020202090204"/>
              </a:defRPr>
            </a:lvl3pPr>
            <a:lvl4pPr algn="l">
              <a:defRPr sz="1575" b="1">
                <a:solidFill>
                  <a:srgbClr val="147A78"/>
                </a:solidFill>
                <a:latin typeface="Arial" panose="020B0604020202090204"/>
                <a:ea typeface="Arial" panose="020B0604020202090204"/>
                <a:cs typeface="Arial" panose="020B0604020202090204"/>
              </a:defRPr>
            </a:lvl4pPr>
            <a:lvl5pPr algn="l">
              <a:defRPr sz="1575" b="1">
                <a:solidFill>
                  <a:srgbClr val="147A78"/>
                </a:solidFill>
                <a:latin typeface="Arial" panose="020B0604020202090204"/>
                <a:ea typeface="Arial" panose="020B0604020202090204"/>
                <a:cs typeface="Arial" panose="020B0604020202090204"/>
              </a:defRPr>
            </a:lvl5pPr>
            <a:lvl6pPr algn="l">
              <a:defRPr sz="1575" b="1">
                <a:solidFill>
                  <a:srgbClr val="147A78"/>
                </a:solidFill>
                <a:latin typeface="Arial" panose="020B0604020202090204"/>
                <a:ea typeface="Arial" panose="020B0604020202090204"/>
                <a:cs typeface="Arial" panose="020B0604020202090204"/>
              </a:defRPr>
            </a:lvl6pPr>
            <a:lvl7pPr algn="l">
              <a:defRPr sz="1575" b="1">
                <a:solidFill>
                  <a:srgbClr val="147A78"/>
                </a:solidFill>
                <a:latin typeface="Arial" panose="020B0604020202090204"/>
                <a:ea typeface="Arial" panose="020B0604020202090204"/>
                <a:cs typeface="Arial" panose="020B0604020202090204"/>
              </a:defRPr>
            </a:lvl7pPr>
            <a:lvl8pPr algn="l">
              <a:defRPr sz="1575" b="1">
                <a:solidFill>
                  <a:srgbClr val="147A78"/>
                </a:solidFill>
                <a:latin typeface="Arial" panose="020B0604020202090204"/>
                <a:ea typeface="Arial" panose="020B0604020202090204"/>
                <a:cs typeface="Arial" panose="020B0604020202090204"/>
              </a:defRPr>
            </a:lvl8pPr>
            <a:lvl9pPr algn="l">
              <a:defRPr sz="1575" b="1">
                <a:solidFill>
                  <a:srgbClr val="147A78"/>
                </a:solidFill>
                <a:latin typeface="Arial" panose="020B0604020202090204"/>
                <a:ea typeface="Arial" panose="020B0604020202090204"/>
                <a:cs typeface="Arial" panose="020B0604020202090204"/>
              </a:defRPr>
            </a:lvl9pPr>
          </a:lstStyle>
          <a:p>
            <a:pPr algn="l">
              <a:lnSpc>
                <a:spcPct val="102000"/>
              </a:lnSpc>
              <a:buNone/>
              <a:defRPr sz="1575" b="1">
                <a:solidFill>
                  <a:srgbClr val="147A78"/>
                </a:solidFill>
                <a:latin typeface="Arial" panose="020B0604020202090204"/>
                <a:ea typeface="Arial" panose="020B0604020202090204"/>
                <a:cs typeface="Arial" panose="020B0604020202090204"/>
              </a:defRPr>
            </a:pPr>
            <a:r>
              <a:rPr sz="1575" b="1">
                <a:solidFill>
                  <a:srgbClr val="147A78"/>
                </a:solidFill>
                <a:latin typeface="Arial" panose="020B0604020202090204"/>
                <a:ea typeface="Arial" panose="020B0604020202090204"/>
                <a:cs typeface="Arial" panose="020B0604020202090204"/>
              </a:rPr>
              <a:t>TPS as a time series</a:t>
            </a:r>
            <a:endParaRPr sz="1575" b="1">
              <a:solidFill>
                <a:srgbClr val="147A78"/>
              </a:solidFill>
              <a:latin typeface="Arial" panose="020B0604020202090204"/>
              <a:ea typeface="Arial" panose="020B0604020202090204"/>
              <a:cs typeface="Arial" panose="020B0604020202090204"/>
            </a:endParaRPr>
          </a:p>
        </p:txBody>
      </p:sp>
      <p:sp>
        <p:nvSpPr>
          <p:cNvPr id="7" name="矩形 6"/>
          <p:cNvSpPr>
            <a:spLocks noGrp="1"/>
          </p:cNvSpPr>
          <p:nvPr/>
        </p:nvSpPr>
        <p:spPr>
          <a:xfrm>
            <a:off x="971550" y="3086100"/>
            <a:ext cx="3048000" cy="1390650"/>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The method keeps local probability changes that global statistics discard.</a:t>
            </a:r>
            <a:endParaRPr sz="1275" b="0">
              <a:solidFill>
                <a:srgbClr val="63727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4524375" y="2571750"/>
            <a:ext cx="66675" cy="2000250"/>
          </a:xfrm>
          <a:prstGeom prst="rect">
            <a:avLst/>
          </a:prstGeom>
          <a:solidFill>
            <a:srgbClr val="E7684A"/>
          </a:solidFill>
          <a:ln w="0">
            <a:solidFill>
              <a:srgbClr val="E7684A"/>
            </a:solidFill>
            <a:prstDash val="solid"/>
          </a:ln>
        </p:spPr>
      </p:sp>
      <p:sp>
        <p:nvSpPr>
          <p:cNvPr id="9" name="矩形 8"/>
          <p:cNvSpPr>
            <a:spLocks noGrp="1"/>
          </p:cNvSpPr>
          <p:nvPr/>
        </p:nvSpPr>
        <p:spPr>
          <a:xfrm>
            <a:off x="4733925" y="2686050"/>
            <a:ext cx="3067050" cy="323850"/>
          </a:xfrm>
          <a:prstGeom prst="rect">
            <a:avLst/>
          </a:prstGeom>
          <a:noFill/>
          <a:ln w="0">
            <a:noFill/>
            <a:prstDash val="solid"/>
          </a:ln>
        </p:spPr>
        <p:txBody>
          <a:bodyPr wrap="square" lIns="0" tIns="0" rIns="0" bIns="0" anchor="t">
            <a:normAutofit/>
          </a:bodyPr>
          <a:lstStyle>
            <a:defPPr algn="l">
              <a:defRPr sz="1575" b="1">
                <a:solidFill>
                  <a:srgbClr val="E7684A"/>
                </a:solidFill>
                <a:latin typeface="Arial" panose="020B0604020202090204"/>
                <a:ea typeface="Arial" panose="020B0604020202090204"/>
                <a:cs typeface="Arial" panose="020B0604020202090204"/>
              </a:defRPr>
            </a:defPPr>
            <a:lvl1pPr algn="l">
              <a:defRPr sz="1575" b="1">
                <a:solidFill>
                  <a:srgbClr val="E7684A"/>
                </a:solidFill>
                <a:latin typeface="Arial" panose="020B0604020202090204"/>
                <a:ea typeface="Arial" panose="020B0604020202090204"/>
                <a:cs typeface="Arial" panose="020B0604020202090204"/>
              </a:defRPr>
            </a:lvl1pPr>
            <a:lvl2pPr algn="l">
              <a:defRPr sz="1575" b="1">
                <a:solidFill>
                  <a:srgbClr val="E7684A"/>
                </a:solidFill>
                <a:latin typeface="Arial" panose="020B0604020202090204"/>
                <a:ea typeface="Arial" panose="020B0604020202090204"/>
                <a:cs typeface="Arial" panose="020B0604020202090204"/>
              </a:defRPr>
            </a:lvl2pPr>
            <a:lvl3pPr algn="l">
              <a:defRPr sz="1575" b="1">
                <a:solidFill>
                  <a:srgbClr val="E7684A"/>
                </a:solidFill>
                <a:latin typeface="Arial" panose="020B0604020202090204"/>
                <a:ea typeface="Arial" panose="020B0604020202090204"/>
                <a:cs typeface="Arial" panose="020B0604020202090204"/>
              </a:defRPr>
            </a:lvl3pPr>
            <a:lvl4pPr algn="l">
              <a:defRPr sz="1575" b="1">
                <a:solidFill>
                  <a:srgbClr val="E7684A"/>
                </a:solidFill>
                <a:latin typeface="Arial" panose="020B0604020202090204"/>
                <a:ea typeface="Arial" panose="020B0604020202090204"/>
                <a:cs typeface="Arial" panose="020B0604020202090204"/>
              </a:defRPr>
            </a:lvl4pPr>
            <a:lvl5pPr algn="l">
              <a:defRPr sz="1575" b="1">
                <a:solidFill>
                  <a:srgbClr val="E7684A"/>
                </a:solidFill>
                <a:latin typeface="Arial" panose="020B0604020202090204"/>
                <a:ea typeface="Arial" panose="020B0604020202090204"/>
                <a:cs typeface="Arial" panose="020B0604020202090204"/>
              </a:defRPr>
            </a:lvl5pPr>
            <a:lvl6pPr algn="l">
              <a:defRPr sz="1575" b="1">
                <a:solidFill>
                  <a:srgbClr val="E7684A"/>
                </a:solidFill>
                <a:latin typeface="Arial" panose="020B0604020202090204"/>
                <a:ea typeface="Arial" panose="020B0604020202090204"/>
                <a:cs typeface="Arial" panose="020B0604020202090204"/>
              </a:defRPr>
            </a:lvl6pPr>
            <a:lvl7pPr algn="l">
              <a:defRPr sz="1575" b="1">
                <a:solidFill>
                  <a:srgbClr val="E7684A"/>
                </a:solidFill>
                <a:latin typeface="Arial" panose="020B0604020202090204"/>
                <a:ea typeface="Arial" panose="020B0604020202090204"/>
                <a:cs typeface="Arial" panose="020B0604020202090204"/>
              </a:defRPr>
            </a:lvl7pPr>
            <a:lvl8pPr algn="l">
              <a:defRPr sz="1575" b="1">
                <a:solidFill>
                  <a:srgbClr val="E7684A"/>
                </a:solidFill>
                <a:latin typeface="Arial" panose="020B0604020202090204"/>
                <a:ea typeface="Arial" panose="020B0604020202090204"/>
                <a:cs typeface="Arial" panose="020B0604020202090204"/>
              </a:defRPr>
            </a:lvl8pPr>
            <a:lvl9pPr algn="l">
              <a:defRPr sz="1575" b="1">
                <a:solidFill>
                  <a:srgbClr val="E7684A"/>
                </a:solidFill>
                <a:latin typeface="Arial" panose="020B0604020202090204"/>
                <a:ea typeface="Arial" panose="020B0604020202090204"/>
                <a:cs typeface="Arial" panose="020B0604020202090204"/>
              </a:defRPr>
            </a:lvl9pPr>
          </a:lstStyle>
          <a:p>
            <a:pPr algn="l">
              <a:lnSpc>
                <a:spcPct val="102000"/>
              </a:lnSpc>
              <a:buNone/>
              <a:defRPr sz="1575" b="1">
                <a:solidFill>
                  <a:srgbClr val="E7684A"/>
                </a:solidFill>
                <a:latin typeface="Arial" panose="020B0604020202090204"/>
                <a:ea typeface="Arial" panose="020B0604020202090204"/>
                <a:cs typeface="Arial" panose="020B0604020202090204"/>
              </a:defRPr>
            </a:pPr>
            <a:r>
              <a:rPr sz="1575" b="1">
                <a:solidFill>
                  <a:srgbClr val="E7684A"/>
                </a:solidFill>
                <a:latin typeface="Arial" panose="020B0604020202090204"/>
                <a:ea typeface="Arial" panose="020B0604020202090204"/>
                <a:cs typeface="Arial" panose="020B0604020202090204"/>
              </a:rPr>
              <a:t>Lastde</a:t>
            </a:r>
            <a:endParaRPr sz="1575" b="1">
              <a:solidFill>
                <a:srgbClr val="E7684A"/>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4733925" y="3086100"/>
            <a:ext cx="3048000" cy="1390650"/>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Global log likelihood is combined with multiscale diversity entropy.</a:t>
            </a:r>
            <a:endParaRPr sz="1275" b="0">
              <a:solidFill>
                <a:srgbClr val="637279"/>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8286750" y="2571750"/>
            <a:ext cx="66675" cy="2000250"/>
          </a:xfrm>
          <a:prstGeom prst="rect">
            <a:avLst/>
          </a:prstGeom>
          <a:solidFill>
            <a:srgbClr val="C99B27"/>
          </a:solidFill>
          <a:ln w="0">
            <a:solidFill>
              <a:srgbClr val="C99B27"/>
            </a:solidFill>
            <a:prstDash val="solid"/>
          </a:ln>
        </p:spPr>
      </p:sp>
      <p:sp>
        <p:nvSpPr>
          <p:cNvPr id="12" name="矩形 11"/>
          <p:cNvSpPr>
            <a:spLocks noGrp="1"/>
          </p:cNvSpPr>
          <p:nvPr/>
        </p:nvSpPr>
        <p:spPr>
          <a:xfrm>
            <a:off x="8496300" y="2686050"/>
            <a:ext cx="3067050" cy="323850"/>
          </a:xfrm>
          <a:prstGeom prst="rect">
            <a:avLst/>
          </a:prstGeom>
          <a:noFill/>
          <a:ln w="0">
            <a:noFill/>
            <a:prstDash val="solid"/>
          </a:ln>
        </p:spPr>
        <p:txBody>
          <a:bodyPr wrap="square" lIns="0" tIns="0" rIns="0" bIns="0" anchor="t">
            <a:normAutofit/>
          </a:bodyPr>
          <a:lstStyle>
            <a:defPPr algn="l">
              <a:defRPr sz="1575" b="1">
                <a:solidFill>
                  <a:srgbClr val="C99B27"/>
                </a:solidFill>
                <a:latin typeface="Arial" panose="020B0604020202090204"/>
                <a:ea typeface="Arial" panose="020B0604020202090204"/>
                <a:cs typeface="Arial" panose="020B0604020202090204"/>
              </a:defRPr>
            </a:defPPr>
            <a:lvl1pPr algn="l">
              <a:defRPr sz="1575" b="1">
                <a:solidFill>
                  <a:srgbClr val="C99B27"/>
                </a:solidFill>
                <a:latin typeface="Arial" panose="020B0604020202090204"/>
                <a:ea typeface="Arial" panose="020B0604020202090204"/>
                <a:cs typeface="Arial" panose="020B0604020202090204"/>
              </a:defRPr>
            </a:lvl1pPr>
            <a:lvl2pPr algn="l">
              <a:defRPr sz="1575" b="1">
                <a:solidFill>
                  <a:srgbClr val="C99B27"/>
                </a:solidFill>
                <a:latin typeface="Arial" panose="020B0604020202090204"/>
                <a:ea typeface="Arial" panose="020B0604020202090204"/>
                <a:cs typeface="Arial" panose="020B0604020202090204"/>
              </a:defRPr>
            </a:lvl2pPr>
            <a:lvl3pPr algn="l">
              <a:defRPr sz="1575" b="1">
                <a:solidFill>
                  <a:srgbClr val="C99B27"/>
                </a:solidFill>
                <a:latin typeface="Arial" panose="020B0604020202090204"/>
                <a:ea typeface="Arial" panose="020B0604020202090204"/>
                <a:cs typeface="Arial" panose="020B0604020202090204"/>
              </a:defRPr>
            </a:lvl3pPr>
            <a:lvl4pPr algn="l">
              <a:defRPr sz="1575" b="1">
                <a:solidFill>
                  <a:srgbClr val="C99B27"/>
                </a:solidFill>
                <a:latin typeface="Arial" panose="020B0604020202090204"/>
                <a:ea typeface="Arial" panose="020B0604020202090204"/>
                <a:cs typeface="Arial" panose="020B0604020202090204"/>
              </a:defRPr>
            </a:lvl4pPr>
            <a:lvl5pPr algn="l">
              <a:defRPr sz="1575" b="1">
                <a:solidFill>
                  <a:srgbClr val="C99B27"/>
                </a:solidFill>
                <a:latin typeface="Arial" panose="020B0604020202090204"/>
                <a:ea typeface="Arial" panose="020B0604020202090204"/>
                <a:cs typeface="Arial" panose="020B0604020202090204"/>
              </a:defRPr>
            </a:lvl5pPr>
            <a:lvl6pPr algn="l">
              <a:defRPr sz="1575" b="1">
                <a:solidFill>
                  <a:srgbClr val="C99B27"/>
                </a:solidFill>
                <a:latin typeface="Arial" panose="020B0604020202090204"/>
                <a:ea typeface="Arial" panose="020B0604020202090204"/>
                <a:cs typeface="Arial" panose="020B0604020202090204"/>
              </a:defRPr>
            </a:lvl6pPr>
            <a:lvl7pPr algn="l">
              <a:defRPr sz="1575" b="1">
                <a:solidFill>
                  <a:srgbClr val="C99B27"/>
                </a:solidFill>
                <a:latin typeface="Arial" panose="020B0604020202090204"/>
                <a:ea typeface="Arial" panose="020B0604020202090204"/>
                <a:cs typeface="Arial" panose="020B0604020202090204"/>
              </a:defRPr>
            </a:lvl7pPr>
            <a:lvl8pPr algn="l">
              <a:defRPr sz="1575" b="1">
                <a:solidFill>
                  <a:srgbClr val="C99B27"/>
                </a:solidFill>
                <a:latin typeface="Arial" panose="020B0604020202090204"/>
                <a:ea typeface="Arial" panose="020B0604020202090204"/>
                <a:cs typeface="Arial" panose="020B0604020202090204"/>
              </a:defRPr>
            </a:lvl8pPr>
            <a:lvl9pPr algn="l">
              <a:defRPr sz="1575" b="1">
                <a:solidFill>
                  <a:srgbClr val="C99B27"/>
                </a:solidFill>
                <a:latin typeface="Arial" panose="020B0604020202090204"/>
                <a:ea typeface="Arial" panose="020B0604020202090204"/>
                <a:cs typeface="Arial" panose="020B0604020202090204"/>
              </a:defRPr>
            </a:lvl9pPr>
          </a:lstStyle>
          <a:p>
            <a:pPr algn="l">
              <a:lnSpc>
                <a:spcPct val="102000"/>
              </a:lnSpc>
              <a:buNone/>
              <a:defRPr sz="1575" b="1">
                <a:solidFill>
                  <a:srgbClr val="C99B27"/>
                </a:solidFill>
                <a:latin typeface="Arial" panose="020B0604020202090204"/>
                <a:ea typeface="Arial" panose="020B0604020202090204"/>
                <a:cs typeface="Arial" panose="020B0604020202090204"/>
              </a:defRPr>
            </a:pPr>
            <a:r>
              <a:rPr sz="1575" b="1">
                <a:solidFill>
                  <a:srgbClr val="C99B27"/>
                </a:solidFill>
                <a:latin typeface="Arial" panose="020B0604020202090204"/>
                <a:ea typeface="Arial" panose="020B0604020202090204"/>
                <a:cs typeface="Arial" panose="020B0604020202090204"/>
              </a:rPr>
              <a:t>Lastde++</a:t>
            </a:r>
            <a:endParaRPr sz="1575" b="1">
              <a:solidFill>
                <a:srgbClr val="C99B27"/>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8496300" y="3086100"/>
            <a:ext cx="3048000" cy="1390650"/>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Conditional samples normalize the score with far fewer samples than Fast-DetectGPT.</a:t>
            </a:r>
            <a:endParaRPr sz="1275" b="0">
              <a:solidFill>
                <a:srgbClr val="637279"/>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1809750" y="5286375"/>
            <a:ext cx="8572500" cy="419100"/>
          </a:xfrm>
          <a:prstGeom prst="rect">
            <a:avLst/>
          </a:prstGeom>
          <a:noFill/>
          <a:ln w="0">
            <a:noFill/>
            <a:prstDash val="solid"/>
          </a:ln>
        </p:spPr>
        <p:txBody>
          <a:bodyPr wrap="square" lIns="0" tIns="0" rIns="0" bIns="0" anchor="t">
            <a:normAutofit/>
          </a:bodyPr>
          <a:lstStyle>
            <a:defPPr algn="ctr">
              <a:defRPr sz="1725" b="1">
                <a:solidFill>
                  <a:srgbClr val="147A78"/>
                </a:solidFill>
                <a:latin typeface="Arial" panose="020B0604020202090204"/>
                <a:ea typeface="Arial" panose="020B0604020202090204"/>
                <a:cs typeface="Arial" panose="020B0604020202090204"/>
              </a:defRPr>
            </a:defPPr>
            <a:lvl1pPr algn="ctr">
              <a:defRPr sz="1725" b="1">
                <a:solidFill>
                  <a:srgbClr val="147A78"/>
                </a:solidFill>
                <a:latin typeface="Arial" panose="020B0604020202090204"/>
                <a:ea typeface="Arial" panose="020B0604020202090204"/>
                <a:cs typeface="Arial" panose="020B0604020202090204"/>
              </a:defRPr>
            </a:lvl1pPr>
            <a:lvl2pPr algn="ctr">
              <a:defRPr sz="1725" b="1">
                <a:solidFill>
                  <a:srgbClr val="147A78"/>
                </a:solidFill>
                <a:latin typeface="Arial" panose="020B0604020202090204"/>
                <a:ea typeface="Arial" panose="020B0604020202090204"/>
                <a:cs typeface="Arial" panose="020B0604020202090204"/>
              </a:defRPr>
            </a:lvl2pPr>
            <a:lvl3pPr algn="ctr">
              <a:defRPr sz="1725" b="1">
                <a:solidFill>
                  <a:srgbClr val="147A78"/>
                </a:solidFill>
                <a:latin typeface="Arial" panose="020B0604020202090204"/>
                <a:ea typeface="Arial" panose="020B0604020202090204"/>
                <a:cs typeface="Arial" panose="020B0604020202090204"/>
              </a:defRPr>
            </a:lvl3pPr>
            <a:lvl4pPr algn="ctr">
              <a:defRPr sz="1725" b="1">
                <a:solidFill>
                  <a:srgbClr val="147A78"/>
                </a:solidFill>
                <a:latin typeface="Arial" panose="020B0604020202090204"/>
                <a:ea typeface="Arial" panose="020B0604020202090204"/>
                <a:cs typeface="Arial" panose="020B0604020202090204"/>
              </a:defRPr>
            </a:lvl4pPr>
            <a:lvl5pPr algn="ctr">
              <a:defRPr sz="1725" b="1">
                <a:solidFill>
                  <a:srgbClr val="147A78"/>
                </a:solidFill>
                <a:latin typeface="Arial" panose="020B0604020202090204"/>
                <a:ea typeface="Arial" panose="020B0604020202090204"/>
                <a:cs typeface="Arial" panose="020B0604020202090204"/>
              </a:defRPr>
            </a:lvl5pPr>
            <a:lvl6pPr algn="ctr">
              <a:defRPr sz="1725" b="1">
                <a:solidFill>
                  <a:srgbClr val="147A78"/>
                </a:solidFill>
                <a:latin typeface="Arial" panose="020B0604020202090204"/>
                <a:ea typeface="Arial" panose="020B0604020202090204"/>
                <a:cs typeface="Arial" panose="020B0604020202090204"/>
              </a:defRPr>
            </a:lvl6pPr>
            <a:lvl7pPr algn="ctr">
              <a:defRPr sz="1725" b="1">
                <a:solidFill>
                  <a:srgbClr val="147A78"/>
                </a:solidFill>
                <a:latin typeface="Arial" panose="020B0604020202090204"/>
                <a:ea typeface="Arial" panose="020B0604020202090204"/>
                <a:cs typeface="Arial" panose="020B0604020202090204"/>
              </a:defRPr>
            </a:lvl7pPr>
            <a:lvl8pPr algn="ctr">
              <a:defRPr sz="1725" b="1">
                <a:solidFill>
                  <a:srgbClr val="147A78"/>
                </a:solidFill>
                <a:latin typeface="Arial" panose="020B0604020202090204"/>
                <a:ea typeface="Arial" panose="020B0604020202090204"/>
                <a:cs typeface="Arial" panose="020B0604020202090204"/>
              </a:defRPr>
            </a:lvl8pPr>
            <a:lvl9pPr algn="ctr">
              <a:defRPr sz="1725" b="1">
                <a:solidFill>
                  <a:srgbClr val="147A78"/>
                </a:solidFill>
                <a:latin typeface="Arial" panose="020B0604020202090204"/>
                <a:ea typeface="Arial" panose="020B0604020202090204"/>
                <a:cs typeface="Arial" panose="020B0604020202090204"/>
              </a:defRPr>
            </a:lvl9pPr>
          </a:lstStyle>
          <a:p>
            <a:pPr algn="ctr">
              <a:lnSpc>
                <a:spcPct val="102000"/>
              </a:lnSpc>
              <a:buNone/>
              <a:defRPr sz="1725" b="1">
                <a:solidFill>
                  <a:srgbClr val="147A78"/>
                </a:solidFill>
                <a:latin typeface="Arial" panose="020B0604020202090204"/>
                <a:ea typeface="Arial" panose="020B0604020202090204"/>
                <a:cs typeface="Arial" panose="020B0604020202090204"/>
              </a:defRPr>
            </a:pPr>
            <a:r>
              <a:rPr sz="1725" b="1">
                <a:solidFill>
                  <a:srgbClr val="147A78"/>
                </a:solidFill>
                <a:latin typeface="Arial" panose="020B0604020202090204"/>
                <a:ea typeface="Arial" panose="020B0604020202090204"/>
                <a:cs typeface="Arial" panose="020B0604020202090204"/>
              </a:rPr>
              <a:t>The paper targets both white-box and black-box detection.</a:t>
            </a:r>
            <a:endParaRPr sz="1725" b="1">
              <a:solidFill>
                <a:srgbClr val="147A78"/>
              </a:solidFill>
              <a:latin typeface="Arial" panose="020B0604020202090204"/>
              <a:ea typeface="Arial" panose="020B0604020202090204"/>
              <a:cs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4" name="矩形 13"/>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White-box and black-box detection</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03</a:t>
            </a:r>
            <a:endParaRPr sz="1125" b="1">
              <a:solidFill>
                <a:srgbClr val="637279"/>
              </a:solidFill>
              <a:latin typeface="Arial" panose="020B0604020202090204"/>
              <a:ea typeface="Arial" panose="020B0604020202090204"/>
              <a:cs typeface="Arial" panose="020B0604020202090204"/>
            </a:endParaRPr>
          </a:p>
        </p:txBody>
      </p:sp>
      <p:sp>
        <p:nvSpPr>
          <p:cNvPr id="4" name="矩形 3"/>
          <p:cNvSpPr>
            <a:spLocks noGrp="1"/>
          </p:cNvSpPr>
          <p:nvPr/>
        </p:nvSpPr>
        <p:spPr>
          <a:xfrm>
            <a:off x="781050" y="1524000"/>
            <a:ext cx="66675" cy="2381250"/>
          </a:xfrm>
          <a:prstGeom prst="rect">
            <a:avLst/>
          </a:prstGeom>
          <a:solidFill>
            <a:srgbClr val="147A78"/>
          </a:solidFill>
          <a:ln w="0">
            <a:solidFill>
              <a:srgbClr val="147A78"/>
            </a:solidFill>
            <a:prstDash val="solid"/>
          </a:ln>
        </p:spPr>
      </p:sp>
      <p:sp>
        <p:nvSpPr>
          <p:cNvPr id="5" name="矩形 4"/>
          <p:cNvSpPr>
            <a:spLocks noGrp="1"/>
          </p:cNvSpPr>
          <p:nvPr/>
        </p:nvSpPr>
        <p:spPr>
          <a:xfrm>
            <a:off x="990600" y="1638300"/>
            <a:ext cx="4495800" cy="323850"/>
          </a:xfrm>
          <a:prstGeom prst="rect">
            <a:avLst/>
          </a:prstGeom>
          <a:noFill/>
          <a:ln w="0">
            <a:noFill/>
            <a:prstDash val="solid"/>
          </a:ln>
        </p:spPr>
        <p:txBody>
          <a:bodyPr wrap="square" lIns="0" tIns="0" rIns="0" bIns="0" anchor="t">
            <a:normAutofit/>
          </a:bodyPr>
          <a:lstStyle>
            <a:defPPr algn="l">
              <a:defRPr sz="1575" b="1">
                <a:solidFill>
                  <a:srgbClr val="147A78"/>
                </a:solidFill>
                <a:latin typeface="Arial" panose="020B0604020202090204"/>
                <a:ea typeface="Arial" panose="020B0604020202090204"/>
                <a:cs typeface="Arial" panose="020B0604020202090204"/>
              </a:defRPr>
            </a:defPPr>
            <a:lvl1pPr algn="l">
              <a:defRPr sz="1575" b="1">
                <a:solidFill>
                  <a:srgbClr val="147A78"/>
                </a:solidFill>
                <a:latin typeface="Arial" panose="020B0604020202090204"/>
                <a:ea typeface="Arial" panose="020B0604020202090204"/>
                <a:cs typeface="Arial" panose="020B0604020202090204"/>
              </a:defRPr>
            </a:lvl1pPr>
            <a:lvl2pPr algn="l">
              <a:defRPr sz="1575" b="1">
                <a:solidFill>
                  <a:srgbClr val="147A78"/>
                </a:solidFill>
                <a:latin typeface="Arial" panose="020B0604020202090204"/>
                <a:ea typeface="Arial" panose="020B0604020202090204"/>
                <a:cs typeface="Arial" panose="020B0604020202090204"/>
              </a:defRPr>
            </a:lvl2pPr>
            <a:lvl3pPr algn="l">
              <a:defRPr sz="1575" b="1">
                <a:solidFill>
                  <a:srgbClr val="147A78"/>
                </a:solidFill>
                <a:latin typeface="Arial" panose="020B0604020202090204"/>
                <a:ea typeface="Arial" panose="020B0604020202090204"/>
                <a:cs typeface="Arial" panose="020B0604020202090204"/>
              </a:defRPr>
            </a:lvl3pPr>
            <a:lvl4pPr algn="l">
              <a:defRPr sz="1575" b="1">
                <a:solidFill>
                  <a:srgbClr val="147A78"/>
                </a:solidFill>
                <a:latin typeface="Arial" panose="020B0604020202090204"/>
                <a:ea typeface="Arial" panose="020B0604020202090204"/>
                <a:cs typeface="Arial" panose="020B0604020202090204"/>
              </a:defRPr>
            </a:lvl4pPr>
            <a:lvl5pPr algn="l">
              <a:defRPr sz="1575" b="1">
                <a:solidFill>
                  <a:srgbClr val="147A78"/>
                </a:solidFill>
                <a:latin typeface="Arial" panose="020B0604020202090204"/>
                <a:ea typeface="Arial" panose="020B0604020202090204"/>
                <a:cs typeface="Arial" panose="020B0604020202090204"/>
              </a:defRPr>
            </a:lvl5pPr>
            <a:lvl6pPr algn="l">
              <a:defRPr sz="1575" b="1">
                <a:solidFill>
                  <a:srgbClr val="147A78"/>
                </a:solidFill>
                <a:latin typeface="Arial" panose="020B0604020202090204"/>
                <a:ea typeface="Arial" panose="020B0604020202090204"/>
                <a:cs typeface="Arial" panose="020B0604020202090204"/>
              </a:defRPr>
            </a:lvl6pPr>
            <a:lvl7pPr algn="l">
              <a:defRPr sz="1575" b="1">
                <a:solidFill>
                  <a:srgbClr val="147A78"/>
                </a:solidFill>
                <a:latin typeface="Arial" panose="020B0604020202090204"/>
                <a:ea typeface="Arial" panose="020B0604020202090204"/>
                <a:cs typeface="Arial" panose="020B0604020202090204"/>
              </a:defRPr>
            </a:lvl7pPr>
            <a:lvl8pPr algn="l">
              <a:defRPr sz="1575" b="1">
                <a:solidFill>
                  <a:srgbClr val="147A78"/>
                </a:solidFill>
                <a:latin typeface="Arial" panose="020B0604020202090204"/>
                <a:ea typeface="Arial" panose="020B0604020202090204"/>
                <a:cs typeface="Arial" panose="020B0604020202090204"/>
              </a:defRPr>
            </a:lvl8pPr>
            <a:lvl9pPr algn="l">
              <a:defRPr sz="1575" b="1">
                <a:solidFill>
                  <a:srgbClr val="147A78"/>
                </a:solidFill>
                <a:latin typeface="Arial" panose="020B0604020202090204"/>
                <a:ea typeface="Arial" panose="020B0604020202090204"/>
                <a:cs typeface="Arial" panose="020B0604020202090204"/>
              </a:defRPr>
            </a:lvl9pPr>
          </a:lstStyle>
          <a:p>
            <a:pPr algn="l">
              <a:lnSpc>
                <a:spcPct val="102000"/>
              </a:lnSpc>
              <a:buNone/>
              <a:defRPr sz="1575" b="1">
                <a:solidFill>
                  <a:srgbClr val="147A78"/>
                </a:solidFill>
                <a:latin typeface="Arial" panose="020B0604020202090204"/>
                <a:ea typeface="Arial" panose="020B0604020202090204"/>
                <a:cs typeface="Arial" panose="020B0604020202090204"/>
              </a:defRPr>
            </a:pPr>
            <a:r>
              <a:rPr sz="1575" b="1">
                <a:solidFill>
                  <a:srgbClr val="147A78"/>
                </a:solidFill>
                <a:latin typeface="Arial" panose="020B0604020202090204"/>
                <a:ea typeface="Arial" panose="020B0604020202090204"/>
                <a:cs typeface="Arial" panose="020B0604020202090204"/>
              </a:rPr>
              <a:t>White box</a:t>
            </a:r>
            <a:endParaRPr sz="1575" b="1">
              <a:solidFill>
                <a:srgbClr val="147A78"/>
              </a:solidFill>
              <a:latin typeface="Arial" panose="020B0604020202090204"/>
              <a:ea typeface="Arial" panose="020B0604020202090204"/>
              <a:cs typeface="Arial" panose="020B0604020202090204"/>
            </a:endParaRPr>
          </a:p>
        </p:txBody>
      </p:sp>
      <p:sp>
        <p:nvSpPr>
          <p:cNvPr id="6" name="矩形 5"/>
          <p:cNvSpPr>
            <a:spLocks noGrp="1"/>
          </p:cNvSpPr>
          <p:nvPr/>
        </p:nvSpPr>
        <p:spPr>
          <a:xfrm>
            <a:off x="990600" y="2038350"/>
            <a:ext cx="4476750" cy="1771650"/>
          </a:xfrm>
          <a:prstGeom prst="rect">
            <a:avLst/>
          </a:prstGeom>
          <a:solidFill>
            <a:srgbClr val="D9EFEC"/>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The detector accesses token probabilities from the actual source model. The same model generated and scores the text.</a:t>
            </a:r>
            <a:endParaRPr sz="1275" b="0">
              <a:solidFill>
                <a:srgbClr val="637279"/>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648450" y="1524000"/>
            <a:ext cx="66675" cy="2381250"/>
          </a:xfrm>
          <a:prstGeom prst="rect">
            <a:avLst/>
          </a:prstGeom>
          <a:solidFill>
            <a:srgbClr val="E7684A"/>
          </a:solidFill>
          <a:ln w="0">
            <a:solidFill>
              <a:srgbClr val="E7684A"/>
            </a:solidFill>
            <a:prstDash val="solid"/>
          </a:ln>
        </p:spPr>
      </p:sp>
      <p:sp>
        <p:nvSpPr>
          <p:cNvPr id="8" name="矩形 7"/>
          <p:cNvSpPr>
            <a:spLocks noGrp="1"/>
          </p:cNvSpPr>
          <p:nvPr/>
        </p:nvSpPr>
        <p:spPr>
          <a:xfrm>
            <a:off x="6858000" y="1638300"/>
            <a:ext cx="4495800" cy="323850"/>
          </a:xfrm>
          <a:prstGeom prst="rect">
            <a:avLst/>
          </a:prstGeom>
          <a:noFill/>
          <a:ln w="0">
            <a:noFill/>
            <a:prstDash val="solid"/>
          </a:ln>
        </p:spPr>
        <p:txBody>
          <a:bodyPr wrap="square" lIns="0" tIns="0" rIns="0" bIns="0" anchor="t">
            <a:normAutofit/>
          </a:bodyPr>
          <a:lstStyle>
            <a:defPPr algn="l">
              <a:defRPr sz="1575" b="1">
                <a:solidFill>
                  <a:srgbClr val="E7684A"/>
                </a:solidFill>
                <a:latin typeface="Arial" panose="020B0604020202090204"/>
                <a:ea typeface="Arial" panose="020B0604020202090204"/>
                <a:cs typeface="Arial" panose="020B0604020202090204"/>
              </a:defRPr>
            </a:defPPr>
            <a:lvl1pPr algn="l">
              <a:defRPr sz="1575" b="1">
                <a:solidFill>
                  <a:srgbClr val="E7684A"/>
                </a:solidFill>
                <a:latin typeface="Arial" panose="020B0604020202090204"/>
                <a:ea typeface="Arial" panose="020B0604020202090204"/>
                <a:cs typeface="Arial" panose="020B0604020202090204"/>
              </a:defRPr>
            </a:lvl1pPr>
            <a:lvl2pPr algn="l">
              <a:defRPr sz="1575" b="1">
                <a:solidFill>
                  <a:srgbClr val="E7684A"/>
                </a:solidFill>
                <a:latin typeface="Arial" panose="020B0604020202090204"/>
                <a:ea typeface="Arial" panose="020B0604020202090204"/>
                <a:cs typeface="Arial" panose="020B0604020202090204"/>
              </a:defRPr>
            </a:lvl2pPr>
            <a:lvl3pPr algn="l">
              <a:defRPr sz="1575" b="1">
                <a:solidFill>
                  <a:srgbClr val="E7684A"/>
                </a:solidFill>
                <a:latin typeface="Arial" panose="020B0604020202090204"/>
                <a:ea typeface="Arial" panose="020B0604020202090204"/>
                <a:cs typeface="Arial" panose="020B0604020202090204"/>
              </a:defRPr>
            </a:lvl3pPr>
            <a:lvl4pPr algn="l">
              <a:defRPr sz="1575" b="1">
                <a:solidFill>
                  <a:srgbClr val="E7684A"/>
                </a:solidFill>
                <a:latin typeface="Arial" panose="020B0604020202090204"/>
                <a:ea typeface="Arial" panose="020B0604020202090204"/>
                <a:cs typeface="Arial" panose="020B0604020202090204"/>
              </a:defRPr>
            </a:lvl4pPr>
            <a:lvl5pPr algn="l">
              <a:defRPr sz="1575" b="1">
                <a:solidFill>
                  <a:srgbClr val="E7684A"/>
                </a:solidFill>
                <a:latin typeface="Arial" panose="020B0604020202090204"/>
                <a:ea typeface="Arial" panose="020B0604020202090204"/>
                <a:cs typeface="Arial" panose="020B0604020202090204"/>
              </a:defRPr>
            </a:lvl5pPr>
            <a:lvl6pPr algn="l">
              <a:defRPr sz="1575" b="1">
                <a:solidFill>
                  <a:srgbClr val="E7684A"/>
                </a:solidFill>
                <a:latin typeface="Arial" panose="020B0604020202090204"/>
                <a:ea typeface="Arial" panose="020B0604020202090204"/>
                <a:cs typeface="Arial" panose="020B0604020202090204"/>
              </a:defRPr>
            </a:lvl6pPr>
            <a:lvl7pPr algn="l">
              <a:defRPr sz="1575" b="1">
                <a:solidFill>
                  <a:srgbClr val="E7684A"/>
                </a:solidFill>
                <a:latin typeface="Arial" panose="020B0604020202090204"/>
                <a:ea typeface="Arial" panose="020B0604020202090204"/>
                <a:cs typeface="Arial" panose="020B0604020202090204"/>
              </a:defRPr>
            </a:lvl7pPr>
            <a:lvl8pPr algn="l">
              <a:defRPr sz="1575" b="1">
                <a:solidFill>
                  <a:srgbClr val="E7684A"/>
                </a:solidFill>
                <a:latin typeface="Arial" panose="020B0604020202090204"/>
                <a:ea typeface="Arial" panose="020B0604020202090204"/>
                <a:cs typeface="Arial" panose="020B0604020202090204"/>
              </a:defRPr>
            </a:lvl8pPr>
            <a:lvl9pPr algn="l">
              <a:defRPr sz="1575" b="1">
                <a:solidFill>
                  <a:srgbClr val="E7684A"/>
                </a:solidFill>
                <a:latin typeface="Arial" panose="020B0604020202090204"/>
                <a:ea typeface="Arial" panose="020B0604020202090204"/>
                <a:cs typeface="Arial" panose="020B0604020202090204"/>
              </a:defRPr>
            </a:lvl9pPr>
          </a:lstStyle>
          <a:p>
            <a:pPr algn="l">
              <a:lnSpc>
                <a:spcPct val="102000"/>
              </a:lnSpc>
              <a:buNone/>
              <a:defRPr sz="1575" b="1">
                <a:solidFill>
                  <a:srgbClr val="E7684A"/>
                </a:solidFill>
                <a:latin typeface="Arial" panose="020B0604020202090204"/>
                <a:ea typeface="Arial" panose="020B0604020202090204"/>
                <a:cs typeface="Arial" panose="020B0604020202090204"/>
              </a:defRPr>
            </a:pPr>
            <a:r>
              <a:rPr sz="1575" b="1">
                <a:solidFill>
                  <a:srgbClr val="E7684A"/>
                </a:solidFill>
                <a:latin typeface="Arial" panose="020B0604020202090204"/>
                <a:ea typeface="Arial" panose="020B0604020202090204"/>
                <a:cs typeface="Arial" panose="020B0604020202090204"/>
              </a:rPr>
              <a:t>Black box</a:t>
            </a:r>
            <a:endParaRPr sz="1575" b="1">
              <a:solidFill>
                <a:srgbClr val="E7684A"/>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858000" y="2038350"/>
            <a:ext cx="4476750" cy="1771650"/>
          </a:xfrm>
          <a:prstGeom prst="rect">
            <a:avLst/>
          </a:prstGeom>
          <a:solidFill>
            <a:srgbClr val="F8E0D9"/>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The source model is unavailable. An open proxy model estimates token probabilities. The paper uses GPT-J 6B by default.</a:t>
            </a:r>
            <a:endParaRPr sz="1275" b="0">
              <a:solidFill>
                <a:srgbClr val="637279"/>
              </a:solidFill>
              <a:latin typeface="Arial" panose="020B0604020202090204"/>
              <a:ea typeface="Arial" panose="020B0604020202090204"/>
              <a:cs typeface="Arial" panose="020B0604020202090204"/>
            </a:endParaRPr>
          </a:p>
        </p:txBody>
      </p:sp>
      <p:sp>
        <p:nvSpPr>
          <p:cNvPr id="10" name="直接连接符 9"/>
          <p:cNvSpPr>
            <a:spLocks noGrp="1"/>
          </p:cNvSpPr>
          <p:nvPr/>
        </p:nvSpPr>
        <p:spPr>
          <a:xfrm>
            <a:off x="5572125" y="2714625"/>
            <a:ext cx="1000125" cy="0"/>
          </a:xfrm>
          <a:prstGeom prst="line">
            <a:avLst/>
          </a:prstGeom>
          <a:noFill/>
          <a:ln w="19050">
            <a:solidFill>
              <a:srgbClr val="637279"/>
            </a:solidFill>
            <a:prstDash val="solid"/>
          </a:ln>
        </p:spPr>
      </p:sp>
      <p:sp>
        <p:nvSpPr>
          <p:cNvPr id="11" name="圆角矩形 10"/>
          <p:cNvSpPr>
            <a:spLocks noGrp="1"/>
          </p:cNvSpPr>
          <p:nvPr/>
        </p:nvSpPr>
        <p:spPr>
          <a:xfrm>
            <a:off x="1476375" y="4619625"/>
            <a:ext cx="9239250" cy="647700"/>
          </a:xfrm>
          <a:prstGeom prst="roundRect">
            <a:avLst>
              <a:gd name="adj" fmla="val 7353"/>
            </a:avLst>
          </a:prstGeom>
          <a:solidFill>
            <a:srgbClr val="F4E9C5"/>
          </a:solidFill>
          <a:ln w="9525">
            <a:solidFill>
              <a:srgbClr val="C99B27"/>
            </a:solidFill>
            <a:prstDash val="solid"/>
          </a:ln>
        </p:spPr>
        <p:txBody>
          <a:bodyPr wrap="square" lIns="0" tIns="0" rIns="0" bIns="0" anchor="ctr">
            <a:normAutofit/>
          </a:bodyPr>
          <a:lstStyle>
            <a:defPPr algn="ctr">
              <a:defRPr sz="2025" b="1">
                <a:solidFill>
                  <a:srgbClr val="182226"/>
                </a:solidFill>
                <a:latin typeface="Arial" panose="020B0604020202090204"/>
                <a:ea typeface="Arial" panose="020B0604020202090204"/>
                <a:cs typeface="Arial" panose="020B0604020202090204"/>
              </a:defRPr>
            </a:defPPr>
            <a:lvl1pPr algn="ctr">
              <a:defRPr sz="2025" b="1">
                <a:solidFill>
                  <a:srgbClr val="182226"/>
                </a:solidFill>
                <a:latin typeface="Arial" panose="020B0604020202090204"/>
                <a:ea typeface="Arial" panose="020B0604020202090204"/>
                <a:cs typeface="Arial" panose="020B0604020202090204"/>
              </a:defRPr>
            </a:lvl1pPr>
            <a:lvl2pPr algn="ctr">
              <a:defRPr sz="2025" b="1">
                <a:solidFill>
                  <a:srgbClr val="182226"/>
                </a:solidFill>
                <a:latin typeface="Arial" panose="020B0604020202090204"/>
                <a:ea typeface="Arial" panose="020B0604020202090204"/>
                <a:cs typeface="Arial" panose="020B0604020202090204"/>
              </a:defRPr>
            </a:lvl2pPr>
            <a:lvl3pPr algn="ctr">
              <a:defRPr sz="2025" b="1">
                <a:solidFill>
                  <a:srgbClr val="182226"/>
                </a:solidFill>
                <a:latin typeface="Arial" panose="020B0604020202090204"/>
                <a:ea typeface="Arial" panose="020B0604020202090204"/>
                <a:cs typeface="Arial" panose="020B0604020202090204"/>
              </a:defRPr>
            </a:lvl3pPr>
            <a:lvl4pPr algn="ctr">
              <a:defRPr sz="2025" b="1">
                <a:solidFill>
                  <a:srgbClr val="182226"/>
                </a:solidFill>
                <a:latin typeface="Arial" panose="020B0604020202090204"/>
                <a:ea typeface="Arial" panose="020B0604020202090204"/>
                <a:cs typeface="Arial" panose="020B0604020202090204"/>
              </a:defRPr>
            </a:lvl4pPr>
            <a:lvl5pPr algn="ctr">
              <a:defRPr sz="2025" b="1">
                <a:solidFill>
                  <a:srgbClr val="182226"/>
                </a:solidFill>
                <a:latin typeface="Arial" panose="020B0604020202090204"/>
                <a:ea typeface="Arial" panose="020B0604020202090204"/>
                <a:cs typeface="Arial" panose="020B0604020202090204"/>
              </a:defRPr>
            </a:lvl5pPr>
            <a:lvl6pPr algn="ctr">
              <a:defRPr sz="2025" b="1">
                <a:solidFill>
                  <a:srgbClr val="182226"/>
                </a:solidFill>
                <a:latin typeface="Arial" panose="020B0604020202090204"/>
                <a:ea typeface="Arial" panose="020B0604020202090204"/>
                <a:cs typeface="Arial" panose="020B0604020202090204"/>
              </a:defRPr>
            </a:lvl6pPr>
            <a:lvl7pPr algn="ctr">
              <a:defRPr sz="2025" b="1">
                <a:solidFill>
                  <a:srgbClr val="182226"/>
                </a:solidFill>
                <a:latin typeface="Arial" panose="020B0604020202090204"/>
                <a:ea typeface="Arial" panose="020B0604020202090204"/>
                <a:cs typeface="Arial" panose="020B0604020202090204"/>
              </a:defRPr>
            </a:lvl7pPr>
            <a:lvl8pPr algn="ctr">
              <a:defRPr sz="2025" b="1">
                <a:solidFill>
                  <a:srgbClr val="182226"/>
                </a:solidFill>
                <a:latin typeface="Arial" panose="020B0604020202090204"/>
                <a:ea typeface="Arial" panose="020B0604020202090204"/>
                <a:cs typeface="Arial" panose="020B0604020202090204"/>
              </a:defRPr>
            </a:lvl8pPr>
            <a:lvl9pPr algn="ctr">
              <a:defRPr sz="2025" b="1">
                <a:solidFill>
                  <a:srgbClr val="182226"/>
                </a:solidFill>
                <a:latin typeface="Arial" panose="020B0604020202090204"/>
                <a:ea typeface="Arial" panose="020B0604020202090204"/>
                <a:cs typeface="Arial" panose="020B0604020202090204"/>
              </a:defRPr>
            </a:lvl9pPr>
          </a:lstStyle>
          <a:p>
            <a:pPr algn="ctr">
              <a:lnSpc>
                <a:spcPct val="102000"/>
              </a:lnSpc>
              <a:buNone/>
              <a:defRPr sz="2025" b="1">
                <a:solidFill>
                  <a:srgbClr val="182226"/>
                </a:solidFill>
                <a:latin typeface="Arial" panose="020B0604020202090204"/>
                <a:ea typeface="Arial" panose="020B0604020202090204"/>
                <a:cs typeface="Arial" panose="020B0604020202090204"/>
              </a:defRPr>
            </a:pPr>
            <a:r>
              <a:rPr sz="2025" b="1">
                <a:solidFill>
                  <a:srgbClr val="182226"/>
                </a:solidFill>
                <a:latin typeface="Arial" panose="020B0604020202090204"/>
                <a:ea typeface="Arial" panose="020B0604020202090204"/>
                <a:cs typeface="Arial" panose="020B0604020202090204"/>
              </a:rPr>
              <a:t>Candidate text  |  token probabilities  |  detection score</a:t>
            </a:r>
            <a:endParaRPr sz="2025" b="1">
              <a:solidFill>
                <a:srgbClr val="182226"/>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2381250" y="5572125"/>
            <a:ext cx="7429500" cy="361950"/>
          </a:xfrm>
          <a:prstGeom prst="rect">
            <a:avLst/>
          </a:prstGeom>
          <a:noFill/>
          <a:ln w="0">
            <a:noFill/>
            <a:prstDash val="solid"/>
          </a:ln>
        </p:spPr>
        <p:txBody>
          <a:bodyPr wrap="square" lIns="0" tIns="0" rIns="0" bIns="0" anchor="t">
            <a:normAutofit/>
          </a:bodyPr>
          <a:lstStyle>
            <a:defPPr algn="ctr">
              <a:defRPr sz="1575" b="1">
                <a:solidFill>
                  <a:srgbClr val="E7684A"/>
                </a:solidFill>
                <a:latin typeface="Arial" panose="020B0604020202090204"/>
                <a:ea typeface="Arial" panose="020B0604020202090204"/>
                <a:cs typeface="Arial" panose="020B0604020202090204"/>
              </a:defRPr>
            </a:defPPr>
            <a:lvl1pPr algn="ctr">
              <a:defRPr sz="1575" b="1">
                <a:solidFill>
                  <a:srgbClr val="E7684A"/>
                </a:solidFill>
                <a:latin typeface="Arial" panose="020B0604020202090204"/>
                <a:ea typeface="Arial" panose="020B0604020202090204"/>
                <a:cs typeface="Arial" panose="020B0604020202090204"/>
              </a:defRPr>
            </a:lvl1pPr>
            <a:lvl2pPr algn="ctr">
              <a:defRPr sz="1575" b="1">
                <a:solidFill>
                  <a:srgbClr val="E7684A"/>
                </a:solidFill>
                <a:latin typeface="Arial" panose="020B0604020202090204"/>
                <a:ea typeface="Arial" panose="020B0604020202090204"/>
                <a:cs typeface="Arial" panose="020B0604020202090204"/>
              </a:defRPr>
            </a:lvl2pPr>
            <a:lvl3pPr algn="ctr">
              <a:defRPr sz="1575" b="1">
                <a:solidFill>
                  <a:srgbClr val="E7684A"/>
                </a:solidFill>
                <a:latin typeface="Arial" panose="020B0604020202090204"/>
                <a:ea typeface="Arial" panose="020B0604020202090204"/>
                <a:cs typeface="Arial" panose="020B0604020202090204"/>
              </a:defRPr>
            </a:lvl3pPr>
            <a:lvl4pPr algn="ctr">
              <a:defRPr sz="1575" b="1">
                <a:solidFill>
                  <a:srgbClr val="E7684A"/>
                </a:solidFill>
                <a:latin typeface="Arial" panose="020B0604020202090204"/>
                <a:ea typeface="Arial" panose="020B0604020202090204"/>
                <a:cs typeface="Arial" panose="020B0604020202090204"/>
              </a:defRPr>
            </a:lvl4pPr>
            <a:lvl5pPr algn="ctr">
              <a:defRPr sz="1575" b="1">
                <a:solidFill>
                  <a:srgbClr val="E7684A"/>
                </a:solidFill>
                <a:latin typeface="Arial" panose="020B0604020202090204"/>
                <a:ea typeface="Arial" panose="020B0604020202090204"/>
                <a:cs typeface="Arial" panose="020B0604020202090204"/>
              </a:defRPr>
            </a:lvl5pPr>
            <a:lvl6pPr algn="ctr">
              <a:defRPr sz="1575" b="1">
                <a:solidFill>
                  <a:srgbClr val="E7684A"/>
                </a:solidFill>
                <a:latin typeface="Arial" panose="020B0604020202090204"/>
                <a:ea typeface="Arial" panose="020B0604020202090204"/>
                <a:cs typeface="Arial" panose="020B0604020202090204"/>
              </a:defRPr>
            </a:lvl6pPr>
            <a:lvl7pPr algn="ctr">
              <a:defRPr sz="1575" b="1">
                <a:solidFill>
                  <a:srgbClr val="E7684A"/>
                </a:solidFill>
                <a:latin typeface="Arial" panose="020B0604020202090204"/>
                <a:ea typeface="Arial" panose="020B0604020202090204"/>
                <a:cs typeface="Arial" panose="020B0604020202090204"/>
              </a:defRPr>
            </a:lvl7pPr>
            <a:lvl8pPr algn="ctr">
              <a:defRPr sz="1575" b="1">
                <a:solidFill>
                  <a:srgbClr val="E7684A"/>
                </a:solidFill>
                <a:latin typeface="Arial" panose="020B0604020202090204"/>
                <a:ea typeface="Arial" panose="020B0604020202090204"/>
                <a:cs typeface="Arial" panose="020B0604020202090204"/>
              </a:defRPr>
            </a:lvl8pPr>
            <a:lvl9pPr algn="ctr">
              <a:defRPr sz="1575" b="1">
                <a:solidFill>
                  <a:srgbClr val="E7684A"/>
                </a:solidFill>
                <a:latin typeface="Arial" panose="020B0604020202090204"/>
                <a:ea typeface="Arial" panose="020B0604020202090204"/>
                <a:cs typeface="Arial" panose="020B0604020202090204"/>
              </a:defRPr>
            </a:lvl9pPr>
          </a:lstStyle>
          <a:p>
            <a:pPr algn="ctr">
              <a:lnSpc>
                <a:spcPct val="102000"/>
              </a:lnSpc>
              <a:buNone/>
              <a:defRPr sz="1575" b="1">
                <a:solidFill>
                  <a:srgbClr val="E7684A"/>
                </a:solidFill>
                <a:latin typeface="Arial" panose="020B0604020202090204"/>
                <a:ea typeface="Arial" panose="020B0604020202090204"/>
                <a:cs typeface="Arial" panose="020B0604020202090204"/>
              </a:defRPr>
            </a:pPr>
            <a:r>
              <a:rPr sz="1575" b="1">
                <a:solidFill>
                  <a:srgbClr val="E7684A"/>
                </a:solidFill>
                <a:latin typeface="Arial" panose="020B0604020202090204"/>
                <a:ea typeface="Arial" panose="020B0604020202090204"/>
                <a:cs typeface="Arial" panose="020B0604020202090204"/>
              </a:rPr>
              <a:t>Proxy mismatch makes black-box detection harder.</a:t>
            </a:r>
            <a:endParaRPr sz="1575" b="1">
              <a:solidFill>
                <a:srgbClr val="E7684A"/>
              </a:solidFill>
              <a:latin typeface="Arial" panose="020B0604020202090204"/>
              <a:ea typeface="Arial" panose="020B0604020202090204"/>
              <a:cs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7" name="矩形 6"/>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Training-free detector landscape</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04</a:t>
            </a:r>
            <a:endParaRPr sz="1125" b="1">
              <a:solidFill>
                <a:srgbClr val="637279"/>
              </a:solidFill>
              <a:latin typeface="Arial" panose="020B0604020202090204"/>
              <a:ea typeface="Arial" panose="020B0604020202090204"/>
              <a:cs typeface="Arial" panose="020B0604020202090204"/>
            </a:endParaRPr>
          </a:p>
        </p:txBody>
      </p:sp>
      <p:graphicFrame>
        <p:nvGraphicFramePr>
          <p:cNvPr id="4" name="表格 3"/>
          <p:cNvGraphicFramePr/>
          <p:nvPr/>
        </p:nvGraphicFramePr>
        <p:xfrm>
          <a:off x="857250" y="1428750"/>
          <a:ext cx="10477500" cy="3238500"/>
        </p:xfrm>
        <a:graphic>
          <a:graphicData uri="http://schemas.openxmlformats.org/drawingml/2006/table">
            <a:tbl>
              <a:tblPr/>
              <a:tblGrid>
                <a:gridCol w="2571750"/>
                <a:gridCol w="3714750"/>
                <a:gridCol w="1428750"/>
                <a:gridCol w="2762250"/>
              </a:tblGrid>
              <a:tr h="809625">
                <a:tc>
                  <a:txBody>
                    <a:bodyPr/>
                    <a:lstStyle/>
                    <a:p>
                      <a:r>
                        <a:rPr sz="1275" b="1">
                          <a:solidFill>
                            <a:srgbClr val="FFFFFF"/>
                          </a:solidFill>
                          <a:latin typeface="Arial" panose="020B0604020202090204"/>
                          <a:ea typeface="Arial" panose="020B0604020202090204"/>
                          <a:cs typeface="Arial" panose="020B0604020202090204"/>
                        </a:rPr>
                        <a:t>Family</a:t>
                      </a:r>
                      <a:endParaRPr sz="1275" b="1">
                        <a:solidFill>
                          <a:srgbClr val="FFFFFF"/>
                        </a:solidFill>
                        <a:latin typeface="Arial" panose="020B0604020202090204"/>
                        <a:ea typeface="Arial" panose="020B0604020202090204"/>
                        <a:cs typeface="Arial" panose="020B0604020202090204"/>
                      </a:endParaRPr>
                    </a:p>
                  </a:txBody>
                  <a:tcPr marL="76200" marR="76200" marT="66675" marB="66675" anchor="ctr">
                    <a:lnL w="9525">
                      <a:solidFill>
                        <a:srgbClr val="D7DEDF"/>
                      </a:solidFill>
                      <a:prstDash val="solid"/>
                    </a:lnL>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c>
                  <a:txBody>
                    <a:bodyPr/>
                    <a:lstStyle/>
                    <a:p>
                      <a:r>
                        <a:rPr sz="1275" b="1">
                          <a:solidFill>
                            <a:srgbClr val="FFFFFF"/>
                          </a:solidFill>
                          <a:latin typeface="Arial" panose="020B0604020202090204"/>
                          <a:ea typeface="Arial" panose="020B0604020202090204"/>
                          <a:cs typeface="Arial" panose="020B0604020202090204"/>
                        </a:rPr>
                        <a:t>Signal</a:t>
                      </a:r>
                      <a:endParaRPr sz="1275" b="1">
                        <a:solidFill>
                          <a:srgbClr val="FFFFFF"/>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c>
                  <a:txBody>
                    <a:bodyPr/>
                    <a:lstStyle/>
                    <a:p>
                      <a:r>
                        <a:rPr sz="1275" b="1">
                          <a:solidFill>
                            <a:srgbClr val="FFFFFF"/>
                          </a:solidFill>
                          <a:latin typeface="Arial" panose="020B0604020202090204"/>
                          <a:ea typeface="Arial" panose="020B0604020202090204"/>
                          <a:cs typeface="Arial" panose="020B0604020202090204"/>
                        </a:rPr>
                        <a:t>Training</a:t>
                      </a:r>
                      <a:endParaRPr sz="1275" b="1">
                        <a:solidFill>
                          <a:srgbClr val="FFFFFF"/>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c>
                  <a:txBody>
                    <a:bodyPr/>
                    <a:lstStyle/>
                    <a:p>
                      <a:r>
                        <a:rPr sz="1275" b="1">
                          <a:solidFill>
                            <a:srgbClr val="FFFFFF"/>
                          </a:solidFill>
                          <a:latin typeface="Arial" panose="020B0604020202090204"/>
                          <a:ea typeface="Arial" panose="020B0604020202090204"/>
                          <a:cs typeface="Arial" panose="020B0604020202090204"/>
                        </a:rPr>
                        <a:t>Main concern</a:t>
                      </a:r>
                      <a:endParaRPr sz="1275" b="1">
                        <a:solidFill>
                          <a:srgbClr val="FFFFFF"/>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r>
              <a:tr h="809625">
                <a:tc>
                  <a:txBody>
                    <a:bodyPr/>
                    <a:lstStyle/>
                    <a:p>
                      <a:r>
                        <a:rPr sz="1200">
                          <a:solidFill>
                            <a:srgbClr val="182226"/>
                          </a:solidFill>
                          <a:latin typeface="Arial" panose="020B0604020202090204"/>
                          <a:ea typeface="Arial" panose="020B0604020202090204"/>
                          <a:cs typeface="Arial" panose="020B0604020202090204"/>
                        </a:rPr>
                        <a:t>Likelihood and rank</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L w="9525">
                      <a:solidFill>
                        <a:srgbClr val="D7DEDF"/>
                      </a:solidFill>
                      <a:prstDash val="solid"/>
                    </a:lnL>
                    <a:lnR w="9525">
                      <a:solidFill>
                        <a:srgbClr val="D7DEDF"/>
                      </a:solidFill>
                      <a:prstDash val="solid"/>
                    </a:lnR>
                    <a:lnB w="9525">
                      <a:solidFill>
                        <a:srgbClr val="D7DEDF"/>
                      </a:solidFill>
                      <a:prstDash val="solid"/>
                    </a:lnB>
                  </a:tcPr>
                </a:tc>
                <a:tc>
                  <a:txBody>
                    <a:bodyPr/>
                    <a:lstStyle/>
                    <a:p>
                      <a:r>
                        <a:rPr sz="1200">
                          <a:solidFill>
                            <a:srgbClr val="182226"/>
                          </a:solidFill>
                          <a:latin typeface="Arial" panose="020B0604020202090204"/>
                          <a:ea typeface="Arial" panose="020B0604020202090204"/>
                          <a:cs typeface="Arial" panose="020B0604020202090204"/>
                        </a:rPr>
                        <a:t>Global token statistics</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tcPr>
                </a:tc>
                <a:tc>
                  <a:txBody>
                    <a:bodyPr/>
                    <a:lstStyle/>
                    <a:p>
                      <a:r>
                        <a:rPr sz="1200">
                          <a:solidFill>
                            <a:srgbClr val="182226"/>
                          </a:solidFill>
                          <a:latin typeface="Arial" panose="020B0604020202090204"/>
                          <a:ea typeface="Arial" panose="020B0604020202090204"/>
                          <a:cs typeface="Arial" panose="020B0604020202090204"/>
                        </a:rPr>
                        <a:t>No</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tcPr>
                </a:tc>
                <a:tc>
                  <a:txBody>
                    <a:bodyPr/>
                    <a:lstStyle/>
                    <a:p>
                      <a:r>
                        <a:rPr sz="1200">
                          <a:solidFill>
                            <a:srgbClr val="182226"/>
                          </a:solidFill>
                          <a:latin typeface="Arial" panose="020B0604020202090204"/>
                          <a:ea typeface="Arial" panose="020B0604020202090204"/>
                          <a:cs typeface="Arial" panose="020B0604020202090204"/>
                        </a:rPr>
                        <a:t>Local dynamics are lost</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tcPr>
                </a:tc>
              </a:tr>
              <a:tr h="809625">
                <a:tc>
                  <a:txBody>
                    <a:bodyPr/>
                    <a:lstStyle/>
                    <a:p>
                      <a:r>
                        <a:rPr sz="1200">
                          <a:solidFill>
                            <a:srgbClr val="182226"/>
                          </a:solidFill>
                          <a:latin typeface="Arial" panose="020B0604020202090204"/>
                          <a:ea typeface="Arial" panose="020B0604020202090204"/>
                          <a:cs typeface="Arial" panose="020B0604020202090204"/>
                        </a:rPr>
                        <a:t>Perturbation and sampling</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L w="9525">
                      <a:solidFill>
                        <a:srgbClr val="D7DEDF"/>
                      </a:solidFill>
                      <a:prstDash val="solid"/>
                    </a:lnL>
                    <a:lnR w="9525">
                      <a:solidFill>
                        <a:srgbClr val="D7DEDF"/>
                      </a:solidFill>
                      <a:prstDash val="solid"/>
                    </a:lnR>
                    <a:lnB w="9525">
                      <a:solidFill>
                        <a:srgbClr val="D7DEDF"/>
                      </a:solidFill>
                      <a:prstDash val="solid"/>
                    </a:lnB>
                  </a:tcPr>
                </a:tc>
                <a:tc>
                  <a:txBody>
                    <a:bodyPr/>
                    <a:lstStyle/>
                    <a:p>
                      <a:r>
                        <a:rPr sz="1200">
                          <a:solidFill>
                            <a:srgbClr val="182226"/>
                          </a:solidFill>
                          <a:latin typeface="Arial" panose="020B0604020202090204"/>
                          <a:ea typeface="Arial" panose="020B0604020202090204"/>
                          <a:cs typeface="Arial" panose="020B0604020202090204"/>
                        </a:rPr>
                        <a:t>Distribution comparison</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tcPr>
                </a:tc>
                <a:tc>
                  <a:txBody>
                    <a:bodyPr/>
                    <a:lstStyle/>
                    <a:p>
                      <a:r>
                        <a:rPr sz="1200">
                          <a:solidFill>
                            <a:srgbClr val="182226"/>
                          </a:solidFill>
                          <a:latin typeface="Arial" panose="020B0604020202090204"/>
                          <a:ea typeface="Arial" panose="020B0604020202090204"/>
                          <a:cs typeface="Arial" panose="020B0604020202090204"/>
                        </a:rPr>
                        <a:t>No</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tcPr>
                </a:tc>
                <a:tc>
                  <a:txBody>
                    <a:bodyPr/>
                    <a:lstStyle/>
                    <a:p>
                      <a:r>
                        <a:rPr sz="1200">
                          <a:solidFill>
                            <a:srgbClr val="182226"/>
                          </a:solidFill>
                          <a:latin typeface="Arial" panose="020B0604020202090204"/>
                          <a:ea typeface="Arial" panose="020B0604020202090204"/>
                          <a:cs typeface="Arial" panose="020B0604020202090204"/>
                        </a:rPr>
                        <a:t>High computation cost</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tcPr>
                </a:tc>
              </a:tr>
              <a:tr h="809625">
                <a:tc>
                  <a:txBody>
                    <a:bodyPr/>
                    <a:lstStyle/>
                    <a:p>
                      <a:r>
                        <a:rPr sz="1200">
                          <a:solidFill>
                            <a:srgbClr val="182226"/>
                          </a:solidFill>
                          <a:latin typeface="Arial" panose="020B0604020202090204"/>
                          <a:ea typeface="Arial" panose="020B0604020202090204"/>
                          <a:cs typeface="Arial" panose="020B0604020202090204"/>
                        </a:rPr>
                        <a:t>Lastde and Lastde++</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L w="9525">
                      <a:solidFill>
                        <a:srgbClr val="D7DEDF"/>
                      </a:solidFill>
                      <a:prstDash val="solid"/>
                    </a:lnL>
                    <a:lnR w="9525">
                      <a:solidFill>
                        <a:srgbClr val="D7DEDF"/>
                      </a:solidFill>
                      <a:prstDash val="solid"/>
                    </a:lnR>
                    <a:lnB w="9525">
                      <a:solidFill>
                        <a:srgbClr val="D7DEDF"/>
                      </a:solidFill>
                      <a:prstDash val="solid"/>
                    </a:lnB>
                    <a:solidFill>
                      <a:srgbClr val="D9EFEC"/>
                    </a:solidFill>
                  </a:tcPr>
                </a:tc>
                <a:tc>
                  <a:txBody>
                    <a:bodyPr/>
                    <a:lstStyle/>
                    <a:p>
                      <a:r>
                        <a:rPr sz="1200">
                          <a:solidFill>
                            <a:srgbClr val="182226"/>
                          </a:solidFill>
                          <a:latin typeface="Arial" panose="020B0604020202090204"/>
                          <a:ea typeface="Arial" panose="020B0604020202090204"/>
                          <a:cs typeface="Arial" panose="020B0604020202090204"/>
                        </a:rPr>
                        <a:t>Global likelihood and local TPS dynamics</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solidFill>
                      <a:srgbClr val="D9EFEC"/>
                    </a:solidFill>
                  </a:tcPr>
                </a:tc>
                <a:tc>
                  <a:txBody>
                    <a:bodyPr/>
                    <a:lstStyle/>
                    <a:p>
                      <a:r>
                        <a:rPr sz="1200">
                          <a:solidFill>
                            <a:srgbClr val="182226"/>
                          </a:solidFill>
                          <a:latin typeface="Arial" panose="020B0604020202090204"/>
                          <a:ea typeface="Arial" panose="020B0604020202090204"/>
                          <a:cs typeface="Arial" panose="020B0604020202090204"/>
                        </a:rPr>
                        <a:t>No</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solidFill>
                      <a:srgbClr val="D9EFEC"/>
                    </a:solidFill>
                  </a:tcPr>
                </a:tc>
                <a:tc>
                  <a:txBody>
                    <a:bodyPr/>
                    <a:lstStyle/>
                    <a:p>
                      <a:r>
                        <a:rPr sz="1200">
                          <a:solidFill>
                            <a:srgbClr val="182226"/>
                          </a:solidFill>
                          <a:latin typeface="Arial" panose="020B0604020202090204"/>
                          <a:ea typeface="Arial" panose="020B0604020202090204"/>
                          <a:cs typeface="Arial" panose="020B0604020202090204"/>
                        </a:rPr>
                        <a:t>Proxy and length sensitivity</a:t>
                      </a:r>
                      <a:endParaRPr sz="1200">
                        <a:solidFill>
                          <a:srgbClr val="182226"/>
                        </a:solidFill>
                        <a:latin typeface="Arial" panose="020B0604020202090204"/>
                        <a:ea typeface="Arial" panose="020B0604020202090204"/>
                        <a:cs typeface="Arial" panose="020B0604020202090204"/>
                      </a:endParaRPr>
                    </a:p>
                  </a:txBody>
                  <a:tcPr marL="76200" marR="76200" marT="66675" marB="66675" anchor="ctr">
                    <a:lnR w="9525">
                      <a:solidFill>
                        <a:srgbClr val="D7DEDF"/>
                      </a:solidFill>
                      <a:prstDash val="solid"/>
                    </a:lnR>
                    <a:lnB w="9525">
                      <a:solidFill>
                        <a:srgbClr val="D7DEDF"/>
                      </a:solidFill>
                      <a:prstDash val="solid"/>
                    </a:lnB>
                    <a:solidFill>
                      <a:srgbClr val="D9EFEC"/>
                    </a:solidFill>
                  </a:tcPr>
                </a:tc>
              </a:tr>
            </a:tbl>
          </a:graphicData>
        </a:graphic>
      </p:graphicFrame>
      <p:sp>
        <p:nvSpPr>
          <p:cNvPr id="5" name="矩形 4"/>
          <p:cNvSpPr>
            <a:spLocks noGrp="1"/>
          </p:cNvSpPr>
          <p:nvPr/>
        </p:nvSpPr>
        <p:spPr>
          <a:xfrm>
            <a:off x="1428750" y="5238750"/>
            <a:ext cx="9334500" cy="476250"/>
          </a:xfrm>
          <a:prstGeom prst="rect">
            <a:avLst/>
          </a:prstGeom>
          <a:noFill/>
          <a:ln w="0">
            <a:noFill/>
            <a:prstDash val="solid"/>
          </a:ln>
        </p:spPr>
        <p:txBody>
          <a:bodyPr wrap="square" lIns="0" tIns="0" rIns="0" bIns="0" anchor="t">
            <a:normAutofit/>
          </a:bodyPr>
          <a:lstStyle>
            <a:defPPr algn="ctr">
              <a:defRPr sz="1800" b="1">
                <a:solidFill>
                  <a:srgbClr val="147A78"/>
                </a:solidFill>
                <a:latin typeface="Arial" panose="020B0604020202090204"/>
                <a:ea typeface="Arial" panose="020B0604020202090204"/>
                <a:cs typeface="Arial" panose="020B0604020202090204"/>
              </a:defRPr>
            </a:defPPr>
            <a:lvl1pPr algn="ctr">
              <a:defRPr sz="1800" b="1">
                <a:solidFill>
                  <a:srgbClr val="147A78"/>
                </a:solidFill>
                <a:latin typeface="Arial" panose="020B0604020202090204"/>
                <a:ea typeface="Arial" panose="020B0604020202090204"/>
                <a:cs typeface="Arial" panose="020B0604020202090204"/>
              </a:defRPr>
            </a:lvl1pPr>
            <a:lvl2pPr algn="ctr">
              <a:defRPr sz="1800" b="1">
                <a:solidFill>
                  <a:srgbClr val="147A78"/>
                </a:solidFill>
                <a:latin typeface="Arial" panose="020B0604020202090204"/>
                <a:ea typeface="Arial" panose="020B0604020202090204"/>
                <a:cs typeface="Arial" panose="020B0604020202090204"/>
              </a:defRPr>
            </a:lvl2pPr>
            <a:lvl3pPr algn="ctr">
              <a:defRPr sz="1800" b="1">
                <a:solidFill>
                  <a:srgbClr val="147A78"/>
                </a:solidFill>
                <a:latin typeface="Arial" panose="020B0604020202090204"/>
                <a:ea typeface="Arial" panose="020B0604020202090204"/>
                <a:cs typeface="Arial" panose="020B0604020202090204"/>
              </a:defRPr>
            </a:lvl3pPr>
            <a:lvl4pPr algn="ctr">
              <a:defRPr sz="1800" b="1">
                <a:solidFill>
                  <a:srgbClr val="147A78"/>
                </a:solidFill>
                <a:latin typeface="Arial" panose="020B0604020202090204"/>
                <a:ea typeface="Arial" panose="020B0604020202090204"/>
                <a:cs typeface="Arial" panose="020B0604020202090204"/>
              </a:defRPr>
            </a:lvl4pPr>
            <a:lvl5pPr algn="ctr">
              <a:defRPr sz="1800" b="1">
                <a:solidFill>
                  <a:srgbClr val="147A78"/>
                </a:solidFill>
                <a:latin typeface="Arial" panose="020B0604020202090204"/>
                <a:ea typeface="Arial" panose="020B0604020202090204"/>
                <a:cs typeface="Arial" panose="020B0604020202090204"/>
              </a:defRPr>
            </a:lvl5pPr>
            <a:lvl6pPr algn="ctr">
              <a:defRPr sz="1800" b="1">
                <a:solidFill>
                  <a:srgbClr val="147A78"/>
                </a:solidFill>
                <a:latin typeface="Arial" panose="020B0604020202090204"/>
                <a:ea typeface="Arial" panose="020B0604020202090204"/>
                <a:cs typeface="Arial" panose="020B0604020202090204"/>
              </a:defRPr>
            </a:lvl6pPr>
            <a:lvl7pPr algn="ctr">
              <a:defRPr sz="1800" b="1">
                <a:solidFill>
                  <a:srgbClr val="147A78"/>
                </a:solidFill>
                <a:latin typeface="Arial" panose="020B0604020202090204"/>
                <a:ea typeface="Arial" panose="020B0604020202090204"/>
                <a:cs typeface="Arial" panose="020B0604020202090204"/>
              </a:defRPr>
            </a:lvl7pPr>
            <a:lvl8pPr algn="ctr">
              <a:defRPr sz="1800" b="1">
                <a:solidFill>
                  <a:srgbClr val="147A78"/>
                </a:solidFill>
                <a:latin typeface="Arial" panose="020B0604020202090204"/>
                <a:ea typeface="Arial" panose="020B0604020202090204"/>
                <a:cs typeface="Arial" panose="020B0604020202090204"/>
              </a:defRPr>
            </a:lvl8pPr>
            <a:lvl9pPr algn="ctr">
              <a:defRPr sz="1800" b="1">
                <a:solidFill>
                  <a:srgbClr val="147A78"/>
                </a:solidFill>
                <a:latin typeface="Arial" panose="020B0604020202090204"/>
                <a:ea typeface="Arial" panose="020B0604020202090204"/>
                <a:cs typeface="Arial" panose="020B0604020202090204"/>
              </a:defRPr>
            </a:lvl9pPr>
          </a:lstStyle>
          <a:p>
            <a:pPr algn="ctr">
              <a:lnSpc>
                <a:spcPct val="102000"/>
              </a:lnSpc>
              <a:buNone/>
              <a:defRPr sz="1800" b="1">
                <a:solidFill>
                  <a:srgbClr val="147A78"/>
                </a:solidFill>
                <a:latin typeface="Arial" panose="020B0604020202090204"/>
                <a:ea typeface="Arial" panose="020B0604020202090204"/>
                <a:cs typeface="Arial" panose="020B0604020202090204"/>
              </a:defRPr>
            </a:pPr>
            <a:r>
              <a:rPr sz="1800" b="1">
                <a:solidFill>
                  <a:srgbClr val="147A78"/>
                </a:solidFill>
                <a:latin typeface="Arial" panose="020B0604020202090204"/>
                <a:ea typeface="Arial" panose="020B0604020202090204"/>
                <a:cs typeface="Arial" panose="020B0604020202090204"/>
              </a:rPr>
              <a:t>Lastde introduces a sequence statistic rather than a trained classifier.</a:t>
            </a:r>
            <a:endParaRPr sz="1800" b="1">
              <a:solidFill>
                <a:srgbClr val="147A78"/>
              </a:solidFill>
              <a:latin typeface="Arial" panose="020B0604020202090204"/>
              <a:ea typeface="Arial" panose="020B0604020202090204"/>
              <a:cs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0" name="矩形 9"/>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Token probability sequences</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05</a:t>
            </a:r>
            <a:endParaRPr sz="1125" b="1">
              <a:solidFill>
                <a:srgbClr val="637279"/>
              </a:solidFill>
              <a:latin typeface="Arial" panose="020B0604020202090204"/>
              <a:ea typeface="Arial" panose="020B0604020202090204"/>
              <a:cs typeface="Arial" panose="020B0604020202090204"/>
            </a:endParaRPr>
          </a:p>
        </p:txBody>
      </p:sp>
      <p:pic>
        <p:nvPicPr>
          <p:cNvPr id="4" name="图片 3"/>
          <p:cNvPicPr>
            <a:picLocks noChangeAspect="1"/>
          </p:cNvPicPr>
          <p:nvPr/>
        </p:nvPicPr>
        <p:blipFill>
          <a:blip r:embed="rId1"/>
          <a:stretch>
            <a:fillRect/>
          </a:stretch>
        </p:blipFill>
        <p:spPr>
          <a:xfrm>
            <a:off x="4762500" y="1629201"/>
            <a:ext cx="6762750" cy="3028097"/>
          </a:xfrm>
          <a:prstGeom prst="rect">
            <a:avLst/>
          </a:prstGeom>
        </p:spPr>
      </p:pic>
      <p:sp>
        <p:nvSpPr>
          <p:cNvPr id="5" name="矩形 4"/>
          <p:cNvSpPr>
            <a:spLocks noGrp="1"/>
          </p:cNvSpPr>
          <p:nvPr/>
        </p:nvSpPr>
        <p:spPr>
          <a:xfrm>
            <a:off x="714375" y="1476375"/>
            <a:ext cx="1714500" cy="619125"/>
          </a:xfrm>
          <a:prstGeom prst="rect">
            <a:avLst/>
          </a:prstGeom>
          <a:noFill/>
          <a:ln w="0">
            <a:noFill/>
            <a:prstDash val="solid"/>
          </a:ln>
        </p:spPr>
        <p:txBody>
          <a:bodyPr wrap="square" lIns="0" tIns="0" rIns="0" bIns="0" anchor="t">
            <a:normAutofit/>
          </a:bodyPr>
          <a:lstStyle>
            <a:defPPr algn="l">
              <a:defRPr sz="3600" b="1">
                <a:solidFill>
                  <a:srgbClr val="147A78"/>
                </a:solidFill>
                <a:latin typeface="Arial" panose="020B0604020202090204"/>
                <a:ea typeface="Arial" panose="020B0604020202090204"/>
                <a:cs typeface="Arial" panose="020B0604020202090204"/>
              </a:defRPr>
            </a:defPPr>
            <a:lvl1pPr algn="l">
              <a:defRPr sz="3600" b="1">
                <a:solidFill>
                  <a:srgbClr val="147A78"/>
                </a:solidFill>
                <a:latin typeface="Arial" panose="020B0604020202090204"/>
                <a:ea typeface="Arial" panose="020B0604020202090204"/>
                <a:cs typeface="Arial" panose="020B0604020202090204"/>
              </a:defRPr>
            </a:lvl1pPr>
            <a:lvl2pPr algn="l">
              <a:defRPr sz="3600" b="1">
                <a:solidFill>
                  <a:srgbClr val="147A78"/>
                </a:solidFill>
                <a:latin typeface="Arial" panose="020B0604020202090204"/>
                <a:ea typeface="Arial" panose="020B0604020202090204"/>
                <a:cs typeface="Arial" panose="020B0604020202090204"/>
              </a:defRPr>
            </a:lvl2pPr>
            <a:lvl3pPr algn="l">
              <a:defRPr sz="3600" b="1">
                <a:solidFill>
                  <a:srgbClr val="147A78"/>
                </a:solidFill>
                <a:latin typeface="Arial" panose="020B0604020202090204"/>
                <a:ea typeface="Arial" panose="020B0604020202090204"/>
                <a:cs typeface="Arial" panose="020B0604020202090204"/>
              </a:defRPr>
            </a:lvl3pPr>
            <a:lvl4pPr algn="l">
              <a:defRPr sz="3600" b="1">
                <a:solidFill>
                  <a:srgbClr val="147A78"/>
                </a:solidFill>
                <a:latin typeface="Arial" panose="020B0604020202090204"/>
                <a:ea typeface="Arial" panose="020B0604020202090204"/>
                <a:cs typeface="Arial" panose="020B0604020202090204"/>
              </a:defRPr>
            </a:lvl4pPr>
            <a:lvl5pPr algn="l">
              <a:defRPr sz="3600" b="1">
                <a:solidFill>
                  <a:srgbClr val="147A78"/>
                </a:solidFill>
                <a:latin typeface="Arial" panose="020B0604020202090204"/>
                <a:ea typeface="Arial" panose="020B0604020202090204"/>
                <a:cs typeface="Arial" panose="020B0604020202090204"/>
              </a:defRPr>
            </a:lvl5pPr>
            <a:lvl6pPr algn="l">
              <a:defRPr sz="3600" b="1">
                <a:solidFill>
                  <a:srgbClr val="147A78"/>
                </a:solidFill>
                <a:latin typeface="Arial" panose="020B0604020202090204"/>
                <a:ea typeface="Arial" panose="020B0604020202090204"/>
                <a:cs typeface="Arial" panose="020B0604020202090204"/>
              </a:defRPr>
            </a:lvl6pPr>
            <a:lvl7pPr algn="l">
              <a:defRPr sz="3600" b="1">
                <a:solidFill>
                  <a:srgbClr val="147A78"/>
                </a:solidFill>
                <a:latin typeface="Arial" panose="020B0604020202090204"/>
                <a:ea typeface="Arial" panose="020B0604020202090204"/>
                <a:cs typeface="Arial" panose="020B0604020202090204"/>
              </a:defRPr>
            </a:lvl7pPr>
            <a:lvl8pPr algn="l">
              <a:defRPr sz="3600" b="1">
                <a:solidFill>
                  <a:srgbClr val="147A78"/>
                </a:solidFill>
                <a:latin typeface="Arial" panose="020B0604020202090204"/>
                <a:ea typeface="Arial" panose="020B0604020202090204"/>
                <a:cs typeface="Arial" panose="020B0604020202090204"/>
              </a:defRPr>
            </a:lvl8pPr>
            <a:lvl9pPr algn="l">
              <a:defRPr sz="3600" b="1">
                <a:solidFill>
                  <a:srgbClr val="147A78"/>
                </a:solidFill>
                <a:latin typeface="Arial" panose="020B0604020202090204"/>
                <a:ea typeface="Arial" panose="020B0604020202090204"/>
                <a:cs typeface="Arial" panose="020B0604020202090204"/>
              </a:defRPr>
            </a:lvl9pPr>
          </a:lstStyle>
          <a:p>
            <a:pPr algn="l">
              <a:lnSpc>
                <a:spcPct val="102000"/>
              </a:lnSpc>
              <a:buNone/>
              <a:defRPr sz="3600" b="1">
                <a:solidFill>
                  <a:srgbClr val="147A78"/>
                </a:solidFill>
                <a:latin typeface="Arial" panose="020B0604020202090204"/>
                <a:ea typeface="Arial" panose="020B0604020202090204"/>
                <a:cs typeface="Arial" panose="020B0604020202090204"/>
              </a:defRPr>
            </a:pPr>
            <a:r>
              <a:rPr sz="3600" b="1">
                <a:solidFill>
                  <a:srgbClr val="147A78"/>
                </a:solidFill>
                <a:latin typeface="Arial" panose="020B0604020202090204"/>
                <a:ea typeface="Arial" panose="020B0604020202090204"/>
                <a:cs typeface="Arial" panose="020B0604020202090204"/>
              </a:rPr>
              <a:t>TPS</a:t>
            </a:r>
            <a:endParaRPr sz="3600" b="1">
              <a:solidFill>
                <a:srgbClr val="147A78"/>
              </a:solidFill>
              <a:latin typeface="Arial" panose="020B0604020202090204"/>
              <a:ea typeface="Arial" panose="020B0604020202090204"/>
              <a:cs typeface="Arial" panose="020B0604020202090204"/>
            </a:endParaRPr>
          </a:p>
        </p:txBody>
      </p:sp>
      <p:sp>
        <p:nvSpPr>
          <p:cNvPr id="6" name="矩形 5"/>
          <p:cNvSpPr>
            <a:spLocks noGrp="1"/>
          </p:cNvSpPr>
          <p:nvPr/>
        </p:nvSpPr>
        <p:spPr>
          <a:xfrm>
            <a:off x="714375" y="2143125"/>
            <a:ext cx="3429000" cy="285750"/>
          </a:xfrm>
          <a:prstGeom prst="rect">
            <a:avLst/>
          </a:prstGeom>
          <a:noFill/>
          <a:ln w="0">
            <a:noFill/>
            <a:prstDash val="solid"/>
          </a:ln>
        </p:spPr>
        <p:txBody>
          <a:bodyPr wrap="square" lIns="0" tIns="0" rIns="0" bIns="0" anchor="t">
            <a:normAutofit/>
          </a:bodyPr>
          <a:lstStyle>
            <a:defPPr algn="l">
              <a:defRPr sz="1350" b="0">
                <a:solidFill>
                  <a:srgbClr val="637279"/>
                </a:solidFill>
                <a:latin typeface="Arial" panose="020B0604020202090204"/>
                <a:ea typeface="Arial" panose="020B0604020202090204"/>
                <a:cs typeface="Arial" panose="020B0604020202090204"/>
              </a:defRPr>
            </a:defPPr>
            <a:lvl1pPr algn="l">
              <a:defRPr sz="1350" b="0">
                <a:solidFill>
                  <a:srgbClr val="637279"/>
                </a:solidFill>
                <a:latin typeface="Arial" panose="020B0604020202090204"/>
                <a:ea typeface="Arial" panose="020B0604020202090204"/>
                <a:cs typeface="Arial" panose="020B0604020202090204"/>
              </a:defRPr>
            </a:lvl1pPr>
            <a:lvl2pPr algn="l">
              <a:defRPr sz="1350" b="0">
                <a:solidFill>
                  <a:srgbClr val="637279"/>
                </a:solidFill>
                <a:latin typeface="Arial" panose="020B0604020202090204"/>
                <a:ea typeface="Arial" panose="020B0604020202090204"/>
                <a:cs typeface="Arial" panose="020B0604020202090204"/>
              </a:defRPr>
            </a:lvl2pPr>
            <a:lvl3pPr algn="l">
              <a:defRPr sz="1350" b="0">
                <a:solidFill>
                  <a:srgbClr val="637279"/>
                </a:solidFill>
                <a:latin typeface="Arial" panose="020B0604020202090204"/>
                <a:ea typeface="Arial" panose="020B0604020202090204"/>
                <a:cs typeface="Arial" panose="020B0604020202090204"/>
              </a:defRPr>
            </a:lvl3pPr>
            <a:lvl4pPr algn="l">
              <a:defRPr sz="1350" b="0">
                <a:solidFill>
                  <a:srgbClr val="637279"/>
                </a:solidFill>
                <a:latin typeface="Arial" panose="020B0604020202090204"/>
                <a:ea typeface="Arial" panose="020B0604020202090204"/>
                <a:cs typeface="Arial" panose="020B0604020202090204"/>
              </a:defRPr>
            </a:lvl4pPr>
            <a:lvl5pPr algn="l">
              <a:defRPr sz="1350" b="0">
                <a:solidFill>
                  <a:srgbClr val="637279"/>
                </a:solidFill>
                <a:latin typeface="Arial" panose="020B0604020202090204"/>
                <a:ea typeface="Arial" panose="020B0604020202090204"/>
                <a:cs typeface="Arial" panose="020B0604020202090204"/>
              </a:defRPr>
            </a:lvl5pPr>
            <a:lvl6pPr algn="l">
              <a:defRPr sz="1350" b="0">
                <a:solidFill>
                  <a:srgbClr val="637279"/>
                </a:solidFill>
                <a:latin typeface="Arial" panose="020B0604020202090204"/>
                <a:ea typeface="Arial" panose="020B0604020202090204"/>
                <a:cs typeface="Arial" panose="020B0604020202090204"/>
              </a:defRPr>
            </a:lvl6pPr>
            <a:lvl7pPr algn="l">
              <a:defRPr sz="1350" b="0">
                <a:solidFill>
                  <a:srgbClr val="637279"/>
                </a:solidFill>
                <a:latin typeface="Arial" panose="020B0604020202090204"/>
                <a:ea typeface="Arial" panose="020B0604020202090204"/>
                <a:cs typeface="Arial" panose="020B0604020202090204"/>
              </a:defRPr>
            </a:lvl7pPr>
            <a:lvl8pPr algn="l">
              <a:defRPr sz="1350" b="0">
                <a:solidFill>
                  <a:srgbClr val="637279"/>
                </a:solidFill>
                <a:latin typeface="Arial" panose="020B0604020202090204"/>
                <a:ea typeface="Arial" panose="020B0604020202090204"/>
                <a:cs typeface="Arial" panose="020B0604020202090204"/>
              </a:defRPr>
            </a:lvl8pPr>
            <a:lvl9pPr algn="l">
              <a:defRPr sz="1350" b="0">
                <a:solidFill>
                  <a:srgbClr val="637279"/>
                </a:solidFill>
                <a:latin typeface="Arial" panose="020B0604020202090204"/>
                <a:ea typeface="Arial" panose="020B0604020202090204"/>
                <a:cs typeface="Arial" panose="020B0604020202090204"/>
              </a:defRPr>
            </a:lvl9pPr>
          </a:lstStyle>
          <a:p>
            <a:pPr algn="l">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Token Probability Sequence</a:t>
            </a:r>
            <a:endParaRPr sz="1350" b="0">
              <a:solidFill>
                <a:srgbClr val="637279"/>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14375" y="2905125"/>
            <a:ext cx="3714750" cy="2238375"/>
          </a:xfrm>
          <a:prstGeom prst="rect">
            <a:avLst/>
          </a:prstGeom>
          <a:noFill/>
          <a:ln w="0">
            <a:noFill/>
            <a:prstDash val="solid"/>
          </a:ln>
        </p:spPr>
        <p:txBody>
          <a:bodyPr wrap="square" lIns="0" tIns="0" rIns="0" bIns="0" anchor="t">
            <a:normAutofit/>
          </a:bodyPr>
          <a:lstStyle>
            <a:defPPr algn="l">
              <a:defRPr sz="1575" b="0">
                <a:solidFill>
                  <a:srgbClr val="182226"/>
                </a:solidFill>
                <a:latin typeface="Arial" panose="020B0604020202090204"/>
                <a:ea typeface="Arial" panose="020B0604020202090204"/>
                <a:cs typeface="Arial" panose="020B0604020202090204"/>
              </a:defRPr>
            </a:defPPr>
            <a:lvl1pPr algn="l">
              <a:defRPr sz="1575" b="0">
                <a:solidFill>
                  <a:srgbClr val="182226"/>
                </a:solidFill>
                <a:latin typeface="Arial" panose="020B0604020202090204"/>
                <a:ea typeface="Arial" panose="020B0604020202090204"/>
                <a:cs typeface="Arial" panose="020B0604020202090204"/>
              </a:defRPr>
            </a:lvl1pPr>
            <a:lvl2pPr algn="l">
              <a:defRPr sz="1575" b="0">
                <a:solidFill>
                  <a:srgbClr val="182226"/>
                </a:solidFill>
                <a:latin typeface="Arial" panose="020B0604020202090204"/>
                <a:ea typeface="Arial" panose="020B0604020202090204"/>
                <a:cs typeface="Arial" panose="020B0604020202090204"/>
              </a:defRPr>
            </a:lvl2pPr>
            <a:lvl3pPr algn="l">
              <a:defRPr sz="1575" b="0">
                <a:solidFill>
                  <a:srgbClr val="182226"/>
                </a:solidFill>
                <a:latin typeface="Arial" panose="020B0604020202090204"/>
                <a:ea typeface="Arial" panose="020B0604020202090204"/>
                <a:cs typeface="Arial" panose="020B0604020202090204"/>
              </a:defRPr>
            </a:lvl3pPr>
            <a:lvl4pPr algn="l">
              <a:defRPr sz="1575" b="0">
                <a:solidFill>
                  <a:srgbClr val="182226"/>
                </a:solidFill>
                <a:latin typeface="Arial" panose="020B0604020202090204"/>
                <a:ea typeface="Arial" panose="020B0604020202090204"/>
                <a:cs typeface="Arial" panose="020B0604020202090204"/>
              </a:defRPr>
            </a:lvl4pPr>
            <a:lvl5pPr algn="l">
              <a:defRPr sz="1575" b="0">
                <a:solidFill>
                  <a:srgbClr val="182226"/>
                </a:solidFill>
                <a:latin typeface="Arial" panose="020B0604020202090204"/>
                <a:ea typeface="Arial" panose="020B0604020202090204"/>
                <a:cs typeface="Arial" panose="020B0604020202090204"/>
              </a:defRPr>
            </a:lvl5pPr>
            <a:lvl6pPr algn="l">
              <a:defRPr sz="1575" b="0">
                <a:solidFill>
                  <a:srgbClr val="182226"/>
                </a:solidFill>
                <a:latin typeface="Arial" panose="020B0604020202090204"/>
                <a:ea typeface="Arial" panose="020B0604020202090204"/>
                <a:cs typeface="Arial" panose="020B0604020202090204"/>
              </a:defRPr>
            </a:lvl6pPr>
            <a:lvl7pPr algn="l">
              <a:defRPr sz="1575" b="0">
                <a:solidFill>
                  <a:srgbClr val="182226"/>
                </a:solidFill>
                <a:latin typeface="Arial" panose="020B0604020202090204"/>
                <a:ea typeface="Arial" panose="020B0604020202090204"/>
                <a:cs typeface="Arial" panose="020B0604020202090204"/>
              </a:defRPr>
            </a:lvl7pPr>
            <a:lvl8pPr algn="l">
              <a:defRPr sz="1575" b="0">
                <a:solidFill>
                  <a:srgbClr val="182226"/>
                </a:solidFill>
                <a:latin typeface="Arial" panose="020B0604020202090204"/>
                <a:ea typeface="Arial" panose="020B0604020202090204"/>
                <a:cs typeface="Arial" panose="020B0604020202090204"/>
              </a:defRPr>
            </a:lvl8pPr>
            <a:lvl9pPr algn="l">
              <a:defRPr sz="1575" b="0">
                <a:solidFill>
                  <a:srgbClr val="182226"/>
                </a:solidFill>
                <a:latin typeface="Arial" panose="020B0604020202090204"/>
                <a:ea typeface="Arial" panose="020B0604020202090204"/>
                <a:cs typeface="Arial" panose="020B0604020202090204"/>
              </a:defRPr>
            </a:lvl9pPr>
          </a:lstStyle>
          <a:p>
            <a:pPr marL="228600" indent="-114300" algn="l">
              <a:lnSpc>
                <a:spcPct val="104000"/>
              </a:lnSpc>
              <a:spcAft>
                <a:spcPts val="900"/>
              </a:spcAft>
              <a:buNone/>
              <a:defRPr sz="1575" b="0">
                <a:solidFill>
                  <a:srgbClr val="182226"/>
                </a:solidFill>
                <a:latin typeface="Arial" panose="020B0604020202090204"/>
                <a:ea typeface="Arial" panose="020B0604020202090204"/>
                <a:cs typeface="Arial" panose="020B0604020202090204"/>
              </a:defRPr>
            </a:pPr>
            <a:r>
              <a:rPr sz="1575">
                <a:solidFill>
                  <a:srgbClr val="182226"/>
                </a:solidFill>
                <a:latin typeface="Arial" panose="020B0604020202090204"/>
                <a:ea typeface="Arial" panose="020B0604020202090204"/>
                <a:cs typeface="Arial" panose="020B0604020202090204"/>
              </a:rPr>
              <a:t>Human text shows deeper and more frequent low-probability valleys.</a:t>
            </a:r>
            <a:endParaRPr sz="1575">
              <a:solidFill>
                <a:srgbClr val="182226"/>
              </a:solidFill>
              <a:latin typeface="Arial" panose="020B0604020202090204"/>
              <a:ea typeface="Arial" panose="020B0604020202090204"/>
              <a:cs typeface="Arial" panose="020B0604020202090204"/>
            </a:endParaRPr>
          </a:p>
          <a:p>
            <a:pPr marL="228600" indent="-114300" algn="l">
              <a:lnSpc>
                <a:spcPct val="104000"/>
              </a:lnSpc>
              <a:spcAft>
                <a:spcPts val="900"/>
              </a:spcAft>
              <a:buNone/>
              <a:defRPr sz="1575" b="0">
                <a:solidFill>
                  <a:srgbClr val="182226"/>
                </a:solidFill>
                <a:latin typeface="Arial" panose="020B0604020202090204"/>
                <a:ea typeface="Arial" panose="020B0604020202090204"/>
                <a:cs typeface="Arial" panose="020B0604020202090204"/>
              </a:defRPr>
            </a:pPr>
            <a:r>
              <a:rPr sz="1575">
                <a:solidFill>
                  <a:srgbClr val="182226"/>
                </a:solidFill>
                <a:latin typeface="Arial" panose="020B0604020202090204"/>
                <a:ea typeface="Arial" panose="020B0604020202090204"/>
                <a:cs typeface="Arial" panose="020B0604020202090204"/>
              </a:rPr>
              <a:t>LLM text usually follows higher-probability choices and smoother local patterns.</a:t>
            </a:r>
            <a:endParaRPr sz="1575">
              <a:solidFill>
                <a:srgbClr val="182226"/>
              </a:solidFill>
              <a:latin typeface="Arial" panose="020B0604020202090204"/>
              <a:ea typeface="Arial" panose="020B0604020202090204"/>
              <a:cs typeface="Arial" panose="020B0604020202090204"/>
            </a:endParaRPr>
          </a:p>
          <a:p>
            <a:pPr marL="228600" indent="-114300" algn="l">
              <a:lnSpc>
                <a:spcPct val="104000"/>
              </a:lnSpc>
              <a:spcAft>
                <a:spcPts val="900"/>
              </a:spcAft>
              <a:buNone/>
              <a:defRPr sz="1575" b="0">
                <a:solidFill>
                  <a:srgbClr val="182226"/>
                </a:solidFill>
                <a:latin typeface="Arial" panose="020B0604020202090204"/>
                <a:ea typeface="Arial" panose="020B0604020202090204"/>
                <a:cs typeface="Arial" panose="020B0604020202090204"/>
              </a:defRPr>
            </a:pPr>
            <a:r>
              <a:rPr sz="1575">
                <a:solidFill>
                  <a:srgbClr val="182226"/>
                </a:solidFill>
                <a:latin typeface="Arial" panose="020B0604020202090204"/>
                <a:ea typeface="Arial" panose="020B0604020202090204"/>
                <a:cs typeface="Arial" panose="020B0604020202090204"/>
              </a:rPr>
              <a:t>The sequence shape carries information beyond the mean.</a:t>
            </a:r>
            <a:endParaRPr sz="1575">
              <a:solidFill>
                <a:srgbClr val="182226"/>
              </a:solidFill>
              <a:latin typeface="Arial" panose="020B0604020202090204"/>
              <a:ea typeface="Arial" panose="020B0604020202090204"/>
              <a:cs typeface="Arial" panose="020B0604020202090204"/>
            </a:endParaRPr>
          </a:p>
        </p:txBody>
      </p:sp>
      <p:sp>
        <p:nvSpPr>
          <p:cNvPr id="8" name="矩形 7"/>
          <p:cNvSpPr>
            <a:spLocks noGrp="1"/>
          </p:cNvSpPr>
          <p:nvPr/>
        </p:nvSpPr>
        <p:spPr>
          <a:xfrm>
            <a:off x="857250" y="5524500"/>
            <a:ext cx="10382250" cy="400050"/>
          </a:xfrm>
          <a:prstGeom prst="rect">
            <a:avLst/>
          </a:prstGeom>
          <a:noFill/>
          <a:ln w="0">
            <a:noFill/>
            <a:prstDash val="solid"/>
          </a:ln>
        </p:spPr>
        <p:txBody>
          <a:bodyPr wrap="square" lIns="0" tIns="0" rIns="0" bIns="0" anchor="t">
            <a:normAutofit/>
          </a:bodyPr>
          <a:lstStyle>
            <a:defPPr algn="ctr">
              <a:defRPr sz="1650" b="1">
                <a:solidFill>
                  <a:srgbClr val="E7684A"/>
                </a:solidFill>
                <a:latin typeface="Arial" panose="020B0604020202090204"/>
                <a:ea typeface="Arial" panose="020B0604020202090204"/>
                <a:cs typeface="Arial" panose="020B0604020202090204"/>
              </a:defRPr>
            </a:defPPr>
            <a:lvl1pPr algn="ctr">
              <a:defRPr sz="1650" b="1">
                <a:solidFill>
                  <a:srgbClr val="E7684A"/>
                </a:solidFill>
                <a:latin typeface="Arial" panose="020B0604020202090204"/>
                <a:ea typeface="Arial" panose="020B0604020202090204"/>
                <a:cs typeface="Arial" panose="020B0604020202090204"/>
              </a:defRPr>
            </a:lvl1pPr>
            <a:lvl2pPr algn="ctr">
              <a:defRPr sz="1650" b="1">
                <a:solidFill>
                  <a:srgbClr val="E7684A"/>
                </a:solidFill>
                <a:latin typeface="Arial" panose="020B0604020202090204"/>
                <a:ea typeface="Arial" panose="020B0604020202090204"/>
                <a:cs typeface="Arial" panose="020B0604020202090204"/>
              </a:defRPr>
            </a:lvl2pPr>
            <a:lvl3pPr algn="ctr">
              <a:defRPr sz="1650" b="1">
                <a:solidFill>
                  <a:srgbClr val="E7684A"/>
                </a:solidFill>
                <a:latin typeface="Arial" panose="020B0604020202090204"/>
                <a:ea typeface="Arial" panose="020B0604020202090204"/>
                <a:cs typeface="Arial" panose="020B0604020202090204"/>
              </a:defRPr>
            </a:lvl3pPr>
            <a:lvl4pPr algn="ctr">
              <a:defRPr sz="1650" b="1">
                <a:solidFill>
                  <a:srgbClr val="E7684A"/>
                </a:solidFill>
                <a:latin typeface="Arial" panose="020B0604020202090204"/>
                <a:ea typeface="Arial" panose="020B0604020202090204"/>
                <a:cs typeface="Arial" panose="020B0604020202090204"/>
              </a:defRPr>
            </a:lvl4pPr>
            <a:lvl5pPr algn="ctr">
              <a:defRPr sz="1650" b="1">
                <a:solidFill>
                  <a:srgbClr val="E7684A"/>
                </a:solidFill>
                <a:latin typeface="Arial" panose="020B0604020202090204"/>
                <a:ea typeface="Arial" panose="020B0604020202090204"/>
                <a:cs typeface="Arial" panose="020B0604020202090204"/>
              </a:defRPr>
            </a:lvl5pPr>
            <a:lvl6pPr algn="ctr">
              <a:defRPr sz="1650" b="1">
                <a:solidFill>
                  <a:srgbClr val="E7684A"/>
                </a:solidFill>
                <a:latin typeface="Arial" panose="020B0604020202090204"/>
                <a:ea typeface="Arial" panose="020B0604020202090204"/>
                <a:cs typeface="Arial" panose="020B0604020202090204"/>
              </a:defRPr>
            </a:lvl6pPr>
            <a:lvl7pPr algn="ctr">
              <a:defRPr sz="1650" b="1">
                <a:solidFill>
                  <a:srgbClr val="E7684A"/>
                </a:solidFill>
                <a:latin typeface="Arial" panose="020B0604020202090204"/>
                <a:ea typeface="Arial" panose="020B0604020202090204"/>
                <a:cs typeface="Arial" panose="020B0604020202090204"/>
              </a:defRPr>
            </a:lvl7pPr>
            <a:lvl8pPr algn="ctr">
              <a:defRPr sz="1650" b="1">
                <a:solidFill>
                  <a:srgbClr val="E7684A"/>
                </a:solidFill>
                <a:latin typeface="Arial" panose="020B0604020202090204"/>
                <a:ea typeface="Arial" panose="020B0604020202090204"/>
                <a:cs typeface="Arial" panose="020B0604020202090204"/>
              </a:defRPr>
            </a:lvl8pPr>
            <a:lvl9pPr algn="ctr">
              <a:defRPr sz="1650" b="1">
                <a:solidFill>
                  <a:srgbClr val="E7684A"/>
                </a:solidFill>
                <a:latin typeface="Arial" panose="020B0604020202090204"/>
                <a:ea typeface="Arial" panose="020B0604020202090204"/>
                <a:cs typeface="Arial" panose="020B0604020202090204"/>
              </a:defRPr>
            </a:lvl9pPr>
          </a:lstStyle>
          <a:p>
            <a:pPr algn="ctr">
              <a:lnSpc>
                <a:spcPct val="102000"/>
              </a:lnSpc>
              <a:buNone/>
              <a:defRPr sz="1650" b="1">
                <a:solidFill>
                  <a:srgbClr val="E7684A"/>
                </a:solidFill>
                <a:latin typeface="Arial" panose="020B0604020202090204"/>
                <a:ea typeface="Arial" panose="020B0604020202090204"/>
                <a:cs typeface="Arial" panose="020B0604020202090204"/>
              </a:defRPr>
            </a:pPr>
            <a:r>
              <a:rPr sz="1650" b="1">
                <a:solidFill>
                  <a:srgbClr val="E7684A"/>
                </a:solidFill>
                <a:latin typeface="Arial" panose="020B0604020202090204"/>
                <a:ea typeface="Arial" panose="020B0604020202090204"/>
                <a:cs typeface="Arial" panose="020B0604020202090204"/>
              </a:rPr>
              <a:t>The separation is statistical and depends on the model and text.</a:t>
            </a:r>
            <a:endParaRPr sz="1650" b="1">
              <a:solidFill>
                <a:srgbClr val="E7684A"/>
              </a:solidFill>
              <a:latin typeface="Arial" panose="020B0604020202090204"/>
              <a:ea typeface="Arial" panose="020B0604020202090204"/>
              <a:cs typeface="Arial" panose="020B060402020209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0" name="矩形 9"/>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Lastde framework</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06</a:t>
            </a:r>
            <a:endParaRPr sz="1125" b="1">
              <a:solidFill>
                <a:srgbClr val="637279"/>
              </a:solidFill>
              <a:latin typeface="Arial" panose="020B0604020202090204"/>
              <a:ea typeface="Arial" panose="020B0604020202090204"/>
              <a:cs typeface="Arial" panose="020B0604020202090204"/>
            </a:endParaRPr>
          </a:p>
        </p:txBody>
      </p:sp>
      <p:pic>
        <p:nvPicPr>
          <p:cNvPr id="4" name="图片 3"/>
          <p:cNvPicPr>
            <a:picLocks noChangeAspect="1"/>
          </p:cNvPicPr>
          <p:nvPr/>
        </p:nvPicPr>
        <p:blipFill>
          <a:blip r:embed="rId1"/>
          <a:stretch>
            <a:fillRect/>
          </a:stretch>
        </p:blipFill>
        <p:spPr>
          <a:xfrm>
            <a:off x="1012233" y="1190625"/>
            <a:ext cx="10167534" cy="4476750"/>
          </a:xfrm>
          <a:prstGeom prst="rect">
            <a:avLst/>
          </a:prstGeom>
        </p:spPr>
      </p:pic>
      <p:sp>
        <p:nvSpPr>
          <p:cNvPr id="5" name="圆角矩形 4"/>
          <p:cNvSpPr>
            <a:spLocks noGrp="1"/>
          </p:cNvSpPr>
          <p:nvPr/>
        </p:nvSpPr>
        <p:spPr>
          <a:xfrm>
            <a:off x="857250" y="5810250"/>
            <a:ext cx="1714500" cy="323850"/>
          </a:xfrm>
          <a:prstGeom prst="roundRect">
            <a:avLst>
              <a:gd name="adj" fmla="val 14706"/>
            </a:avLst>
          </a:prstGeom>
          <a:solidFill>
            <a:srgbClr val="E7684A"/>
          </a:solidFill>
          <a:ln w="0">
            <a:noFill/>
            <a:prstDash val="solid"/>
          </a:ln>
        </p:spPr>
        <p:txBody>
          <a:bodyPr wrap="square" lIns="47625" tIns="47625" rIns="47625" bIns="47625" anchor="ctr">
            <a:normAutofit/>
          </a:bodyPr>
          <a:lstStyle>
            <a:defPPr algn="ctr">
              <a:defRPr sz="1125" b="1">
                <a:solidFill>
                  <a:srgbClr val="FFFFFF"/>
                </a:solidFill>
                <a:latin typeface="Arial" panose="020B0604020202090204"/>
                <a:ea typeface="Arial" panose="020B0604020202090204"/>
                <a:cs typeface="Arial" panose="020B0604020202090204"/>
              </a:defRPr>
            </a:defPPr>
            <a:lvl1pPr algn="ctr">
              <a:defRPr sz="1125" b="1">
                <a:solidFill>
                  <a:srgbClr val="FFFFFF"/>
                </a:solidFill>
                <a:latin typeface="Arial" panose="020B0604020202090204"/>
                <a:ea typeface="Arial" panose="020B0604020202090204"/>
                <a:cs typeface="Arial" panose="020B0604020202090204"/>
              </a:defRPr>
            </a:lvl1pPr>
            <a:lvl2pPr algn="ctr">
              <a:defRPr sz="1125" b="1">
                <a:solidFill>
                  <a:srgbClr val="FFFFFF"/>
                </a:solidFill>
                <a:latin typeface="Arial" panose="020B0604020202090204"/>
                <a:ea typeface="Arial" panose="020B0604020202090204"/>
                <a:cs typeface="Arial" panose="020B0604020202090204"/>
              </a:defRPr>
            </a:lvl2pPr>
            <a:lvl3pPr algn="ctr">
              <a:defRPr sz="1125" b="1">
                <a:solidFill>
                  <a:srgbClr val="FFFFFF"/>
                </a:solidFill>
                <a:latin typeface="Arial" panose="020B0604020202090204"/>
                <a:ea typeface="Arial" panose="020B0604020202090204"/>
                <a:cs typeface="Arial" panose="020B0604020202090204"/>
              </a:defRPr>
            </a:lvl3pPr>
            <a:lvl4pPr algn="ctr">
              <a:defRPr sz="1125" b="1">
                <a:solidFill>
                  <a:srgbClr val="FFFFFF"/>
                </a:solidFill>
                <a:latin typeface="Arial" panose="020B0604020202090204"/>
                <a:ea typeface="Arial" panose="020B0604020202090204"/>
                <a:cs typeface="Arial" panose="020B0604020202090204"/>
              </a:defRPr>
            </a:lvl4pPr>
            <a:lvl5pPr algn="ctr">
              <a:defRPr sz="1125" b="1">
                <a:solidFill>
                  <a:srgbClr val="FFFFFF"/>
                </a:solidFill>
                <a:latin typeface="Arial" panose="020B0604020202090204"/>
                <a:ea typeface="Arial" panose="020B0604020202090204"/>
                <a:cs typeface="Arial" panose="020B0604020202090204"/>
              </a:defRPr>
            </a:lvl5pPr>
            <a:lvl6pPr algn="ctr">
              <a:defRPr sz="1125" b="1">
                <a:solidFill>
                  <a:srgbClr val="FFFFFF"/>
                </a:solidFill>
                <a:latin typeface="Arial" panose="020B0604020202090204"/>
                <a:ea typeface="Arial" panose="020B0604020202090204"/>
                <a:cs typeface="Arial" panose="020B0604020202090204"/>
              </a:defRPr>
            </a:lvl6pPr>
            <a:lvl7pPr algn="ctr">
              <a:defRPr sz="1125" b="1">
                <a:solidFill>
                  <a:srgbClr val="FFFFFF"/>
                </a:solidFill>
                <a:latin typeface="Arial" panose="020B0604020202090204"/>
                <a:ea typeface="Arial" panose="020B0604020202090204"/>
                <a:cs typeface="Arial" panose="020B0604020202090204"/>
              </a:defRPr>
            </a:lvl7pPr>
            <a:lvl8pPr algn="ctr">
              <a:defRPr sz="1125" b="1">
                <a:solidFill>
                  <a:srgbClr val="FFFFFF"/>
                </a:solidFill>
                <a:latin typeface="Arial" panose="020B0604020202090204"/>
                <a:ea typeface="Arial" panose="020B0604020202090204"/>
                <a:cs typeface="Arial" panose="020B0604020202090204"/>
              </a:defRPr>
            </a:lvl8pPr>
            <a:lvl9pPr algn="ctr">
              <a:defRPr sz="1125" b="1">
                <a:solidFill>
                  <a:srgbClr val="FFFFFF"/>
                </a:solidFill>
                <a:latin typeface="Arial" panose="020B0604020202090204"/>
                <a:ea typeface="Arial" panose="020B0604020202090204"/>
                <a:cs typeface="Arial" panose="020B0604020202090204"/>
              </a:defRPr>
            </a:lvl9pPr>
          </a:lstStyle>
          <a:p>
            <a:pPr algn="ctr">
              <a:lnSpc>
                <a:spcPct val="102000"/>
              </a:lnSpc>
              <a:buNone/>
              <a:defRPr sz="1125" b="1">
                <a:solidFill>
                  <a:srgbClr val="FFFFFF"/>
                </a:solidFill>
                <a:latin typeface="Arial" panose="020B0604020202090204"/>
                <a:ea typeface="Arial" panose="020B0604020202090204"/>
                <a:cs typeface="Arial" panose="020B0604020202090204"/>
              </a:defRPr>
            </a:pPr>
            <a:r>
              <a:rPr sz="1125" b="1">
                <a:solidFill>
                  <a:srgbClr val="FFFFFF"/>
                </a:solidFill>
                <a:latin typeface="Arial" panose="020B0604020202090204"/>
                <a:ea typeface="Arial" panose="020B0604020202090204"/>
                <a:cs typeface="Arial" panose="020B0604020202090204"/>
              </a:rPr>
              <a:t>1  TPS extraction</a:t>
            </a:r>
            <a:endParaRPr sz="1125" b="1">
              <a:solidFill>
                <a:srgbClr val="FFFFFF"/>
              </a:solidFill>
              <a:latin typeface="Arial" panose="020B0604020202090204"/>
              <a:ea typeface="Arial" panose="020B0604020202090204"/>
              <a:cs typeface="Arial" panose="020B0604020202090204"/>
            </a:endParaRPr>
          </a:p>
        </p:txBody>
      </p:sp>
      <p:sp>
        <p:nvSpPr>
          <p:cNvPr id="6" name="圆角矩形 5"/>
          <p:cNvSpPr>
            <a:spLocks noGrp="1"/>
          </p:cNvSpPr>
          <p:nvPr/>
        </p:nvSpPr>
        <p:spPr>
          <a:xfrm>
            <a:off x="3714750" y="5810250"/>
            <a:ext cx="1714500" cy="323850"/>
          </a:xfrm>
          <a:prstGeom prst="roundRect">
            <a:avLst>
              <a:gd name="adj" fmla="val 14706"/>
            </a:avLst>
          </a:prstGeom>
          <a:solidFill>
            <a:srgbClr val="147A78"/>
          </a:solidFill>
          <a:ln w="0">
            <a:noFill/>
            <a:prstDash val="solid"/>
          </a:ln>
        </p:spPr>
        <p:txBody>
          <a:bodyPr wrap="square" lIns="47625" tIns="47625" rIns="47625" bIns="47625" anchor="ctr">
            <a:normAutofit/>
          </a:bodyPr>
          <a:lstStyle>
            <a:defPPr algn="ctr">
              <a:defRPr sz="1125" b="1">
                <a:solidFill>
                  <a:srgbClr val="FFFFFF"/>
                </a:solidFill>
                <a:latin typeface="Arial" panose="020B0604020202090204"/>
                <a:ea typeface="Arial" panose="020B0604020202090204"/>
                <a:cs typeface="Arial" panose="020B0604020202090204"/>
              </a:defRPr>
            </a:defPPr>
            <a:lvl1pPr algn="ctr">
              <a:defRPr sz="1125" b="1">
                <a:solidFill>
                  <a:srgbClr val="FFFFFF"/>
                </a:solidFill>
                <a:latin typeface="Arial" panose="020B0604020202090204"/>
                <a:ea typeface="Arial" panose="020B0604020202090204"/>
                <a:cs typeface="Arial" panose="020B0604020202090204"/>
              </a:defRPr>
            </a:lvl1pPr>
            <a:lvl2pPr algn="ctr">
              <a:defRPr sz="1125" b="1">
                <a:solidFill>
                  <a:srgbClr val="FFFFFF"/>
                </a:solidFill>
                <a:latin typeface="Arial" panose="020B0604020202090204"/>
                <a:ea typeface="Arial" panose="020B0604020202090204"/>
                <a:cs typeface="Arial" panose="020B0604020202090204"/>
              </a:defRPr>
            </a:lvl2pPr>
            <a:lvl3pPr algn="ctr">
              <a:defRPr sz="1125" b="1">
                <a:solidFill>
                  <a:srgbClr val="FFFFFF"/>
                </a:solidFill>
                <a:latin typeface="Arial" panose="020B0604020202090204"/>
                <a:ea typeface="Arial" panose="020B0604020202090204"/>
                <a:cs typeface="Arial" panose="020B0604020202090204"/>
              </a:defRPr>
            </a:lvl3pPr>
            <a:lvl4pPr algn="ctr">
              <a:defRPr sz="1125" b="1">
                <a:solidFill>
                  <a:srgbClr val="FFFFFF"/>
                </a:solidFill>
                <a:latin typeface="Arial" panose="020B0604020202090204"/>
                <a:ea typeface="Arial" panose="020B0604020202090204"/>
                <a:cs typeface="Arial" panose="020B0604020202090204"/>
              </a:defRPr>
            </a:lvl4pPr>
            <a:lvl5pPr algn="ctr">
              <a:defRPr sz="1125" b="1">
                <a:solidFill>
                  <a:srgbClr val="FFFFFF"/>
                </a:solidFill>
                <a:latin typeface="Arial" panose="020B0604020202090204"/>
                <a:ea typeface="Arial" panose="020B0604020202090204"/>
                <a:cs typeface="Arial" panose="020B0604020202090204"/>
              </a:defRPr>
            </a:lvl5pPr>
            <a:lvl6pPr algn="ctr">
              <a:defRPr sz="1125" b="1">
                <a:solidFill>
                  <a:srgbClr val="FFFFFF"/>
                </a:solidFill>
                <a:latin typeface="Arial" panose="020B0604020202090204"/>
                <a:ea typeface="Arial" panose="020B0604020202090204"/>
                <a:cs typeface="Arial" panose="020B0604020202090204"/>
              </a:defRPr>
            </a:lvl6pPr>
            <a:lvl7pPr algn="ctr">
              <a:defRPr sz="1125" b="1">
                <a:solidFill>
                  <a:srgbClr val="FFFFFF"/>
                </a:solidFill>
                <a:latin typeface="Arial" panose="020B0604020202090204"/>
                <a:ea typeface="Arial" panose="020B0604020202090204"/>
                <a:cs typeface="Arial" panose="020B0604020202090204"/>
              </a:defRPr>
            </a:lvl7pPr>
            <a:lvl8pPr algn="ctr">
              <a:defRPr sz="1125" b="1">
                <a:solidFill>
                  <a:srgbClr val="FFFFFF"/>
                </a:solidFill>
                <a:latin typeface="Arial" panose="020B0604020202090204"/>
                <a:ea typeface="Arial" panose="020B0604020202090204"/>
                <a:cs typeface="Arial" panose="020B0604020202090204"/>
              </a:defRPr>
            </a:lvl8pPr>
            <a:lvl9pPr algn="ctr">
              <a:defRPr sz="1125" b="1">
                <a:solidFill>
                  <a:srgbClr val="FFFFFF"/>
                </a:solidFill>
                <a:latin typeface="Arial" panose="020B0604020202090204"/>
                <a:ea typeface="Arial" panose="020B0604020202090204"/>
                <a:cs typeface="Arial" panose="020B0604020202090204"/>
              </a:defRPr>
            </a:lvl9pPr>
          </a:lstStyle>
          <a:p>
            <a:pPr algn="ctr">
              <a:lnSpc>
                <a:spcPct val="102000"/>
              </a:lnSpc>
              <a:buNone/>
              <a:defRPr sz="1125" b="1">
                <a:solidFill>
                  <a:srgbClr val="FFFFFF"/>
                </a:solidFill>
                <a:latin typeface="Arial" panose="020B0604020202090204"/>
                <a:ea typeface="Arial" panose="020B0604020202090204"/>
                <a:cs typeface="Arial" panose="020B0604020202090204"/>
              </a:defRPr>
            </a:pPr>
            <a:r>
              <a:rPr sz="1125" b="1">
                <a:solidFill>
                  <a:srgbClr val="FFFFFF"/>
                </a:solidFill>
                <a:latin typeface="Arial" panose="020B0604020202090204"/>
                <a:ea typeface="Arial" panose="020B0604020202090204"/>
                <a:cs typeface="Arial" panose="020B0604020202090204"/>
              </a:rPr>
              <a:t>2  Multiscale dynamics</a:t>
            </a:r>
            <a:endParaRPr sz="1125" b="1">
              <a:solidFill>
                <a:srgbClr val="FFFFFF"/>
              </a:solidFill>
              <a:latin typeface="Arial" panose="020B0604020202090204"/>
              <a:ea typeface="Arial" panose="020B0604020202090204"/>
              <a:cs typeface="Arial" panose="020B0604020202090204"/>
            </a:endParaRPr>
          </a:p>
        </p:txBody>
      </p:sp>
      <p:sp>
        <p:nvSpPr>
          <p:cNvPr id="7" name="圆角矩形 6"/>
          <p:cNvSpPr>
            <a:spLocks noGrp="1"/>
          </p:cNvSpPr>
          <p:nvPr/>
        </p:nvSpPr>
        <p:spPr>
          <a:xfrm>
            <a:off x="7191375" y="5810250"/>
            <a:ext cx="1714500" cy="323850"/>
          </a:xfrm>
          <a:prstGeom prst="roundRect">
            <a:avLst>
              <a:gd name="adj" fmla="val 14706"/>
            </a:avLst>
          </a:prstGeom>
          <a:solidFill>
            <a:srgbClr val="C99B27"/>
          </a:solidFill>
          <a:ln w="0">
            <a:noFill/>
            <a:prstDash val="solid"/>
          </a:ln>
        </p:spPr>
        <p:txBody>
          <a:bodyPr wrap="square" lIns="47625" tIns="47625" rIns="47625" bIns="47625" anchor="ctr">
            <a:normAutofit/>
          </a:bodyPr>
          <a:lstStyle>
            <a:defPPr algn="ctr">
              <a:defRPr sz="1125" b="1">
                <a:solidFill>
                  <a:srgbClr val="FFFFFF"/>
                </a:solidFill>
                <a:latin typeface="Arial" panose="020B0604020202090204"/>
                <a:ea typeface="Arial" panose="020B0604020202090204"/>
                <a:cs typeface="Arial" panose="020B0604020202090204"/>
              </a:defRPr>
            </a:defPPr>
            <a:lvl1pPr algn="ctr">
              <a:defRPr sz="1125" b="1">
                <a:solidFill>
                  <a:srgbClr val="FFFFFF"/>
                </a:solidFill>
                <a:latin typeface="Arial" panose="020B0604020202090204"/>
                <a:ea typeface="Arial" panose="020B0604020202090204"/>
                <a:cs typeface="Arial" panose="020B0604020202090204"/>
              </a:defRPr>
            </a:lvl1pPr>
            <a:lvl2pPr algn="ctr">
              <a:defRPr sz="1125" b="1">
                <a:solidFill>
                  <a:srgbClr val="FFFFFF"/>
                </a:solidFill>
                <a:latin typeface="Arial" panose="020B0604020202090204"/>
                <a:ea typeface="Arial" panose="020B0604020202090204"/>
                <a:cs typeface="Arial" panose="020B0604020202090204"/>
              </a:defRPr>
            </a:lvl2pPr>
            <a:lvl3pPr algn="ctr">
              <a:defRPr sz="1125" b="1">
                <a:solidFill>
                  <a:srgbClr val="FFFFFF"/>
                </a:solidFill>
                <a:latin typeface="Arial" panose="020B0604020202090204"/>
                <a:ea typeface="Arial" panose="020B0604020202090204"/>
                <a:cs typeface="Arial" panose="020B0604020202090204"/>
              </a:defRPr>
            </a:lvl3pPr>
            <a:lvl4pPr algn="ctr">
              <a:defRPr sz="1125" b="1">
                <a:solidFill>
                  <a:srgbClr val="FFFFFF"/>
                </a:solidFill>
                <a:latin typeface="Arial" panose="020B0604020202090204"/>
                <a:ea typeface="Arial" panose="020B0604020202090204"/>
                <a:cs typeface="Arial" panose="020B0604020202090204"/>
              </a:defRPr>
            </a:lvl4pPr>
            <a:lvl5pPr algn="ctr">
              <a:defRPr sz="1125" b="1">
                <a:solidFill>
                  <a:srgbClr val="FFFFFF"/>
                </a:solidFill>
                <a:latin typeface="Arial" panose="020B0604020202090204"/>
                <a:ea typeface="Arial" panose="020B0604020202090204"/>
                <a:cs typeface="Arial" panose="020B0604020202090204"/>
              </a:defRPr>
            </a:lvl5pPr>
            <a:lvl6pPr algn="ctr">
              <a:defRPr sz="1125" b="1">
                <a:solidFill>
                  <a:srgbClr val="FFFFFF"/>
                </a:solidFill>
                <a:latin typeface="Arial" panose="020B0604020202090204"/>
                <a:ea typeface="Arial" panose="020B0604020202090204"/>
                <a:cs typeface="Arial" panose="020B0604020202090204"/>
              </a:defRPr>
            </a:lvl6pPr>
            <a:lvl7pPr algn="ctr">
              <a:defRPr sz="1125" b="1">
                <a:solidFill>
                  <a:srgbClr val="FFFFFF"/>
                </a:solidFill>
                <a:latin typeface="Arial" panose="020B0604020202090204"/>
                <a:ea typeface="Arial" panose="020B0604020202090204"/>
                <a:cs typeface="Arial" panose="020B0604020202090204"/>
              </a:defRPr>
            </a:lvl7pPr>
            <a:lvl8pPr algn="ctr">
              <a:defRPr sz="1125" b="1">
                <a:solidFill>
                  <a:srgbClr val="FFFFFF"/>
                </a:solidFill>
                <a:latin typeface="Arial" panose="020B0604020202090204"/>
                <a:ea typeface="Arial" panose="020B0604020202090204"/>
                <a:cs typeface="Arial" panose="020B0604020202090204"/>
              </a:defRPr>
            </a:lvl8pPr>
            <a:lvl9pPr algn="ctr">
              <a:defRPr sz="1125" b="1">
                <a:solidFill>
                  <a:srgbClr val="FFFFFF"/>
                </a:solidFill>
                <a:latin typeface="Arial" panose="020B0604020202090204"/>
                <a:ea typeface="Arial" panose="020B0604020202090204"/>
                <a:cs typeface="Arial" panose="020B0604020202090204"/>
              </a:defRPr>
            </a:lvl9pPr>
          </a:lstStyle>
          <a:p>
            <a:pPr algn="ctr">
              <a:lnSpc>
                <a:spcPct val="102000"/>
              </a:lnSpc>
              <a:buNone/>
              <a:defRPr sz="1125" b="1">
                <a:solidFill>
                  <a:srgbClr val="FFFFFF"/>
                </a:solidFill>
                <a:latin typeface="Arial" panose="020B0604020202090204"/>
                <a:ea typeface="Arial" panose="020B0604020202090204"/>
                <a:cs typeface="Arial" panose="020B0604020202090204"/>
              </a:defRPr>
            </a:pPr>
            <a:r>
              <a:rPr sz="1125" b="1">
                <a:solidFill>
                  <a:srgbClr val="FFFFFF"/>
                </a:solidFill>
                <a:latin typeface="Arial" panose="020B0604020202090204"/>
                <a:ea typeface="Arial" panose="020B0604020202090204"/>
                <a:cs typeface="Arial" panose="020B0604020202090204"/>
              </a:rPr>
              <a:t>3  Likelihood fusion</a:t>
            </a:r>
            <a:endParaRPr sz="1125" b="1">
              <a:solidFill>
                <a:srgbClr val="FFFFFF"/>
              </a:solidFill>
              <a:latin typeface="Arial" panose="020B0604020202090204"/>
              <a:ea typeface="Arial" panose="020B0604020202090204"/>
              <a:cs typeface="Arial" panose="020B0604020202090204"/>
            </a:endParaRPr>
          </a:p>
        </p:txBody>
      </p:sp>
      <p:sp>
        <p:nvSpPr>
          <p:cNvPr id="8" name="圆角矩形 7"/>
          <p:cNvSpPr>
            <a:spLocks noGrp="1"/>
          </p:cNvSpPr>
          <p:nvPr/>
        </p:nvSpPr>
        <p:spPr>
          <a:xfrm>
            <a:off x="9858375" y="5810250"/>
            <a:ext cx="1714500" cy="323850"/>
          </a:xfrm>
          <a:prstGeom prst="roundRect">
            <a:avLst>
              <a:gd name="adj" fmla="val 14706"/>
            </a:avLst>
          </a:prstGeom>
          <a:solidFill>
            <a:srgbClr val="E7684A"/>
          </a:solidFill>
          <a:ln w="0">
            <a:noFill/>
            <a:prstDash val="solid"/>
          </a:ln>
        </p:spPr>
        <p:txBody>
          <a:bodyPr wrap="square" lIns="47625" tIns="47625" rIns="47625" bIns="47625" anchor="ctr">
            <a:normAutofit/>
          </a:bodyPr>
          <a:lstStyle>
            <a:defPPr algn="ctr">
              <a:defRPr sz="1125" b="1">
                <a:solidFill>
                  <a:srgbClr val="FFFFFF"/>
                </a:solidFill>
                <a:latin typeface="Arial" panose="020B0604020202090204"/>
                <a:ea typeface="Arial" panose="020B0604020202090204"/>
                <a:cs typeface="Arial" panose="020B0604020202090204"/>
              </a:defRPr>
            </a:defPPr>
            <a:lvl1pPr algn="ctr">
              <a:defRPr sz="1125" b="1">
                <a:solidFill>
                  <a:srgbClr val="FFFFFF"/>
                </a:solidFill>
                <a:latin typeface="Arial" panose="020B0604020202090204"/>
                <a:ea typeface="Arial" panose="020B0604020202090204"/>
                <a:cs typeface="Arial" panose="020B0604020202090204"/>
              </a:defRPr>
            </a:lvl1pPr>
            <a:lvl2pPr algn="ctr">
              <a:defRPr sz="1125" b="1">
                <a:solidFill>
                  <a:srgbClr val="FFFFFF"/>
                </a:solidFill>
                <a:latin typeface="Arial" panose="020B0604020202090204"/>
                <a:ea typeface="Arial" panose="020B0604020202090204"/>
                <a:cs typeface="Arial" panose="020B0604020202090204"/>
              </a:defRPr>
            </a:lvl2pPr>
            <a:lvl3pPr algn="ctr">
              <a:defRPr sz="1125" b="1">
                <a:solidFill>
                  <a:srgbClr val="FFFFFF"/>
                </a:solidFill>
                <a:latin typeface="Arial" panose="020B0604020202090204"/>
                <a:ea typeface="Arial" panose="020B0604020202090204"/>
                <a:cs typeface="Arial" panose="020B0604020202090204"/>
              </a:defRPr>
            </a:lvl3pPr>
            <a:lvl4pPr algn="ctr">
              <a:defRPr sz="1125" b="1">
                <a:solidFill>
                  <a:srgbClr val="FFFFFF"/>
                </a:solidFill>
                <a:latin typeface="Arial" panose="020B0604020202090204"/>
                <a:ea typeface="Arial" panose="020B0604020202090204"/>
                <a:cs typeface="Arial" panose="020B0604020202090204"/>
              </a:defRPr>
            </a:lvl4pPr>
            <a:lvl5pPr algn="ctr">
              <a:defRPr sz="1125" b="1">
                <a:solidFill>
                  <a:srgbClr val="FFFFFF"/>
                </a:solidFill>
                <a:latin typeface="Arial" panose="020B0604020202090204"/>
                <a:ea typeface="Arial" panose="020B0604020202090204"/>
                <a:cs typeface="Arial" panose="020B0604020202090204"/>
              </a:defRPr>
            </a:lvl5pPr>
            <a:lvl6pPr algn="ctr">
              <a:defRPr sz="1125" b="1">
                <a:solidFill>
                  <a:srgbClr val="FFFFFF"/>
                </a:solidFill>
                <a:latin typeface="Arial" panose="020B0604020202090204"/>
                <a:ea typeface="Arial" panose="020B0604020202090204"/>
                <a:cs typeface="Arial" panose="020B0604020202090204"/>
              </a:defRPr>
            </a:lvl6pPr>
            <a:lvl7pPr algn="ctr">
              <a:defRPr sz="1125" b="1">
                <a:solidFill>
                  <a:srgbClr val="FFFFFF"/>
                </a:solidFill>
                <a:latin typeface="Arial" panose="020B0604020202090204"/>
                <a:ea typeface="Arial" panose="020B0604020202090204"/>
                <a:cs typeface="Arial" panose="020B0604020202090204"/>
              </a:defRPr>
            </a:lvl7pPr>
            <a:lvl8pPr algn="ctr">
              <a:defRPr sz="1125" b="1">
                <a:solidFill>
                  <a:srgbClr val="FFFFFF"/>
                </a:solidFill>
                <a:latin typeface="Arial" panose="020B0604020202090204"/>
                <a:ea typeface="Arial" panose="020B0604020202090204"/>
                <a:cs typeface="Arial" panose="020B0604020202090204"/>
              </a:defRPr>
            </a:lvl8pPr>
            <a:lvl9pPr algn="ctr">
              <a:defRPr sz="1125" b="1">
                <a:solidFill>
                  <a:srgbClr val="FFFFFF"/>
                </a:solidFill>
                <a:latin typeface="Arial" panose="020B0604020202090204"/>
                <a:ea typeface="Arial" panose="020B0604020202090204"/>
                <a:cs typeface="Arial" panose="020B0604020202090204"/>
              </a:defRPr>
            </a:lvl9pPr>
          </a:lstStyle>
          <a:p>
            <a:pPr algn="ctr">
              <a:lnSpc>
                <a:spcPct val="102000"/>
              </a:lnSpc>
              <a:buNone/>
              <a:defRPr sz="1125" b="1">
                <a:solidFill>
                  <a:srgbClr val="FFFFFF"/>
                </a:solidFill>
                <a:latin typeface="Arial" panose="020B0604020202090204"/>
                <a:ea typeface="Arial" panose="020B0604020202090204"/>
                <a:cs typeface="Arial" panose="020B0604020202090204"/>
              </a:defRPr>
            </a:pPr>
            <a:r>
              <a:rPr sz="1125" b="1">
                <a:solidFill>
                  <a:srgbClr val="FFFFFF"/>
                </a:solidFill>
                <a:latin typeface="Arial" panose="020B0604020202090204"/>
                <a:ea typeface="Arial" panose="020B0604020202090204"/>
                <a:cs typeface="Arial" panose="020B0604020202090204"/>
              </a:rPr>
              <a:t>4  Decision</a:t>
            </a:r>
            <a:endParaRPr sz="1125" b="1">
              <a:solidFill>
                <a:srgbClr val="FFFFFF"/>
              </a:solidFill>
              <a:latin typeface="Arial" panose="020B0604020202090204"/>
              <a:ea typeface="Arial" panose="020B0604020202090204"/>
              <a:cs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23" name="矩形 22"/>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Local similarity and diversity entropy</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a:t>
            </a:r>
            <a:r>
              <a:rPr lang="en-US" sz="1125" b="1">
                <a:solidFill>
                  <a:srgbClr val="637279"/>
                </a:solidFill>
                <a:latin typeface="Arial" panose="020B0604020202090204"/>
                <a:ea typeface="Arial" panose="020B0604020202090204"/>
                <a:cs typeface="Arial" panose="020B0604020202090204"/>
              </a:rPr>
              <a:t>7</a:t>
            </a:r>
            <a:endParaRPr lang="en-US" sz="1125" b="1">
              <a:solidFill>
                <a:srgbClr val="637279"/>
              </a:solidFill>
              <a:latin typeface="Arial" panose="020B0604020202090204"/>
              <a:ea typeface="Arial" panose="020B0604020202090204"/>
              <a:cs typeface="Arial" panose="020B0604020202090204"/>
            </a:endParaRPr>
          </a:p>
        </p:txBody>
      </p:sp>
      <p:sp>
        <p:nvSpPr>
          <p:cNvPr id="4" name="圆角矩形 3"/>
          <p:cNvSpPr>
            <a:spLocks noGrp="1"/>
          </p:cNvSpPr>
          <p:nvPr/>
        </p:nvSpPr>
        <p:spPr>
          <a:xfrm>
            <a:off x="590550" y="2390775"/>
            <a:ext cx="476250" cy="476250"/>
          </a:xfrm>
          <a:prstGeom prst="roundRect">
            <a:avLst>
              <a:gd name="adj" fmla="val 50000"/>
            </a:avLst>
          </a:prstGeom>
          <a:solidFill>
            <a:srgbClr val="147A78"/>
          </a:solidFill>
          <a:ln w="0">
            <a:noFill/>
            <a:prstDash val="solid"/>
          </a:ln>
        </p:spPr>
        <p:txBody>
          <a:bodyPr wrap="square" lIns="0" tIns="0" rIns="0" bIns="0" anchor="ctr">
            <a:normAutofit/>
          </a:bodyPr>
          <a:lstStyle>
            <a:defPPr algn="ctr">
              <a:defRPr sz="1725" b="1">
                <a:solidFill>
                  <a:srgbClr val="FFFFFF"/>
                </a:solidFill>
                <a:latin typeface="Arial" panose="020B0604020202090204"/>
                <a:ea typeface="Arial" panose="020B0604020202090204"/>
                <a:cs typeface="Arial" panose="020B0604020202090204"/>
              </a:defRPr>
            </a:defPPr>
            <a:lvl1pPr algn="ctr">
              <a:defRPr sz="1725" b="1">
                <a:solidFill>
                  <a:srgbClr val="FFFFFF"/>
                </a:solidFill>
                <a:latin typeface="Arial" panose="020B0604020202090204"/>
                <a:ea typeface="Arial" panose="020B0604020202090204"/>
                <a:cs typeface="Arial" panose="020B0604020202090204"/>
              </a:defRPr>
            </a:lvl1pPr>
            <a:lvl2pPr algn="ctr">
              <a:defRPr sz="1725" b="1">
                <a:solidFill>
                  <a:srgbClr val="FFFFFF"/>
                </a:solidFill>
                <a:latin typeface="Arial" panose="020B0604020202090204"/>
                <a:ea typeface="Arial" panose="020B0604020202090204"/>
                <a:cs typeface="Arial" panose="020B0604020202090204"/>
              </a:defRPr>
            </a:lvl2pPr>
            <a:lvl3pPr algn="ctr">
              <a:defRPr sz="1725" b="1">
                <a:solidFill>
                  <a:srgbClr val="FFFFFF"/>
                </a:solidFill>
                <a:latin typeface="Arial" panose="020B0604020202090204"/>
                <a:ea typeface="Arial" panose="020B0604020202090204"/>
                <a:cs typeface="Arial" panose="020B0604020202090204"/>
              </a:defRPr>
            </a:lvl3pPr>
            <a:lvl4pPr algn="ctr">
              <a:defRPr sz="1725" b="1">
                <a:solidFill>
                  <a:srgbClr val="FFFFFF"/>
                </a:solidFill>
                <a:latin typeface="Arial" panose="020B0604020202090204"/>
                <a:ea typeface="Arial" panose="020B0604020202090204"/>
                <a:cs typeface="Arial" panose="020B0604020202090204"/>
              </a:defRPr>
            </a:lvl4pPr>
            <a:lvl5pPr algn="ctr">
              <a:defRPr sz="1725" b="1">
                <a:solidFill>
                  <a:srgbClr val="FFFFFF"/>
                </a:solidFill>
                <a:latin typeface="Arial" panose="020B0604020202090204"/>
                <a:ea typeface="Arial" panose="020B0604020202090204"/>
                <a:cs typeface="Arial" panose="020B0604020202090204"/>
              </a:defRPr>
            </a:lvl5pPr>
            <a:lvl6pPr algn="ctr">
              <a:defRPr sz="1725" b="1">
                <a:solidFill>
                  <a:srgbClr val="FFFFFF"/>
                </a:solidFill>
                <a:latin typeface="Arial" panose="020B0604020202090204"/>
                <a:ea typeface="Arial" panose="020B0604020202090204"/>
                <a:cs typeface="Arial" panose="020B0604020202090204"/>
              </a:defRPr>
            </a:lvl6pPr>
            <a:lvl7pPr algn="ctr">
              <a:defRPr sz="1725" b="1">
                <a:solidFill>
                  <a:srgbClr val="FFFFFF"/>
                </a:solidFill>
                <a:latin typeface="Arial" panose="020B0604020202090204"/>
                <a:ea typeface="Arial" panose="020B0604020202090204"/>
                <a:cs typeface="Arial" panose="020B0604020202090204"/>
              </a:defRPr>
            </a:lvl7pPr>
            <a:lvl8pPr algn="ctr">
              <a:defRPr sz="1725" b="1">
                <a:solidFill>
                  <a:srgbClr val="FFFFFF"/>
                </a:solidFill>
                <a:latin typeface="Arial" panose="020B0604020202090204"/>
                <a:ea typeface="Arial" panose="020B0604020202090204"/>
                <a:cs typeface="Arial" panose="020B0604020202090204"/>
              </a:defRPr>
            </a:lvl8pPr>
            <a:lvl9pPr algn="ctr">
              <a:defRPr sz="1725" b="1">
                <a:solidFill>
                  <a:srgbClr val="FFFFFF"/>
                </a:solidFill>
                <a:latin typeface="Arial" panose="020B0604020202090204"/>
                <a:ea typeface="Arial" panose="020B0604020202090204"/>
                <a:cs typeface="Arial" panose="020B0604020202090204"/>
              </a:defRPr>
            </a:lvl9pPr>
          </a:lstStyle>
          <a:p>
            <a:pPr algn="ctr">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1</a:t>
            </a:r>
            <a:endParaRPr sz="1725" b="1">
              <a:solidFill>
                <a:srgbClr val="FFFFFF"/>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90550" y="3086100"/>
            <a:ext cx="2333625" cy="381000"/>
          </a:xfrm>
          <a:prstGeom prst="rect">
            <a:avLst/>
          </a:prstGeom>
          <a:noFill/>
          <a:ln w="0">
            <a:noFill/>
            <a:prstDash val="solid"/>
          </a:ln>
        </p:spPr>
        <p:txBody>
          <a:bodyPr wrap="square" lIns="0" tIns="0" rIns="0" bIns="0" anchor="t">
            <a:normAutofit/>
          </a:bodyPr>
          <a:lstStyle>
            <a:defPPr algn="ctr">
              <a:defRPr sz="1575" b="1">
                <a:solidFill>
                  <a:srgbClr val="182226"/>
                </a:solidFill>
                <a:latin typeface="Arial" panose="020B0604020202090204"/>
                <a:ea typeface="Arial" panose="020B0604020202090204"/>
                <a:cs typeface="Arial" panose="020B0604020202090204"/>
              </a:defRPr>
            </a:defPPr>
            <a:lvl1pPr algn="ctr">
              <a:defRPr sz="1575" b="1">
                <a:solidFill>
                  <a:srgbClr val="182226"/>
                </a:solidFill>
                <a:latin typeface="Arial" panose="020B0604020202090204"/>
                <a:ea typeface="Arial" panose="020B0604020202090204"/>
                <a:cs typeface="Arial" panose="020B0604020202090204"/>
              </a:defRPr>
            </a:lvl1pPr>
            <a:lvl2pPr algn="ctr">
              <a:defRPr sz="1575" b="1">
                <a:solidFill>
                  <a:srgbClr val="182226"/>
                </a:solidFill>
                <a:latin typeface="Arial" panose="020B0604020202090204"/>
                <a:ea typeface="Arial" panose="020B0604020202090204"/>
                <a:cs typeface="Arial" panose="020B0604020202090204"/>
              </a:defRPr>
            </a:lvl2pPr>
            <a:lvl3pPr algn="ctr">
              <a:defRPr sz="1575" b="1">
                <a:solidFill>
                  <a:srgbClr val="182226"/>
                </a:solidFill>
                <a:latin typeface="Arial" panose="020B0604020202090204"/>
                <a:ea typeface="Arial" panose="020B0604020202090204"/>
                <a:cs typeface="Arial" panose="020B0604020202090204"/>
              </a:defRPr>
            </a:lvl3pPr>
            <a:lvl4pPr algn="ctr">
              <a:defRPr sz="1575" b="1">
                <a:solidFill>
                  <a:srgbClr val="182226"/>
                </a:solidFill>
                <a:latin typeface="Arial" panose="020B0604020202090204"/>
                <a:ea typeface="Arial" panose="020B0604020202090204"/>
                <a:cs typeface="Arial" panose="020B0604020202090204"/>
              </a:defRPr>
            </a:lvl4pPr>
            <a:lvl5pPr algn="ctr">
              <a:defRPr sz="1575" b="1">
                <a:solidFill>
                  <a:srgbClr val="182226"/>
                </a:solidFill>
                <a:latin typeface="Arial" panose="020B0604020202090204"/>
                <a:ea typeface="Arial" panose="020B0604020202090204"/>
                <a:cs typeface="Arial" panose="020B0604020202090204"/>
              </a:defRPr>
            </a:lvl5pPr>
            <a:lvl6pPr algn="ctr">
              <a:defRPr sz="1575" b="1">
                <a:solidFill>
                  <a:srgbClr val="182226"/>
                </a:solidFill>
                <a:latin typeface="Arial" panose="020B0604020202090204"/>
                <a:ea typeface="Arial" panose="020B0604020202090204"/>
                <a:cs typeface="Arial" panose="020B0604020202090204"/>
              </a:defRPr>
            </a:lvl6pPr>
            <a:lvl7pPr algn="ctr">
              <a:defRPr sz="1575" b="1">
                <a:solidFill>
                  <a:srgbClr val="182226"/>
                </a:solidFill>
                <a:latin typeface="Arial" panose="020B0604020202090204"/>
                <a:ea typeface="Arial" panose="020B0604020202090204"/>
                <a:cs typeface="Arial" panose="020B0604020202090204"/>
              </a:defRPr>
            </a:lvl7pPr>
            <a:lvl8pPr algn="ctr">
              <a:defRPr sz="1575" b="1">
                <a:solidFill>
                  <a:srgbClr val="182226"/>
                </a:solidFill>
                <a:latin typeface="Arial" panose="020B0604020202090204"/>
                <a:ea typeface="Arial" panose="020B0604020202090204"/>
                <a:cs typeface="Arial" panose="020B0604020202090204"/>
              </a:defRPr>
            </a:lvl8pPr>
            <a:lvl9pPr algn="ctr">
              <a:defRPr sz="1575" b="1">
                <a:solidFill>
                  <a:srgbClr val="182226"/>
                </a:solidFill>
                <a:latin typeface="Arial" panose="020B0604020202090204"/>
                <a:ea typeface="Arial" panose="020B0604020202090204"/>
                <a:cs typeface="Arial" panose="020B0604020202090204"/>
              </a:defRPr>
            </a:lvl9pPr>
          </a:lstStyle>
          <a:p>
            <a:pPr algn="ctr">
              <a:lnSpc>
                <a:spcPct val="102000"/>
              </a:lnSpc>
              <a:buNone/>
              <a:defRPr sz="1575" b="1">
                <a:solidFill>
                  <a:srgbClr val="182226"/>
                </a:solidFill>
                <a:latin typeface="Arial" panose="020B0604020202090204"/>
                <a:ea typeface="Arial" panose="020B0604020202090204"/>
                <a:cs typeface="Arial" panose="020B0604020202090204"/>
              </a:defRPr>
            </a:pPr>
            <a:r>
              <a:rPr sz="1575" b="1">
                <a:solidFill>
                  <a:srgbClr val="182226"/>
                </a:solidFill>
                <a:latin typeface="Arial" panose="020B0604020202090204"/>
                <a:ea typeface="Arial" panose="020B0604020202090204"/>
                <a:cs typeface="Arial" panose="020B0604020202090204"/>
              </a:rPr>
              <a:t>Sliding windows</a:t>
            </a:r>
            <a:endParaRPr sz="1575" b="1">
              <a:solidFill>
                <a:srgbClr val="182226"/>
              </a:solidFill>
              <a:latin typeface="Arial" panose="020B0604020202090204"/>
              <a:ea typeface="Arial" panose="020B0604020202090204"/>
              <a:cs typeface="Arial" panose="020B0604020202090204"/>
            </a:endParaRPr>
          </a:p>
        </p:txBody>
      </p:sp>
      <p:sp>
        <p:nvSpPr>
          <p:cNvPr id="6" name="矩形 5"/>
          <p:cNvSpPr>
            <a:spLocks noGrp="1"/>
          </p:cNvSpPr>
          <p:nvPr/>
        </p:nvSpPr>
        <p:spPr>
          <a:xfrm>
            <a:off x="590550" y="3609975"/>
            <a:ext cx="2333625" cy="59055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Create overlapping local vectors</a:t>
            </a:r>
            <a:endParaRPr sz="1275" b="0">
              <a:solidFill>
                <a:srgbClr val="637279"/>
              </a:solidFill>
              <a:latin typeface="Arial" panose="020B0604020202090204"/>
              <a:ea typeface="Arial" panose="020B0604020202090204"/>
              <a:cs typeface="Arial" panose="020B0604020202090204"/>
            </a:endParaRPr>
          </a:p>
        </p:txBody>
      </p:sp>
      <p:sp>
        <p:nvSpPr>
          <p:cNvPr id="7" name="直接连接符 6"/>
          <p:cNvSpPr>
            <a:spLocks noGrp="1"/>
          </p:cNvSpPr>
          <p:nvPr/>
        </p:nvSpPr>
        <p:spPr>
          <a:xfrm>
            <a:off x="2933700" y="2628900"/>
            <a:ext cx="428625" cy="0"/>
          </a:xfrm>
          <a:prstGeom prst="line">
            <a:avLst/>
          </a:prstGeom>
          <a:noFill/>
          <a:ln w="19050">
            <a:solidFill>
              <a:srgbClr val="637279"/>
            </a:solidFill>
            <a:prstDash val="solid"/>
          </a:ln>
        </p:spPr>
      </p:sp>
      <p:sp>
        <p:nvSpPr>
          <p:cNvPr id="8" name="圆角矩形 7"/>
          <p:cNvSpPr>
            <a:spLocks noGrp="1"/>
          </p:cNvSpPr>
          <p:nvPr/>
        </p:nvSpPr>
        <p:spPr>
          <a:xfrm>
            <a:off x="3467100" y="2390775"/>
            <a:ext cx="476250" cy="476250"/>
          </a:xfrm>
          <a:prstGeom prst="roundRect">
            <a:avLst>
              <a:gd name="adj" fmla="val 50000"/>
            </a:avLst>
          </a:prstGeom>
          <a:solidFill>
            <a:srgbClr val="E7684A"/>
          </a:solidFill>
          <a:ln w="0">
            <a:noFill/>
            <a:prstDash val="solid"/>
          </a:ln>
        </p:spPr>
        <p:txBody>
          <a:bodyPr wrap="square" lIns="0" tIns="0" rIns="0" bIns="0" anchor="ctr">
            <a:normAutofit/>
          </a:bodyPr>
          <a:lstStyle>
            <a:defPPr algn="ctr">
              <a:defRPr sz="1725" b="1">
                <a:solidFill>
                  <a:srgbClr val="FFFFFF"/>
                </a:solidFill>
                <a:latin typeface="Arial" panose="020B0604020202090204"/>
                <a:ea typeface="Arial" panose="020B0604020202090204"/>
                <a:cs typeface="Arial" panose="020B0604020202090204"/>
              </a:defRPr>
            </a:defPPr>
            <a:lvl1pPr algn="ctr">
              <a:defRPr sz="1725" b="1">
                <a:solidFill>
                  <a:srgbClr val="FFFFFF"/>
                </a:solidFill>
                <a:latin typeface="Arial" panose="020B0604020202090204"/>
                <a:ea typeface="Arial" panose="020B0604020202090204"/>
                <a:cs typeface="Arial" panose="020B0604020202090204"/>
              </a:defRPr>
            </a:lvl1pPr>
            <a:lvl2pPr algn="ctr">
              <a:defRPr sz="1725" b="1">
                <a:solidFill>
                  <a:srgbClr val="FFFFFF"/>
                </a:solidFill>
                <a:latin typeface="Arial" panose="020B0604020202090204"/>
                <a:ea typeface="Arial" panose="020B0604020202090204"/>
                <a:cs typeface="Arial" panose="020B0604020202090204"/>
              </a:defRPr>
            </a:lvl2pPr>
            <a:lvl3pPr algn="ctr">
              <a:defRPr sz="1725" b="1">
                <a:solidFill>
                  <a:srgbClr val="FFFFFF"/>
                </a:solidFill>
                <a:latin typeface="Arial" panose="020B0604020202090204"/>
                <a:ea typeface="Arial" panose="020B0604020202090204"/>
                <a:cs typeface="Arial" panose="020B0604020202090204"/>
              </a:defRPr>
            </a:lvl3pPr>
            <a:lvl4pPr algn="ctr">
              <a:defRPr sz="1725" b="1">
                <a:solidFill>
                  <a:srgbClr val="FFFFFF"/>
                </a:solidFill>
                <a:latin typeface="Arial" panose="020B0604020202090204"/>
                <a:ea typeface="Arial" panose="020B0604020202090204"/>
                <a:cs typeface="Arial" panose="020B0604020202090204"/>
              </a:defRPr>
            </a:lvl4pPr>
            <a:lvl5pPr algn="ctr">
              <a:defRPr sz="1725" b="1">
                <a:solidFill>
                  <a:srgbClr val="FFFFFF"/>
                </a:solidFill>
                <a:latin typeface="Arial" panose="020B0604020202090204"/>
                <a:ea typeface="Arial" panose="020B0604020202090204"/>
                <a:cs typeface="Arial" panose="020B0604020202090204"/>
              </a:defRPr>
            </a:lvl5pPr>
            <a:lvl6pPr algn="ctr">
              <a:defRPr sz="1725" b="1">
                <a:solidFill>
                  <a:srgbClr val="FFFFFF"/>
                </a:solidFill>
                <a:latin typeface="Arial" panose="020B0604020202090204"/>
                <a:ea typeface="Arial" panose="020B0604020202090204"/>
                <a:cs typeface="Arial" panose="020B0604020202090204"/>
              </a:defRPr>
            </a:lvl6pPr>
            <a:lvl7pPr algn="ctr">
              <a:defRPr sz="1725" b="1">
                <a:solidFill>
                  <a:srgbClr val="FFFFFF"/>
                </a:solidFill>
                <a:latin typeface="Arial" panose="020B0604020202090204"/>
                <a:ea typeface="Arial" panose="020B0604020202090204"/>
                <a:cs typeface="Arial" panose="020B0604020202090204"/>
              </a:defRPr>
            </a:lvl7pPr>
            <a:lvl8pPr algn="ctr">
              <a:defRPr sz="1725" b="1">
                <a:solidFill>
                  <a:srgbClr val="FFFFFF"/>
                </a:solidFill>
                <a:latin typeface="Arial" panose="020B0604020202090204"/>
                <a:ea typeface="Arial" panose="020B0604020202090204"/>
                <a:cs typeface="Arial" panose="020B0604020202090204"/>
              </a:defRPr>
            </a:lvl8pPr>
            <a:lvl9pPr algn="ctr">
              <a:defRPr sz="1725" b="1">
                <a:solidFill>
                  <a:srgbClr val="FFFFFF"/>
                </a:solidFill>
                <a:latin typeface="Arial" panose="020B0604020202090204"/>
                <a:ea typeface="Arial" panose="020B0604020202090204"/>
                <a:cs typeface="Arial" panose="020B0604020202090204"/>
              </a:defRPr>
            </a:lvl9pPr>
          </a:lstStyle>
          <a:p>
            <a:pPr algn="ctr">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2</a:t>
            </a:r>
            <a:endParaRPr sz="1725" b="1">
              <a:solidFill>
                <a:srgbClr val="FFFFFF"/>
              </a:solidFill>
              <a:latin typeface="Arial" panose="020B0604020202090204"/>
              <a:ea typeface="Arial" panose="020B0604020202090204"/>
              <a:cs typeface="Arial" panose="020B0604020202090204"/>
            </a:endParaRPr>
          </a:p>
        </p:txBody>
      </p:sp>
      <p:sp>
        <p:nvSpPr>
          <p:cNvPr id="9" name="矩形 8"/>
          <p:cNvSpPr>
            <a:spLocks noGrp="1"/>
          </p:cNvSpPr>
          <p:nvPr/>
        </p:nvSpPr>
        <p:spPr>
          <a:xfrm>
            <a:off x="3467100" y="3086100"/>
            <a:ext cx="2333625" cy="381000"/>
          </a:xfrm>
          <a:prstGeom prst="rect">
            <a:avLst/>
          </a:prstGeom>
          <a:noFill/>
          <a:ln w="0">
            <a:noFill/>
            <a:prstDash val="solid"/>
          </a:ln>
        </p:spPr>
        <p:txBody>
          <a:bodyPr wrap="square" lIns="0" tIns="0" rIns="0" bIns="0" anchor="t">
            <a:normAutofit/>
          </a:bodyPr>
          <a:lstStyle>
            <a:defPPr algn="ctr">
              <a:defRPr sz="1575" b="1">
                <a:solidFill>
                  <a:srgbClr val="182226"/>
                </a:solidFill>
                <a:latin typeface="Arial" panose="020B0604020202090204"/>
                <a:ea typeface="Arial" panose="020B0604020202090204"/>
                <a:cs typeface="Arial" panose="020B0604020202090204"/>
              </a:defRPr>
            </a:defPPr>
            <a:lvl1pPr algn="ctr">
              <a:defRPr sz="1575" b="1">
                <a:solidFill>
                  <a:srgbClr val="182226"/>
                </a:solidFill>
                <a:latin typeface="Arial" panose="020B0604020202090204"/>
                <a:ea typeface="Arial" panose="020B0604020202090204"/>
                <a:cs typeface="Arial" panose="020B0604020202090204"/>
              </a:defRPr>
            </a:lvl1pPr>
            <a:lvl2pPr algn="ctr">
              <a:defRPr sz="1575" b="1">
                <a:solidFill>
                  <a:srgbClr val="182226"/>
                </a:solidFill>
                <a:latin typeface="Arial" panose="020B0604020202090204"/>
                <a:ea typeface="Arial" panose="020B0604020202090204"/>
                <a:cs typeface="Arial" panose="020B0604020202090204"/>
              </a:defRPr>
            </a:lvl2pPr>
            <a:lvl3pPr algn="ctr">
              <a:defRPr sz="1575" b="1">
                <a:solidFill>
                  <a:srgbClr val="182226"/>
                </a:solidFill>
                <a:latin typeface="Arial" panose="020B0604020202090204"/>
                <a:ea typeface="Arial" panose="020B0604020202090204"/>
                <a:cs typeface="Arial" panose="020B0604020202090204"/>
              </a:defRPr>
            </a:lvl3pPr>
            <a:lvl4pPr algn="ctr">
              <a:defRPr sz="1575" b="1">
                <a:solidFill>
                  <a:srgbClr val="182226"/>
                </a:solidFill>
                <a:latin typeface="Arial" panose="020B0604020202090204"/>
                <a:ea typeface="Arial" panose="020B0604020202090204"/>
                <a:cs typeface="Arial" panose="020B0604020202090204"/>
              </a:defRPr>
            </a:lvl4pPr>
            <a:lvl5pPr algn="ctr">
              <a:defRPr sz="1575" b="1">
                <a:solidFill>
                  <a:srgbClr val="182226"/>
                </a:solidFill>
                <a:latin typeface="Arial" panose="020B0604020202090204"/>
                <a:ea typeface="Arial" panose="020B0604020202090204"/>
                <a:cs typeface="Arial" panose="020B0604020202090204"/>
              </a:defRPr>
            </a:lvl5pPr>
            <a:lvl6pPr algn="ctr">
              <a:defRPr sz="1575" b="1">
                <a:solidFill>
                  <a:srgbClr val="182226"/>
                </a:solidFill>
                <a:latin typeface="Arial" panose="020B0604020202090204"/>
                <a:ea typeface="Arial" panose="020B0604020202090204"/>
                <a:cs typeface="Arial" panose="020B0604020202090204"/>
              </a:defRPr>
            </a:lvl6pPr>
            <a:lvl7pPr algn="ctr">
              <a:defRPr sz="1575" b="1">
                <a:solidFill>
                  <a:srgbClr val="182226"/>
                </a:solidFill>
                <a:latin typeface="Arial" panose="020B0604020202090204"/>
                <a:ea typeface="Arial" panose="020B0604020202090204"/>
                <a:cs typeface="Arial" panose="020B0604020202090204"/>
              </a:defRPr>
            </a:lvl7pPr>
            <a:lvl8pPr algn="ctr">
              <a:defRPr sz="1575" b="1">
                <a:solidFill>
                  <a:srgbClr val="182226"/>
                </a:solidFill>
                <a:latin typeface="Arial" panose="020B0604020202090204"/>
                <a:ea typeface="Arial" panose="020B0604020202090204"/>
                <a:cs typeface="Arial" panose="020B0604020202090204"/>
              </a:defRPr>
            </a:lvl8pPr>
            <a:lvl9pPr algn="ctr">
              <a:defRPr sz="1575" b="1">
                <a:solidFill>
                  <a:srgbClr val="182226"/>
                </a:solidFill>
                <a:latin typeface="Arial" panose="020B0604020202090204"/>
                <a:ea typeface="Arial" panose="020B0604020202090204"/>
                <a:cs typeface="Arial" panose="020B0604020202090204"/>
              </a:defRPr>
            </a:lvl9pPr>
          </a:lstStyle>
          <a:p>
            <a:pPr algn="ctr">
              <a:lnSpc>
                <a:spcPct val="102000"/>
              </a:lnSpc>
              <a:buNone/>
              <a:defRPr sz="1575" b="1">
                <a:solidFill>
                  <a:srgbClr val="182226"/>
                </a:solidFill>
                <a:latin typeface="Arial" panose="020B0604020202090204"/>
                <a:ea typeface="Arial" panose="020B0604020202090204"/>
                <a:cs typeface="Arial" panose="020B0604020202090204"/>
              </a:defRPr>
            </a:pPr>
            <a:r>
              <a:rPr sz="1575" b="1">
                <a:solidFill>
                  <a:srgbClr val="182226"/>
                </a:solidFill>
                <a:latin typeface="Arial" panose="020B0604020202090204"/>
                <a:ea typeface="Arial" panose="020B0604020202090204"/>
                <a:cs typeface="Arial" panose="020B0604020202090204"/>
              </a:rPr>
              <a:t>Cosine similarity</a:t>
            </a:r>
            <a:endParaRPr sz="1575" b="1">
              <a:solidFill>
                <a:srgbClr val="182226"/>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3467100" y="3609975"/>
            <a:ext cx="2333625" cy="59055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Compare neighboring vectors</a:t>
            </a:r>
            <a:endParaRPr sz="1275" b="0">
              <a:solidFill>
                <a:srgbClr val="637279"/>
              </a:solidFill>
              <a:latin typeface="Arial" panose="020B0604020202090204"/>
              <a:ea typeface="Arial" panose="020B0604020202090204"/>
              <a:cs typeface="Arial" panose="020B0604020202090204"/>
            </a:endParaRPr>
          </a:p>
        </p:txBody>
      </p:sp>
      <p:sp>
        <p:nvSpPr>
          <p:cNvPr id="11" name="直接连接符 10"/>
          <p:cNvSpPr>
            <a:spLocks noGrp="1"/>
          </p:cNvSpPr>
          <p:nvPr/>
        </p:nvSpPr>
        <p:spPr>
          <a:xfrm>
            <a:off x="5810250" y="2628900"/>
            <a:ext cx="428625" cy="0"/>
          </a:xfrm>
          <a:prstGeom prst="line">
            <a:avLst/>
          </a:prstGeom>
          <a:noFill/>
          <a:ln w="19050">
            <a:solidFill>
              <a:srgbClr val="637279"/>
            </a:solidFill>
            <a:prstDash val="solid"/>
          </a:ln>
        </p:spPr>
      </p:sp>
      <p:sp>
        <p:nvSpPr>
          <p:cNvPr id="12" name="圆角矩形 11"/>
          <p:cNvSpPr>
            <a:spLocks noGrp="1"/>
          </p:cNvSpPr>
          <p:nvPr/>
        </p:nvSpPr>
        <p:spPr>
          <a:xfrm>
            <a:off x="6343650" y="2390775"/>
            <a:ext cx="476250" cy="476250"/>
          </a:xfrm>
          <a:prstGeom prst="roundRect">
            <a:avLst>
              <a:gd name="adj" fmla="val 50000"/>
            </a:avLst>
          </a:prstGeom>
          <a:solidFill>
            <a:srgbClr val="C99B27"/>
          </a:solidFill>
          <a:ln w="0">
            <a:noFill/>
            <a:prstDash val="solid"/>
          </a:ln>
        </p:spPr>
        <p:txBody>
          <a:bodyPr wrap="square" lIns="0" tIns="0" rIns="0" bIns="0" anchor="ctr">
            <a:normAutofit/>
          </a:bodyPr>
          <a:lstStyle>
            <a:defPPr algn="ctr">
              <a:defRPr sz="1725" b="1">
                <a:solidFill>
                  <a:srgbClr val="FFFFFF"/>
                </a:solidFill>
                <a:latin typeface="Arial" panose="020B0604020202090204"/>
                <a:ea typeface="Arial" panose="020B0604020202090204"/>
                <a:cs typeface="Arial" panose="020B0604020202090204"/>
              </a:defRPr>
            </a:defPPr>
            <a:lvl1pPr algn="ctr">
              <a:defRPr sz="1725" b="1">
                <a:solidFill>
                  <a:srgbClr val="FFFFFF"/>
                </a:solidFill>
                <a:latin typeface="Arial" panose="020B0604020202090204"/>
                <a:ea typeface="Arial" panose="020B0604020202090204"/>
                <a:cs typeface="Arial" panose="020B0604020202090204"/>
              </a:defRPr>
            </a:lvl1pPr>
            <a:lvl2pPr algn="ctr">
              <a:defRPr sz="1725" b="1">
                <a:solidFill>
                  <a:srgbClr val="FFFFFF"/>
                </a:solidFill>
                <a:latin typeface="Arial" panose="020B0604020202090204"/>
                <a:ea typeface="Arial" panose="020B0604020202090204"/>
                <a:cs typeface="Arial" panose="020B0604020202090204"/>
              </a:defRPr>
            </a:lvl2pPr>
            <a:lvl3pPr algn="ctr">
              <a:defRPr sz="1725" b="1">
                <a:solidFill>
                  <a:srgbClr val="FFFFFF"/>
                </a:solidFill>
                <a:latin typeface="Arial" panose="020B0604020202090204"/>
                <a:ea typeface="Arial" panose="020B0604020202090204"/>
                <a:cs typeface="Arial" panose="020B0604020202090204"/>
              </a:defRPr>
            </a:lvl3pPr>
            <a:lvl4pPr algn="ctr">
              <a:defRPr sz="1725" b="1">
                <a:solidFill>
                  <a:srgbClr val="FFFFFF"/>
                </a:solidFill>
                <a:latin typeface="Arial" panose="020B0604020202090204"/>
                <a:ea typeface="Arial" panose="020B0604020202090204"/>
                <a:cs typeface="Arial" panose="020B0604020202090204"/>
              </a:defRPr>
            </a:lvl4pPr>
            <a:lvl5pPr algn="ctr">
              <a:defRPr sz="1725" b="1">
                <a:solidFill>
                  <a:srgbClr val="FFFFFF"/>
                </a:solidFill>
                <a:latin typeface="Arial" panose="020B0604020202090204"/>
                <a:ea typeface="Arial" panose="020B0604020202090204"/>
                <a:cs typeface="Arial" panose="020B0604020202090204"/>
              </a:defRPr>
            </a:lvl5pPr>
            <a:lvl6pPr algn="ctr">
              <a:defRPr sz="1725" b="1">
                <a:solidFill>
                  <a:srgbClr val="FFFFFF"/>
                </a:solidFill>
                <a:latin typeface="Arial" panose="020B0604020202090204"/>
                <a:ea typeface="Arial" panose="020B0604020202090204"/>
                <a:cs typeface="Arial" panose="020B0604020202090204"/>
              </a:defRPr>
            </a:lvl6pPr>
            <a:lvl7pPr algn="ctr">
              <a:defRPr sz="1725" b="1">
                <a:solidFill>
                  <a:srgbClr val="FFFFFF"/>
                </a:solidFill>
                <a:latin typeface="Arial" panose="020B0604020202090204"/>
                <a:ea typeface="Arial" panose="020B0604020202090204"/>
                <a:cs typeface="Arial" panose="020B0604020202090204"/>
              </a:defRPr>
            </a:lvl7pPr>
            <a:lvl8pPr algn="ctr">
              <a:defRPr sz="1725" b="1">
                <a:solidFill>
                  <a:srgbClr val="FFFFFF"/>
                </a:solidFill>
                <a:latin typeface="Arial" panose="020B0604020202090204"/>
                <a:ea typeface="Arial" panose="020B0604020202090204"/>
                <a:cs typeface="Arial" panose="020B0604020202090204"/>
              </a:defRPr>
            </a:lvl8pPr>
            <a:lvl9pPr algn="ctr">
              <a:defRPr sz="1725" b="1">
                <a:solidFill>
                  <a:srgbClr val="FFFFFF"/>
                </a:solidFill>
                <a:latin typeface="Arial" panose="020B0604020202090204"/>
                <a:ea typeface="Arial" panose="020B0604020202090204"/>
                <a:cs typeface="Arial" panose="020B0604020202090204"/>
              </a:defRPr>
            </a:lvl9pPr>
          </a:lstStyle>
          <a:p>
            <a:pPr algn="ctr">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3</a:t>
            </a:r>
            <a:endParaRPr sz="1725" b="1">
              <a:solidFill>
                <a:srgbClr val="FFFFFF"/>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6343650" y="3086100"/>
            <a:ext cx="2333625" cy="381000"/>
          </a:xfrm>
          <a:prstGeom prst="rect">
            <a:avLst/>
          </a:prstGeom>
          <a:noFill/>
          <a:ln w="0">
            <a:noFill/>
            <a:prstDash val="solid"/>
          </a:ln>
        </p:spPr>
        <p:txBody>
          <a:bodyPr wrap="square" lIns="0" tIns="0" rIns="0" bIns="0" anchor="t">
            <a:normAutofit/>
          </a:bodyPr>
          <a:lstStyle>
            <a:defPPr algn="ctr">
              <a:defRPr sz="1575" b="1">
                <a:solidFill>
                  <a:srgbClr val="182226"/>
                </a:solidFill>
                <a:latin typeface="Arial" panose="020B0604020202090204"/>
                <a:ea typeface="Arial" panose="020B0604020202090204"/>
                <a:cs typeface="Arial" panose="020B0604020202090204"/>
              </a:defRPr>
            </a:defPPr>
            <a:lvl1pPr algn="ctr">
              <a:defRPr sz="1575" b="1">
                <a:solidFill>
                  <a:srgbClr val="182226"/>
                </a:solidFill>
                <a:latin typeface="Arial" panose="020B0604020202090204"/>
                <a:ea typeface="Arial" panose="020B0604020202090204"/>
                <a:cs typeface="Arial" panose="020B0604020202090204"/>
              </a:defRPr>
            </a:lvl1pPr>
            <a:lvl2pPr algn="ctr">
              <a:defRPr sz="1575" b="1">
                <a:solidFill>
                  <a:srgbClr val="182226"/>
                </a:solidFill>
                <a:latin typeface="Arial" panose="020B0604020202090204"/>
                <a:ea typeface="Arial" panose="020B0604020202090204"/>
                <a:cs typeface="Arial" panose="020B0604020202090204"/>
              </a:defRPr>
            </a:lvl2pPr>
            <a:lvl3pPr algn="ctr">
              <a:defRPr sz="1575" b="1">
                <a:solidFill>
                  <a:srgbClr val="182226"/>
                </a:solidFill>
                <a:latin typeface="Arial" panose="020B0604020202090204"/>
                <a:ea typeface="Arial" panose="020B0604020202090204"/>
                <a:cs typeface="Arial" panose="020B0604020202090204"/>
              </a:defRPr>
            </a:lvl3pPr>
            <a:lvl4pPr algn="ctr">
              <a:defRPr sz="1575" b="1">
                <a:solidFill>
                  <a:srgbClr val="182226"/>
                </a:solidFill>
                <a:latin typeface="Arial" panose="020B0604020202090204"/>
                <a:ea typeface="Arial" panose="020B0604020202090204"/>
                <a:cs typeface="Arial" panose="020B0604020202090204"/>
              </a:defRPr>
            </a:lvl4pPr>
            <a:lvl5pPr algn="ctr">
              <a:defRPr sz="1575" b="1">
                <a:solidFill>
                  <a:srgbClr val="182226"/>
                </a:solidFill>
                <a:latin typeface="Arial" panose="020B0604020202090204"/>
                <a:ea typeface="Arial" panose="020B0604020202090204"/>
                <a:cs typeface="Arial" panose="020B0604020202090204"/>
              </a:defRPr>
            </a:lvl5pPr>
            <a:lvl6pPr algn="ctr">
              <a:defRPr sz="1575" b="1">
                <a:solidFill>
                  <a:srgbClr val="182226"/>
                </a:solidFill>
                <a:latin typeface="Arial" panose="020B0604020202090204"/>
                <a:ea typeface="Arial" panose="020B0604020202090204"/>
                <a:cs typeface="Arial" panose="020B0604020202090204"/>
              </a:defRPr>
            </a:lvl6pPr>
            <a:lvl7pPr algn="ctr">
              <a:defRPr sz="1575" b="1">
                <a:solidFill>
                  <a:srgbClr val="182226"/>
                </a:solidFill>
                <a:latin typeface="Arial" panose="020B0604020202090204"/>
                <a:ea typeface="Arial" panose="020B0604020202090204"/>
                <a:cs typeface="Arial" panose="020B0604020202090204"/>
              </a:defRPr>
            </a:lvl7pPr>
            <a:lvl8pPr algn="ctr">
              <a:defRPr sz="1575" b="1">
                <a:solidFill>
                  <a:srgbClr val="182226"/>
                </a:solidFill>
                <a:latin typeface="Arial" panose="020B0604020202090204"/>
                <a:ea typeface="Arial" panose="020B0604020202090204"/>
                <a:cs typeface="Arial" panose="020B0604020202090204"/>
              </a:defRPr>
            </a:lvl8pPr>
            <a:lvl9pPr algn="ctr">
              <a:defRPr sz="1575" b="1">
                <a:solidFill>
                  <a:srgbClr val="182226"/>
                </a:solidFill>
                <a:latin typeface="Arial" panose="020B0604020202090204"/>
                <a:ea typeface="Arial" panose="020B0604020202090204"/>
                <a:cs typeface="Arial" panose="020B0604020202090204"/>
              </a:defRPr>
            </a:lvl9pPr>
          </a:lstStyle>
          <a:p>
            <a:pPr algn="ctr">
              <a:lnSpc>
                <a:spcPct val="102000"/>
              </a:lnSpc>
              <a:buNone/>
              <a:defRPr sz="1575" b="1">
                <a:solidFill>
                  <a:srgbClr val="182226"/>
                </a:solidFill>
                <a:latin typeface="Arial" panose="020B0604020202090204"/>
                <a:ea typeface="Arial" panose="020B0604020202090204"/>
                <a:cs typeface="Arial" panose="020B0604020202090204"/>
              </a:defRPr>
            </a:pPr>
            <a:r>
              <a:rPr sz="1575" b="1">
                <a:solidFill>
                  <a:srgbClr val="182226"/>
                </a:solidFill>
                <a:latin typeface="Arial" panose="020B0604020202090204"/>
                <a:ea typeface="Arial" panose="020B0604020202090204"/>
                <a:cs typeface="Arial" panose="020B0604020202090204"/>
              </a:rPr>
              <a:t>Discrete states</a:t>
            </a:r>
            <a:endParaRPr sz="1575" b="1">
              <a:solidFill>
                <a:srgbClr val="182226"/>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6343650" y="3609975"/>
            <a:ext cx="2333625" cy="59055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Map similarities into ε bins</a:t>
            </a:r>
            <a:endParaRPr sz="1275" b="0">
              <a:solidFill>
                <a:srgbClr val="637279"/>
              </a:solidFill>
              <a:latin typeface="Arial" panose="020B0604020202090204"/>
              <a:ea typeface="Arial" panose="020B0604020202090204"/>
              <a:cs typeface="Arial" panose="020B0604020202090204"/>
            </a:endParaRPr>
          </a:p>
        </p:txBody>
      </p:sp>
      <p:sp>
        <p:nvSpPr>
          <p:cNvPr id="15" name="直接连接符 14"/>
          <p:cNvSpPr>
            <a:spLocks noGrp="1"/>
          </p:cNvSpPr>
          <p:nvPr/>
        </p:nvSpPr>
        <p:spPr>
          <a:xfrm>
            <a:off x="8686800" y="2628900"/>
            <a:ext cx="428625" cy="0"/>
          </a:xfrm>
          <a:prstGeom prst="line">
            <a:avLst/>
          </a:prstGeom>
          <a:noFill/>
          <a:ln w="19050">
            <a:solidFill>
              <a:srgbClr val="637279"/>
            </a:solidFill>
            <a:prstDash val="solid"/>
          </a:ln>
        </p:spPr>
      </p:sp>
      <p:sp>
        <p:nvSpPr>
          <p:cNvPr id="16" name="圆角矩形 15"/>
          <p:cNvSpPr>
            <a:spLocks noGrp="1"/>
          </p:cNvSpPr>
          <p:nvPr/>
        </p:nvSpPr>
        <p:spPr>
          <a:xfrm>
            <a:off x="9220200" y="2390775"/>
            <a:ext cx="476250" cy="476250"/>
          </a:xfrm>
          <a:prstGeom prst="roundRect">
            <a:avLst>
              <a:gd name="adj" fmla="val 50000"/>
            </a:avLst>
          </a:prstGeom>
          <a:solidFill>
            <a:srgbClr val="147A78"/>
          </a:solidFill>
          <a:ln w="0">
            <a:noFill/>
            <a:prstDash val="solid"/>
          </a:ln>
        </p:spPr>
        <p:txBody>
          <a:bodyPr wrap="square" lIns="0" tIns="0" rIns="0" bIns="0" anchor="ctr">
            <a:normAutofit/>
          </a:bodyPr>
          <a:lstStyle>
            <a:defPPr algn="ctr">
              <a:defRPr sz="1725" b="1">
                <a:solidFill>
                  <a:srgbClr val="FFFFFF"/>
                </a:solidFill>
                <a:latin typeface="Arial" panose="020B0604020202090204"/>
                <a:ea typeface="Arial" panose="020B0604020202090204"/>
                <a:cs typeface="Arial" panose="020B0604020202090204"/>
              </a:defRPr>
            </a:defPPr>
            <a:lvl1pPr algn="ctr">
              <a:defRPr sz="1725" b="1">
                <a:solidFill>
                  <a:srgbClr val="FFFFFF"/>
                </a:solidFill>
                <a:latin typeface="Arial" panose="020B0604020202090204"/>
                <a:ea typeface="Arial" panose="020B0604020202090204"/>
                <a:cs typeface="Arial" panose="020B0604020202090204"/>
              </a:defRPr>
            </a:lvl1pPr>
            <a:lvl2pPr algn="ctr">
              <a:defRPr sz="1725" b="1">
                <a:solidFill>
                  <a:srgbClr val="FFFFFF"/>
                </a:solidFill>
                <a:latin typeface="Arial" panose="020B0604020202090204"/>
                <a:ea typeface="Arial" panose="020B0604020202090204"/>
                <a:cs typeface="Arial" panose="020B0604020202090204"/>
              </a:defRPr>
            </a:lvl2pPr>
            <a:lvl3pPr algn="ctr">
              <a:defRPr sz="1725" b="1">
                <a:solidFill>
                  <a:srgbClr val="FFFFFF"/>
                </a:solidFill>
                <a:latin typeface="Arial" panose="020B0604020202090204"/>
                <a:ea typeface="Arial" panose="020B0604020202090204"/>
                <a:cs typeface="Arial" panose="020B0604020202090204"/>
              </a:defRPr>
            </a:lvl3pPr>
            <a:lvl4pPr algn="ctr">
              <a:defRPr sz="1725" b="1">
                <a:solidFill>
                  <a:srgbClr val="FFFFFF"/>
                </a:solidFill>
                <a:latin typeface="Arial" panose="020B0604020202090204"/>
                <a:ea typeface="Arial" panose="020B0604020202090204"/>
                <a:cs typeface="Arial" panose="020B0604020202090204"/>
              </a:defRPr>
            </a:lvl4pPr>
            <a:lvl5pPr algn="ctr">
              <a:defRPr sz="1725" b="1">
                <a:solidFill>
                  <a:srgbClr val="FFFFFF"/>
                </a:solidFill>
                <a:latin typeface="Arial" panose="020B0604020202090204"/>
                <a:ea typeface="Arial" panose="020B0604020202090204"/>
                <a:cs typeface="Arial" panose="020B0604020202090204"/>
              </a:defRPr>
            </a:lvl5pPr>
            <a:lvl6pPr algn="ctr">
              <a:defRPr sz="1725" b="1">
                <a:solidFill>
                  <a:srgbClr val="FFFFFF"/>
                </a:solidFill>
                <a:latin typeface="Arial" panose="020B0604020202090204"/>
                <a:ea typeface="Arial" panose="020B0604020202090204"/>
                <a:cs typeface="Arial" panose="020B0604020202090204"/>
              </a:defRPr>
            </a:lvl6pPr>
            <a:lvl7pPr algn="ctr">
              <a:defRPr sz="1725" b="1">
                <a:solidFill>
                  <a:srgbClr val="FFFFFF"/>
                </a:solidFill>
                <a:latin typeface="Arial" panose="020B0604020202090204"/>
                <a:ea typeface="Arial" panose="020B0604020202090204"/>
                <a:cs typeface="Arial" panose="020B0604020202090204"/>
              </a:defRPr>
            </a:lvl7pPr>
            <a:lvl8pPr algn="ctr">
              <a:defRPr sz="1725" b="1">
                <a:solidFill>
                  <a:srgbClr val="FFFFFF"/>
                </a:solidFill>
                <a:latin typeface="Arial" panose="020B0604020202090204"/>
                <a:ea typeface="Arial" panose="020B0604020202090204"/>
                <a:cs typeface="Arial" panose="020B0604020202090204"/>
              </a:defRPr>
            </a:lvl8pPr>
            <a:lvl9pPr algn="ctr">
              <a:defRPr sz="1725" b="1">
                <a:solidFill>
                  <a:srgbClr val="FFFFFF"/>
                </a:solidFill>
                <a:latin typeface="Arial" panose="020B0604020202090204"/>
                <a:ea typeface="Arial" panose="020B0604020202090204"/>
                <a:cs typeface="Arial" panose="020B0604020202090204"/>
              </a:defRPr>
            </a:lvl9pPr>
          </a:lstStyle>
          <a:p>
            <a:pPr algn="ctr">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4</a:t>
            </a:r>
            <a:endParaRPr sz="1725" b="1">
              <a:solidFill>
                <a:srgbClr val="FFFFFF"/>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9220200" y="3086100"/>
            <a:ext cx="2333625" cy="381000"/>
          </a:xfrm>
          <a:prstGeom prst="rect">
            <a:avLst/>
          </a:prstGeom>
          <a:noFill/>
          <a:ln w="0">
            <a:noFill/>
            <a:prstDash val="solid"/>
          </a:ln>
        </p:spPr>
        <p:txBody>
          <a:bodyPr wrap="square" lIns="0" tIns="0" rIns="0" bIns="0" anchor="t">
            <a:normAutofit/>
          </a:bodyPr>
          <a:lstStyle>
            <a:defPPr algn="ctr">
              <a:defRPr sz="1575" b="1">
                <a:solidFill>
                  <a:srgbClr val="182226"/>
                </a:solidFill>
                <a:latin typeface="Arial" panose="020B0604020202090204"/>
                <a:ea typeface="Arial" panose="020B0604020202090204"/>
                <a:cs typeface="Arial" panose="020B0604020202090204"/>
              </a:defRPr>
            </a:defPPr>
            <a:lvl1pPr algn="ctr">
              <a:defRPr sz="1575" b="1">
                <a:solidFill>
                  <a:srgbClr val="182226"/>
                </a:solidFill>
                <a:latin typeface="Arial" panose="020B0604020202090204"/>
                <a:ea typeface="Arial" panose="020B0604020202090204"/>
                <a:cs typeface="Arial" panose="020B0604020202090204"/>
              </a:defRPr>
            </a:lvl1pPr>
            <a:lvl2pPr algn="ctr">
              <a:defRPr sz="1575" b="1">
                <a:solidFill>
                  <a:srgbClr val="182226"/>
                </a:solidFill>
                <a:latin typeface="Arial" panose="020B0604020202090204"/>
                <a:ea typeface="Arial" panose="020B0604020202090204"/>
                <a:cs typeface="Arial" panose="020B0604020202090204"/>
              </a:defRPr>
            </a:lvl2pPr>
            <a:lvl3pPr algn="ctr">
              <a:defRPr sz="1575" b="1">
                <a:solidFill>
                  <a:srgbClr val="182226"/>
                </a:solidFill>
                <a:latin typeface="Arial" panose="020B0604020202090204"/>
                <a:ea typeface="Arial" panose="020B0604020202090204"/>
                <a:cs typeface="Arial" panose="020B0604020202090204"/>
              </a:defRPr>
            </a:lvl3pPr>
            <a:lvl4pPr algn="ctr">
              <a:defRPr sz="1575" b="1">
                <a:solidFill>
                  <a:srgbClr val="182226"/>
                </a:solidFill>
                <a:latin typeface="Arial" panose="020B0604020202090204"/>
                <a:ea typeface="Arial" panose="020B0604020202090204"/>
                <a:cs typeface="Arial" panose="020B0604020202090204"/>
              </a:defRPr>
            </a:lvl4pPr>
            <a:lvl5pPr algn="ctr">
              <a:defRPr sz="1575" b="1">
                <a:solidFill>
                  <a:srgbClr val="182226"/>
                </a:solidFill>
                <a:latin typeface="Arial" panose="020B0604020202090204"/>
                <a:ea typeface="Arial" panose="020B0604020202090204"/>
                <a:cs typeface="Arial" panose="020B0604020202090204"/>
              </a:defRPr>
            </a:lvl5pPr>
            <a:lvl6pPr algn="ctr">
              <a:defRPr sz="1575" b="1">
                <a:solidFill>
                  <a:srgbClr val="182226"/>
                </a:solidFill>
                <a:latin typeface="Arial" panose="020B0604020202090204"/>
                <a:ea typeface="Arial" panose="020B0604020202090204"/>
                <a:cs typeface="Arial" panose="020B0604020202090204"/>
              </a:defRPr>
            </a:lvl6pPr>
            <a:lvl7pPr algn="ctr">
              <a:defRPr sz="1575" b="1">
                <a:solidFill>
                  <a:srgbClr val="182226"/>
                </a:solidFill>
                <a:latin typeface="Arial" panose="020B0604020202090204"/>
                <a:ea typeface="Arial" panose="020B0604020202090204"/>
                <a:cs typeface="Arial" panose="020B0604020202090204"/>
              </a:defRPr>
            </a:lvl7pPr>
            <a:lvl8pPr algn="ctr">
              <a:defRPr sz="1575" b="1">
                <a:solidFill>
                  <a:srgbClr val="182226"/>
                </a:solidFill>
                <a:latin typeface="Arial" panose="020B0604020202090204"/>
                <a:ea typeface="Arial" panose="020B0604020202090204"/>
                <a:cs typeface="Arial" panose="020B0604020202090204"/>
              </a:defRPr>
            </a:lvl8pPr>
            <a:lvl9pPr algn="ctr">
              <a:defRPr sz="1575" b="1">
                <a:solidFill>
                  <a:srgbClr val="182226"/>
                </a:solidFill>
                <a:latin typeface="Arial" panose="020B0604020202090204"/>
                <a:ea typeface="Arial" panose="020B0604020202090204"/>
                <a:cs typeface="Arial" panose="020B0604020202090204"/>
              </a:defRPr>
            </a:lvl9pPr>
          </a:lstStyle>
          <a:p>
            <a:pPr algn="ctr">
              <a:lnSpc>
                <a:spcPct val="102000"/>
              </a:lnSpc>
              <a:buNone/>
              <a:defRPr sz="1575" b="1">
                <a:solidFill>
                  <a:srgbClr val="182226"/>
                </a:solidFill>
                <a:latin typeface="Arial" panose="020B0604020202090204"/>
                <a:ea typeface="Arial" panose="020B0604020202090204"/>
                <a:cs typeface="Arial" panose="020B0604020202090204"/>
              </a:defRPr>
            </a:pPr>
            <a:r>
              <a:rPr sz="1575" b="1">
                <a:solidFill>
                  <a:srgbClr val="182226"/>
                </a:solidFill>
                <a:latin typeface="Arial" panose="020B0604020202090204"/>
                <a:ea typeface="Arial" panose="020B0604020202090204"/>
                <a:cs typeface="Arial" panose="020B0604020202090204"/>
              </a:rPr>
              <a:t>Diversity entropy</a:t>
            </a:r>
            <a:endParaRPr sz="1575" b="1">
              <a:solidFill>
                <a:srgbClr val="182226"/>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9220200" y="3609975"/>
            <a:ext cx="2333625" cy="59055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Measure the state distribution</a:t>
            </a:r>
            <a:endParaRPr sz="1275" b="0">
              <a:solidFill>
                <a:srgbClr val="637279"/>
              </a:solidFill>
              <a:latin typeface="Arial" panose="020B0604020202090204"/>
              <a:ea typeface="Arial" panose="020B0604020202090204"/>
              <a:cs typeface="Arial" panose="020B0604020202090204"/>
            </a:endParaRPr>
          </a:p>
        </p:txBody>
      </p:sp>
      <p:sp>
        <p:nvSpPr>
          <p:cNvPr id="21" name="矩形 20"/>
          <p:cNvSpPr>
            <a:spLocks noGrp="1"/>
          </p:cNvSpPr>
          <p:nvPr/>
        </p:nvSpPr>
        <p:spPr>
          <a:xfrm>
            <a:off x="2190750" y="5286375"/>
            <a:ext cx="7810500" cy="400050"/>
          </a:xfrm>
          <a:prstGeom prst="rect">
            <a:avLst/>
          </a:prstGeom>
          <a:noFill/>
          <a:ln w="0">
            <a:noFill/>
            <a:prstDash val="solid"/>
          </a:ln>
        </p:spPr>
        <p:txBody>
          <a:bodyPr wrap="square" lIns="0" tIns="0" rIns="0" bIns="0" anchor="t">
            <a:normAutofit/>
          </a:bodyPr>
          <a:lstStyle>
            <a:defPPr algn="ctr">
              <a:defRPr sz="1725" b="1">
                <a:solidFill>
                  <a:srgbClr val="147A78"/>
                </a:solidFill>
                <a:latin typeface="Arial" panose="020B0604020202090204"/>
                <a:ea typeface="Arial" panose="020B0604020202090204"/>
                <a:cs typeface="Arial" panose="020B0604020202090204"/>
              </a:defRPr>
            </a:defPPr>
            <a:lvl1pPr algn="ctr">
              <a:defRPr sz="1725" b="1">
                <a:solidFill>
                  <a:srgbClr val="147A78"/>
                </a:solidFill>
                <a:latin typeface="Arial" panose="020B0604020202090204"/>
                <a:ea typeface="Arial" panose="020B0604020202090204"/>
                <a:cs typeface="Arial" panose="020B0604020202090204"/>
              </a:defRPr>
            </a:lvl1pPr>
            <a:lvl2pPr algn="ctr">
              <a:defRPr sz="1725" b="1">
                <a:solidFill>
                  <a:srgbClr val="147A78"/>
                </a:solidFill>
                <a:latin typeface="Arial" panose="020B0604020202090204"/>
                <a:ea typeface="Arial" panose="020B0604020202090204"/>
                <a:cs typeface="Arial" panose="020B0604020202090204"/>
              </a:defRPr>
            </a:lvl2pPr>
            <a:lvl3pPr algn="ctr">
              <a:defRPr sz="1725" b="1">
                <a:solidFill>
                  <a:srgbClr val="147A78"/>
                </a:solidFill>
                <a:latin typeface="Arial" panose="020B0604020202090204"/>
                <a:ea typeface="Arial" panose="020B0604020202090204"/>
                <a:cs typeface="Arial" panose="020B0604020202090204"/>
              </a:defRPr>
            </a:lvl3pPr>
            <a:lvl4pPr algn="ctr">
              <a:defRPr sz="1725" b="1">
                <a:solidFill>
                  <a:srgbClr val="147A78"/>
                </a:solidFill>
                <a:latin typeface="Arial" panose="020B0604020202090204"/>
                <a:ea typeface="Arial" panose="020B0604020202090204"/>
                <a:cs typeface="Arial" panose="020B0604020202090204"/>
              </a:defRPr>
            </a:lvl4pPr>
            <a:lvl5pPr algn="ctr">
              <a:defRPr sz="1725" b="1">
                <a:solidFill>
                  <a:srgbClr val="147A78"/>
                </a:solidFill>
                <a:latin typeface="Arial" panose="020B0604020202090204"/>
                <a:ea typeface="Arial" panose="020B0604020202090204"/>
                <a:cs typeface="Arial" panose="020B0604020202090204"/>
              </a:defRPr>
            </a:lvl5pPr>
            <a:lvl6pPr algn="ctr">
              <a:defRPr sz="1725" b="1">
                <a:solidFill>
                  <a:srgbClr val="147A78"/>
                </a:solidFill>
                <a:latin typeface="Arial" panose="020B0604020202090204"/>
                <a:ea typeface="Arial" panose="020B0604020202090204"/>
                <a:cs typeface="Arial" panose="020B0604020202090204"/>
              </a:defRPr>
            </a:lvl6pPr>
            <a:lvl7pPr algn="ctr">
              <a:defRPr sz="1725" b="1">
                <a:solidFill>
                  <a:srgbClr val="147A78"/>
                </a:solidFill>
                <a:latin typeface="Arial" panose="020B0604020202090204"/>
                <a:ea typeface="Arial" panose="020B0604020202090204"/>
                <a:cs typeface="Arial" panose="020B0604020202090204"/>
              </a:defRPr>
            </a:lvl7pPr>
            <a:lvl8pPr algn="ctr">
              <a:defRPr sz="1725" b="1">
                <a:solidFill>
                  <a:srgbClr val="147A78"/>
                </a:solidFill>
                <a:latin typeface="Arial" panose="020B0604020202090204"/>
                <a:ea typeface="Arial" panose="020B0604020202090204"/>
                <a:cs typeface="Arial" panose="020B0604020202090204"/>
              </a:defRPr>
            </a:lvl8pPr>
            <a:lvl9pPr algn="ctr">
              <a:defRPr sz="1725" b="1">
                <a:solidFill>
                  <a:srgbClr val="147A78"/>
                </a:solidFill>
                <a:latin typeface="Arial" panose="020B0604020202090204"/>
                <a:ea typeface="Arial" panose="020B0604020202090204"/>
                <a:cs typeface="Arial" panose="020B0604020202090204"/>
              </a:defRPr>
            </a:lvl9pPr>
          </a:lstStyle>
          <a:p>
            <a:pPr algn="ctr">
              <a:lnSpc>
                <a:spcPct val="102000"/>
              </a:lnSpc>
              <a:buNone/>
              <a:defRPr sz="1725" b="1">
                <a:solidFill>
                  <a:srgbClr val="147A78"/>
                </a:solidFill>
                <a:latin typeface="Arial" panose="020B0604020202090204"/>
                <a:ea typeface="Arial" panose="020B0604020202090204"/>
                <a:cs typeface="Arial" panose="020B0604020202090204"/>
              </a:defRPr>
            </a:pPr>
            <a:r>
              <a:rPr sz="1725" b="1">
                <a:solidFill>
                  <a:srgbClr val="147A78"/>
                </a:solidFill>
                <a:latin typeface="Arial" panose="020B0604020202090204"/>
                <a:ea typeface="Arial" panose="020B0604020202090204"/>
                <a:cs typeface="Arial" panose="020B0604020202090204"/>
              </a:rPr>
              <a:t>Higher entropy indicates richer local transitions.</a:t>
            </a:r>
            <a:endParaRPr sz="1725" b="1">
              <a:solidFill>
                <a:srgbClr val="147A78"/>
              </a:solidFill>
              <a:latin typeface="Arial" panose="020B0604020202090204"/>
              <a:ea typeface="Arial" panose="020B0604020202090204"/>
              <a:cs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1" name="矩形 10"/>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MDE patterns in human and LLM text</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a:t>
            </a:r>
            <a:r>
              <a:rPr lang="en-US" sz="1125" b="1">
                <a:solidFill>
                  <a:srgbClr val="637279"/>
                </a:solidFill>
                <a:latin typeface="Arial" panose="020B0604020202090204"/>
                <a:ea typeface="Arial" panose="020B0604020202090204"/>
                <a:cs typeface="Arial" panose="020B0604020202090204"/>
              </a:rPr>
              <a:t>8</a:t>
            </a:r>
            <a:endParaRPr lang="en-US" sz="1125" b="1">
              <a:solidFill>
                <a:srgbClr val="637279"/>
              </a:solidFill>
              <a:latin typeface="Arial" panose="020B0604020202090204"/>
              <a:ea typeface="Arial" panose="020B0604020202090204"/>
              <a:cs typeface="Arial" panose="020B0604020202090204"/>
            </a:endParaRPr>
          </a:p>
        </p:txBody>
      </p:sp>
      <p:pic>
        <p:nvPicPr>
          <p:cNvPr id="4" name="图片 3"/>
          <p:cNvPicPr>
            <a:picLocks noChangeAspect="1"/>
          </p:cNvPicPr>
          <p:nvPr/>
        </p:nvPicPr>
        <p:blipFill>
          <a:blip r:embed="rId1"/>
          <a:stretch>
            <a:fillRect/>
          </a:stretch>
        </p:blipFill>
        <p:spPr>
          <a:xfrm>
            <a:off x="4048125" y="1435711"/>
            <a:ext cx="7524750" cy="3415079"/>
          </a:xfrm>
          <a:prstGeom prst="rect">
            <a:avLst/>
          </a:prstGeom>
        </p:spPr>
      </p:pic>
      <p:sp>
        <p:nvSpPr>
          <p:cNvPr id="5" name="矩形 4"/>
          <p:cNvSpPr>
            <a:spLocks noGrp="1"/>
          </p:cNvSpPr>
          <p:nvPr/>
        </p:nvSpPr>
        <p:spPr>
          <a:xfrm>
            <a:off x="819150" y="1666875"/>
            <a:ext cx="1809750" cy="457200"/>
          </a:xfrm>
          <a:prstGeom prst="rect">
            <a:avLst/>
          </a:prstGeom>
          <a:noFill/>
          <a:ln w="0">
            <a:noFill/>
            <a:prstDash val="solid"/>
          </a:ln>
        </p:spPr>
        <p:txBody>
          <a:bodyPr wrap="square" lIns="0" tIns="0" rIns="0" bIns="0" anchor="t">
            <a:normAutofit/>
          </a:bodyPr>
          <a:lstStyle>
            <a:defPPr algn="l">
              <a:defRPr sz="2250" b="1">
                <a:solidFill>
                  <a:srgbClr val="147A78"/>
                </a:solidFill>
                <a:latin typeface="Arial" panose="020B0604020202090204"/>
                <a:ea typeface="Arial" panose="020B0604020202090204"/>
                <a:cs typeface="Arial" panose="020B0604020202090204"/>
              </a:defRPr>
            </a:defPPr>
            <a:lvl1pPr algn="l">
              <a:defRPr sz="2250" b="1">
                <a:solidFill>
                  <a:srgbClr val="147A78"/>
                </a:solidFill>
                <a:latin typeface="Arial" panose="020B0604020202090204"/>
                <a:ea typeface="Arial" panose="020B0604020202090204"/>
                <a:cs typeface="Arial" panose="020B0604020202090204"/>
              </a:defRPr>
            </a:lvl1pPr>
            <a:lvl2pPr algn="l">
              <a:defRPr sz="2250" b="1">
                <a:solidFill>
                  <a:srgbClr val="147A78"/>
                </a:solidFill>
                <a:latin typeface="Arial" panose="020B0604020202090204"/>
                <a:ea typeface="Arial" panose="020B0604020202090204"/>
                <a:cs typeface="Arial" panose="020B0604020202090204"/>
              </a:defRPr>
            </a:lvl2pPr>
            <a:lvl3pPr algn="l">
              <a:defRPr sz="2250" b="1">
                <a:solidFill>
                  <a:srgbClr val="147A78"/>
                </a:solidFill>
                <a:latin typeface="Arial" panose="020B0604020202090204"/>
                <a:ea typeface="Arial" panose="020B0604020202090204"/>
                <a:cs typeface="Arial" panose="020B0604020202090204"/>
              </a:defRPr>
            </a:lvl3pPr>
            <a:lvl4pPr algn="l">
              <a:defRPr sz="2250" b="1">
                <a:solidFill>
                  <a:srgbClr val="147A78"/>
                </a:solidFill>
                <a:latin typeface="Arial" panose="020B0604020202090204"/>
                <a:ea typeface="Arial" panose="020B0604020202090204"/>
                <a:cs typeface="Arial" panose="020B0604020202090204"/>
              </a:defRPr>
            </a:lvl4pPr>
            <a:lvl5pPr algn="l">
              <a:defRPr sz="2250" b="1">
                <a:solidFill>
                  <a:srgbClr val="147A78"/>
                </a:solidFill>
                <a:latin typeface="Arial" panose="020B0604020202090204"/>
                <a:ea typeface="Arial" panose="020B0604020202090204"/>
                <a:cs typeface="Arial" panose="020B0604020202090204"/>
              </a:defRPr>
            </a:lvl5pPr>
            <a:lvl6pPr algn="l">
              <a:defRPr sz="2250" b="1">
                <a:solidFill>
                  <a:srgbClr val="147A78"/>
                </a:solidFill>
                <a:latin typeface="Arial" panose="020B0604020202090204"/>
                <a:ea typeface="Arial" panose="020B0604020202090204"/>
                <a:cs typeface="Arial" panose="020B0604020202090204"/>
              </a:defRPr>
            </a:lvl6pPr>
            <a:lvl7pPr algn="l">
              <a:defRPr sz="2250" b="1">
                <a:solidFill>
                  <a:srgbClr val="147A78"/>
                </a:solidFill>
                <a:latin typeface="Arial" panose="020B0604020202090204"/>
                <a:ea typeface="Arial" panose="020B0604020202090204"/>
                <a:cs typeface="Arial" panose="020B0604020202090204"/>
              </a:defRPr>
            </a:lvl7pPr>
            <a:lvl8pPr algn="l">
              <a:defRPr sz="2250" b="1">
                <a:solidFill>
                  <a:srgbClr val="147A78"/>
                </a:solidFill>
                <a:latin typeface="Arial" panose="020B0604020202090204"/>
                <a:ea typeface="Arial" panose="020B0604020202090204"/>
                <a:cs typeface="Arial" panose="020B0604020202090204"/>
              </a:defRPr>
            </a:lvl8pPr>
            <a:lvl9pPr algn="l">
              <a:defRPr sz="2250" b="1">
                <a:solidFill>
                  <a:srgbClr val="147A78"/>
                </a:solidFill>
                <a:latin typeface="Arial" panose="020B0604020202090204"/>
                <a:ea typeface="Arial" panose="020B0604020202090204"/>
                <a:cs typeface="Arial" panose="020B0604020202090204"/>
              </a:defRPr>
            </a:lvl9pPr>
          </a:lstStyle>
          <a:p>
            <a:pPr algn="l">
              <a:lnSpc>
                <a:spcPct val="102000"/>
              </a:lnSpc>
              <a:buNone/>
              <a:defRPr sz="2250" b="1">
                <a:solidFill>
                  <a:srgbClr val="147A78"/>
                </a:solidFill>
                <a:latin typeface="Arial" panose="020B0604020202090204"/>
                <a:ea typeface="Arial" panose="020B0604020202090204"/>
                <a:cs typeface="Arial" panose="020B0604020202090204"/>
              </a:defRPr>
            </a:pPr>
            <a:r>
              <a:rPr sz="2250" b="1">
                <a:solidFill>
                  <a:srgbClr val="147A78"/>
                </a:solidFill>
                <a:latin typeface="Arial" panose="020B0604020202090204"/>
                <a:ea typeface="Arial" panose="020B0604020202090204"/>
                <a:cs typeface="Arial" panose="020B0604020202090204"/>
              </a:rPr>
              <a:t>Human</a:t>
            </a:r>
            <a:endParaRPr sz="2250" b="1">
              <a:solidFill>
                <a:srgbClr val="147A78"/>
              </a:solidFill>
              <a:latin typeface="Arial" panose="020B0604020202090204"/>
              <a:ea typeface="Arial" panose="020B0604020202090204"/>
              <a:cs typeface="Arial" panose="020B0604020202090204"/>
            </a:endParaRPr>
          </a:p>
        </p:txBody>
      </p:sp>
      <p:sp>
        <p:nvSpPr>
          <p:cNvPr id="6" name="矩形 5"/>
          <p:cNvSpPr>
            <a:spLocks noGrp="1"/>
          </p:cNvSpPr>
          <p:nvPr/>
        </p:nvSpPr>
        <p:spPr>
          <a:xfrm>
            <a:off x="819150" y="2190750"/>
            <a:ext cx="2381250" cy="714375"/>
          </a:xfrm>
          <a:prstGeom prst="rect">
            <a:avLst/>
          </a:prstGeom>
          <a:noFill/>
          <a:ln w="0">
            <a:noFill/>
            <a:prstDash val="solid"/>
          </a:ln>
        </p:spPr>
        <p:txBody>
          <a:bodyPr wrap="square" lIns="0" tIns="0" rIns="0" bIns="0" anchor="t">
            <a:normAutofit/>
          </a:bodyPr>
          <a:lstStyle>
            <a:defPPr algn="l">
              <a:defRPr sz="1575" b="0">
                <a:solidFill>
                  <a:srgbClr val="637279"/>
                </a:solidFill>
                <a:latin typeface="Arial" panose="020B0604020202090204"/>
                <a:ea typeface="Arial" panose="020B0604020202090204"/>
                <a:cs typeface="Arial" panose="020B0604020202090204"/>
              </a:defRPr>
            </a:defPPr>
            <a:lvl1pPr algn="l">
              <a:defRPr sz="1575" b="0">
                <a:solidFill>
                  <a:srgbClr val="637279"/>
                </a:solidFill>
                <a:latin typeface="Arial" panose="020B0604020202090204"/>
                <a:ea typeface="Arial" panose="020B0604020202090204"/>
                <a:cs typeface="Arial" panose="020B0604020202090204"/>
              </a:defRPr>
            </a:lvl1pPr>
            <a:lvl2pPr algn="l">
              <a:defRPr sz="1575" b="0">
                <a:solidFill>
                  <a:srgbClr val="637279"/>
                </a:solidFill>
                <a:latin typeface="Arial" panose="020B0604020202090204"/>
                <a:ea typeface="Arial" panose="020B0604020202090204"/>
                <a:cs typeface="Arial" panose="020B0604020202090204"/>
              </a:defRPr>
            </a:lvl2pPr>
            <a:lvl3pPr algn="l">
              <a:defRPr sz="1575" b="0">
                <a:solidFill>
                  <a:srgbClr val="637279"/>
                </a:solidFill>
                <a:latin typeface="Arial" panose="020B0604020202090204"/>
                <a:ea typeface="Arial" panose="020B0604020202090204"/>
                <a:cs typeface="Arial" panose="020B0604020202090204"/>
              </a:defRPr>
            </a:lvl3pPr>
            <a:lvl4pPr algn="l">
              <a:defRPr sz="1575" b="0">
                <a:solidFill>
                  <a:srgbClr val="637279"/>
                </a:solidFill>
                <a:latin typeface="Arial" panose="020B0604020202090204"/>
                <a:ea typeface="Arial" panose="020B0604020202090204"/>
                <a:cs typeface="Arial" panose="020B0604020202090204"/>
              </a:defRPr>
            </a:lvl4pPr>
            <a:lvl5pPr algn="l">
              <a:defRPr sz="1575" b="0">
                <a:solidFill>
                  <a:srgbClr val="637279"/>
                </a:solidFill>
                <a:latin typeface="Arial" panose="020B0604020202090204"/>
                <a:ea typeface="Arial" panose="020B0604020202090204"/>
                <a:cs typeface="Arial" panose="020B0604020202090204"/>
              </a:defRPr>
            </a:lvl5pPr>
            <a:lvl6pPr algn="l">
              <a:defRPr sz="1575" b="0">
                <a:solidFill>
                  <a:srgbClr val="637279"/>
                </a:solidFill>
                <a:latin typeface="Arial" panose="020B0604020202090204"/>
                <a:ea typeface="Arial" panose="020B0604020202090204"/>
                <a:cs typeface="Arial" panose="020B0604020202090204"/>
              </a:defRPr>
            </a:lvl6pPr>
            <a:lvl7pPr algn="l">
              <a:defRPr sz="1575" b="0">
                <a:solidFill>
                  <a:srgbClr val="637279"/>
                </a:solidFill>
                <a:latin typeface="Arial" panose="020B0604020202090204"/>
                <a:ea typeface="Arial" panose="020B0604020202090204"/>
                <a:cs typeface="Arial" panose="020B0604020202090204"/>
              </a:defRPr>
            </a:lvl7pPr>
            <a:lvl8pPr algn="l">
              <a:defRPr sz="1575" b="0">
                <a:solidFill>
                  <a:srgbClr val="637279"/>
                </a:solidFill>
                <a:latin typeface="Arial" panose="020B0604020202090204"/>
                <a:ea typeface="Arial" panose="020B0604020202090204"/>
                <a:cs typeface="Arial" panose="020B0604020202090204"/>
              </a:defRPr>
            </a:lvl8pPr>
            <a:lvl9pPr algn="l">
              <a:defRPr sz="1575" b="0">
                <a:solidFill>
                  <a:srgbClr val="637279"/>
                </a:solidFill>
                <a:latin typeface="Arial" panose="020B0604020202090204"/>
                <a:ea typeface="Arial" panose="020B0604020202090204"/>
                <a:cs typeface="Arial" panose="020B0604020202090204"/>
              </a:defRPr>
            </a:lvl9pPr>
          </a:lstStyle>
          <a:p>
            <a:pPr algn="l">
              <a:lnSpc>
                <a:spcPct val="102000"/>
              </a:lnSpc>
              <a:buNone/>
              <a:defRPr sz="1575" b="0">
                <a:solidFill>
                  <a:srgbClr val="637279"/>
                </a:solidFill>
                <a:latin typeface="Arial" panose="020B0604020202090204"/>
                <a:ea typeface="Arial" panose="020B0604020202090204"/>
                <a:cs typeface="Arial" panose="020B0604020202090204"/>
              </a:defRPr>
            </a:pPr>
            <a:r>
              <a:rPr sz="1575" b="0">
                <a:solidFill>
                  <a:srgbClr val="637279"/>
                </a:solidFill>
                <a:latin typeface="Arial" panose="020B0604020202090204"/>
                <a:ea typeface="Arial" panose="020B0604020202090204"/>
                <a:cs typeface="Arial" panose="020B0604020202090204"/>
              </a:rPr>
              <a:t>Richer transitions</a:t>
            </a:r>
            <a:endParaRPr sz="1575" b="0">
              <a:solidFill>
                <a:srgbClr val="637279"/>
              </a:solidFill>
              <a:latin typeface="Arial" panose="020B0604020202090204"/>
              <a:ea typeface="Arial" panose="020B0604020202090204"/>
              <a:cs typeface="Arial" panose="020B0604020202090204"/>
            </a:endParaRPr>
          </a:p>
          <a:p>
            <a:pPr algn="l">
              <a:lnSpc>
                <a:spcPct val="102000"/>
              </a:lnSpc>
              <a:buNone/>
              <a:defRPr sz="1575" b="0">
                <a:solidFill>
                  <a:srgbClr val="637279"/>
                </a:solidFill>
                <a:latin typeface="Arial" panose="020B0604020202090204"/>
                <a:ea typeface="Arial" panose="020B0604020202090204"/>
                <a:cs typeface="Arial" panose="020B0604020202090204"/>
              </a:defRPr>
            </a:pPr>
            <a:r>
              <a:rPr sz="1575" b="0">
                <a:solidFill>
                  <a:srgbClr val="637279"/>
                </a:solidFill>
                <a:latin typeface="Arial" panose="020B0604020202090204"/>
                <a:ea typeface="Arial" panose="020B0604020202090204"/>
                <a:cs typeface="Arial" panose="020B0604020202090204"/>
              </a:rPr>
              <a:t>across scales</a:t>
            </a:r>
            <a:endParaRPr sz="1575" b="0">
              <a:solidFill>
                <a:srgbClr val="637279"/>
              </a:solidFill>
              <a:latin typeface="Arial" panose="020B0604020202090204"/>
              <a:ea typeface="Arial" panose="020B0604020202090204"/>
              <a:cs typeface="Arial" panose="020B0604020202090204"/>
            </a:endParaRPr>
          </a:p>
        </p:txBody>
      </p:sp>
      <p:sp>
        <p:nvSpPr>
          <p:cNvPr id="7" name="矩形 6"/>
          <p:cNvSpPr>
            <a:spLocks noGrp="1"/>
          </p:cNvSpPr>
          <p:nvPr/>
        </p:nvSpPr>
        <p:spPr>
          <a:xfrm>
            <a:off x="819150" y="3524250"/>
            <a:ext cx="1809750" cy="457200"/>
          </a:xfrm>
          <a:prstGeom prst="rect">
            <a:avLst/>
          </a:prstGeom>
          <a:noFill/>
          <a:ln w="0">
            <a:noFill/>
            <a:prstDash val="solid"/>
          </a:ln>
        </p:spPr>
        <p:txBody>
          <a:bodyPr wrap="square" lIns="0" tIns="0" rIns="0" bIns="0" anchor="t">
            <a:normAutofit/>
          </a:bodyPr>
          <a:lstStyle>
            <a:defPPr algn="l">
              <a:defRPr sz="2250" b="1">
                <a:solidFill>
                  <a:srgbClr val="E7684A"/>
                </a:solidFill>
                <a:latin typeface="Arial" panose="020B0604020202090204"/>
                <a:ea typeface="Arial" panose="020B0604020202090204"/>
                <a:cs typeface="Arial" panose="020B0604020202090204"/>
              </a:defRPr>
            </a:defPPr>
            <a:lvl1pPr algn="l">
              <a:defRPr sz="2250" b="1">
                <a:solidFill>
                  <a:srgbClr val="E7684A"/>
                </a:solidFill>
                <a:latin typeface="Arial" panose="020B0604020202090204"/>
                <a:ea typeface="Arial" panose="020B0604020202090204"/>
                <a:cs typeface="Arial" panose="020B0604020202090204"/>
              </a:defRPr>
            </a:lvl1pPr>
            <a:lvl2pPr algn="l">
              <a:defRPr sz="2250" b="1">
                <a:solidFill>
                  <a:srgbClr val="E7684A"/>
                </a:solidFill>
                <a:latin typeface="Arial" panose="020B0604020202090204"/>
                <a:ea typeface="Arial" panose="020B0604020202090204"/>
                <a:cs typeface="Arial" panose="020B0604020202090204"/>
              </a:defRPr>
            </a:lvl2pPr>
            <a:lvl3pPr algn="l">
              <a:defRPr sz="2250" b="1">
                <a:solidFill>
                  <a:srgbClr val="E7684A"/>
                </a:solidFill>
                <a:latin typeface="Arial" panose="020B0604020202090204"/>
                <a:ea typeface="Arial" panose="020B0604020202090204"/>
                <a:cs typeface="Arial" panose="020B0604020202090204"/>
              </a:defRPr>
            </a:lvl3pPr>
            <a:lvl4pPr algn="l">
              <a:defRPr sz="2250" b="1">
                <a:solidFill>
                  <a:srgbClr val="E7684A"/>
                </a:solidFill>
                <a:latin typeface="Arial" panose="020B0604020202090204"/>
                <a:ea typeface="Arial" panose="020B0604020202090204"/>
                <a:cs typeface="Arial" panose="020B0604020202090204"/>
              </a:defRPr>
            </a:lvl4pPr>
            <a:lvl5pPr algn="l">
              <a:defRPr sz="2250" b="1">
                <a:solidFill>
                  <a:srgbClr val="E7684A"/>
                </a:solidFill>
                <a:latin typeface="Arial" panose="020B0604020202090204"/>
                <a:ea typeface="Arial" panose="020B0604020202090204"/>
                <a:cs typeface="Arial" panose="020B0604020202090204"/>
              </a:defRPr>
            </a:lvl5pPr>
            <a:lvl6pPr algn="l">
              <a:defRPr sz="2250" b="1">
                <a:solidFill>
                  <a:srgbClr val="E7684A"/>
                </a:solidFill>
                <a:latin typeface="Arial" panose="020B0604020202090204"/>
                <a:ea typeface="Arial" panose="020B0604020202090204"/>
                <a:cs typeface="Arial" panose="020B0604020202090204"/>
              </a:defRPr>
            </a:lvl6pPr>
            <a:lvl7pPr algn="l">
              <a:defRPr sz="2250" b="1">
                <a:solidFill>
                  <a:srgbClr val="E7684A"/>
                </a:solidFill>
                <a:latin typeface="Arial" panose="020B0604020202090204"/>
                <a:ea typeface="Arial" panose="020B0604020202090204"/>
                <a:cs typeface="Arial" panose="020B0604020202090204"/>
              </a:defRPr>
            </a:lvl7pPr>
            <a:lvl8pPr algn="l">
              <a:defRPr sz="2250" b="1">
                <a:solidFill>
                  <a:srgbClr val="E7684A"/>
                </a:solidFill>
                <a:latin typeface="Arial" panose="020B0604020202090204"/>
                <a:ea typeface="Arial" panose="020B0604020202090204"/>
                <a:cs typeface="Arial" panose="020B0604020202090204"/>
              </a:defRPr>
            </a:lvl8pPr>
            <a:lvl9pPr algn="l">
              <a:defRPr sz="2250" b="1">
                <a:solidFill>
                  <a:srgbClr val="E7684A"/>
                </a:solidFill>
                <a:latin typeface="Arial" panose="020B0604020202090204"/>
                <a:ea typeface="Arial" panose="020B0604020202090204"/>
                <a:cs typeface="Arial" panose="020B0604020202090204"/>
              </a:defRPr>
            </a:lvl9pPr>
          </a:lstStyle>
          <a:p>
            <a:pPr algn="l">
              <a:lnSpc>
                <a:spcPct val="102000"/>
              </a:lnSpc>
              <a:buNone/>
              <a:defRPr sz="2250" b="1">
                <a:solidFill>
                  <a:srgbClr val="E7684A"/>
                </a:solidFill>
                <a:latin typeface="Arial" panose="020B0604020202090204"/>
                <a:ea typeface="Arial" panose="020B0604020202090204"/>
                <a:cs typeface="Arial" panose="020B0604020202090204"/>
              </a:defRPr>
            </a:pPr>
            <a:r>
              <a:rPr sz="2250" b="1">
                <a:solidFill>
                  <a:srgbClr val="E7684A"/>
                </a:solidFill>
                <a:latin typeface="Arial" panose="020B0604020202090204"/>
                <a:ea typeface="Arial" panose="020B0604020202090204"/>
                <a:cs typeface="Arial" panose="020B0604020202090204"/>
              </a:rPr>
              <a:t>LLM</a:t>
            </a:r>
            <a:endParaRPr sz="2250" b="1">
              <a:solidFill>
                <a:srgbClr val="E7684A"/>
              </a:solidFill>
              <a:latin typeface="Arial" panose="020B0604020202090204"/>
              <a:ea typeface="Arial" panose="020B0604020202090204"/>
              <a:cs typeface="Arial" panose="020B0604020202090204"/>
            </a:endParaRPr>
          </a:p>
        </p:txBody>
      </p:sp>
      <p:sp>
        <p:nvSpPr>
          <p:cNvPr id="8" name="矩形 7"/>
          <p:cNvSpPr>
            <a:spLocks noGrp="1"/>
          </p:cNvSpPr>
          <p:nvPr/>
        </p:nvSpPr>
        <p:spPr>
          <a:xfrm>
            <a:off x="819150" y="4048125"/>
            <a:ext cx="2381250" cy="714375"/>
          </a:xfrm>
          <a:prstGeom prst="rect">
            <a:avLst/>
          </a:prstGeom>
          <a:noFill/>
          <a:ln w="0">
            <a:noFill/>
            <a:prstDash val="solid"/>
          </a:ln>
        </p:spPr>
        <p:txBody>
          <a:bodyPr wrap="square" lIns="0" tIns="0" rIns="0" bIns="0" anchor="t">
            <a:normAutofit/>
          </a:bodyPr>
          <a:lstStyle>
            <a:defPPr algn="l">
              <a:defRPr sz="1575" b="0">
                <a:solidFill>
                  <a:srgbClr val="637279"/>
                </a:solidFill>
                <a:latin typeface="Arial" panose="020B0604020202090204"/>
                <a:ea typeface="Arial" panose="020B0604020202090204"/>
                <a:cs typeface="Arial" panose="020B0604020202090204"/>
              </a:defRPr>
            </a:defPPr>
            <a:lvl1pPr algn="l">
              <a:defRPr sz="1575" b="0">
                <a:solidFill>
                  <a:srgbClr val="637279"/>
                </a:solidFill>
                <a:latin typeface="Arial" panose="020B0604020202090204"/>
                <a:ea typeface="Arial" panose="020B0604020202090204"/>
                <a:cs typeface="Arial" panose="020B0604020202090204"/>
              </a:defRPr>
            </a:lvl1pPr>
            <a:lvl2pPr algn="l">
              <a:defRPr sz="1575" b="0">
                <a:solidFill>
                  <a:srgbClr val="637279"/>
                </a:solidFill>
                <a:latin typeface="Arial" panose="020B0604020202090204"/>
                <a:ea typeface="Arial" panose="020B0604020202090204"/>
                <a:cs typeface="Arial" panose="020B0604020202090204"/>
              </a:defRPr>
            </a:lvl2pPr>
            <a:lvl3pPr algn="l">
              <a:defRPr sz="1575" b="0">
                <a:solidFill>
                  <a:srgbClr val="637279"/>
                </a:solidFill>
                <a:latin typeface="Arial" panose="020B0604020202090204"/>
                <a:ea typeface="Arial" panose="020B0604020202090204"/>
                <a:cs typeface="Arial" panose="020B0604020202090204"/>
              </a:defRPr>
            </a:lvl3pPr>
            <a:lvl4pPr algn="l">
              <a:defRPr sz="1575" b="0">
                <a:solidFill>
                  <a:srgbClr val="637279"/>
                </a:solidFill>
                <a:latin typeface="Arial" panose="020B0604020202090204"/>
                <a:ea typeface="Arial" panose="020B0604020202090204"/>
                <a:cs typeface="Arial" panose="020B0604020202090204"/>
              </a:defRPr>
            </a:lvl4pPr>
            <a:lvl5pPr algn="l">
              <a:defRPr sz="1575" b="0">
                <a:solidFill>
                  <a:srgbClr val="637279"/>
                </a:solidFill>
                <a:latin typeface="Arial" panose="020B0604020202090204"/>
                <a:ea typeface="Arial" panose="020B0604020202090204"/>
                <a:cs typeface="Arial" panose="020B0604020202090204"/>
              </a:defRPr>
            </a:lvl5pPr>
            <a:lvl6pPr algn="l">
              <a:defRPr sz="1575" b="0">
                <a:solidFill>
                  <a:srgbClr val="637279"/>
                </a:solidFill>
                <a:latin typeface="Arial" panose="020B0604020202090204"/>
                <a:ea typeface="Arial" panose="020B0604020202090204"/>
                <a:cs typeface="Arial" panose="020B0604020202090204"/>
              </a:defRPr>
            </a:lvl6pPr>
            <a:lvl7pPr algn="l">
              <a:defRPr sz="1575" b="0">
                <a:solidFill>
                  <a:srgbClr val="637279"/>
                </a:solidFill>
                <a:latin typeface="Arial" panose="020B0604020202090204"/>
                <a:ea typeface="Arial" panose="020B0604020202090204"/>
                <a:cs typeface="Arial" panose="020B0604020202090204"/>
              </a:defRPr>
            </a:lvl7pPr>
            <a:lvl8pPr algn="l">
              <a:defRPr sz="1575" b="0">
                <a:solidFill>
                  <a:srgbClr val="637279"/>
                </a:solidFill>
                <a:latin typeface="Arial" panose="020B0604020202090204"/>
                <a:ea typeface="Arial" panose="020B0604020202090204"/>
                <a:cs typeface="Arial" panose="020B0604020202090204"/>
              </a:defRPr>
            </a:lvl8pPr>
            <a:lvl9pPr algn="l">
              <a:defRPr sz="1575" b="0">
                <a:solidFill>
                  <a:srgbClr val="637279"/>
                </a:solidFill>
                <a:latin typeface="Arial" panose="020B0604020202090204"/>
                <a:ea typeface="Arial" panose="020B0604020202090204"/>
                <a:cs typeface="Arial" panose="020B0604020202090204"/>
              </a:defRPr>
            </a:lvl9pPr>
          </a:lstStyle>
          <a:p>
            <a:pPr algn="l">
              <a:lnSpc>
                <a:spcPct val="102000"/>
              </a:lnSpc>
              <a:buNone/>
              <a:defRPr sz="1575" b="0">
                <a:solidFill>
                  <a:srgbClr val="637279"/>
                </a:solidFill>
                <a:latin typeface="Arial" panose="020B0604020202090204"/>
                <a:ea typeface="Arial" panose="020B0604020202090204"/>
                <a:cs typeface="Arial" panose="020B0604020202090204"/>
              </a:defRPr>
            </a:pPr>
            <a:r>
              <a:rPr sz="1575" b="0">
                <a:solidFill>
                  <a:srgbClr val="637279"/>
                </a:solidFill>
                <a:latin typeface="Arial" panose="020B0604020202090204"/>
                <a:ea typeface="Arial" panose="020B0604020202090204"/>
                <a:cs typeface="Arial" panose="020B0604020202090204"/>
              </a:rPr>
              <a:t>More concentrated</a:t>
            </a:r>
            <a:endParaRPr sz="1575" b="0">
              <a:solidFill>
                <a:srgbClr val="637279"/>
              </a:solidFill>
              <a:latin typeface="Arial" panose="020B0604020202090204"/>
              <a:ea typeface="Arial" panose="020B0604020202090204"/>
              <a:cs typeface="Arial" panose="020B0604020202090204"/>
            </a:endParaRPr>
          </a:p>
          <a:p>
            <a:pPr algn="l">
              <a:lnSpc>
                <a:spcPct val="102000"/>
              </a:lnSpc>
              <a:buNone/>
              <a:defRPr sz="1575" b="0">
                <a:solidFill>
                  <a:srgbClr val="637279"/>
                </a:solidFill>
                <a:latin typeface="Arial" panose="020B0604020202090204"/>
                <a:ea typeface="Arial" panose="020B0604020202090204"/>
                <a:cs typeface="Arial" panose="020B0604020202090204"/>
              </a:defRPr>
            </a:pPr>
            <a:r>
              <a:rPr sz="1575" b="0">
                <a:solidFill>
                  <a:srgbClr val="637279"/>
                </a:solidFill>
                <a:latin typeface="Arial" panose="020B0604020202090204"/>
                <a:ea typeface="Arial" panose="020B0604020202090204"/>
                <a:cs typeface="Arial" panose="020B0604020202090204"/>
              </a:rPr>
              <a:t>local patterns</a:t>
            </a:r>
            <a:endParaRPr sz="1575" b="0">
              <a:solidFill>
                <a:srgbClr val="63727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4333875" y="5191125"/>
            <a:ext cx="6953250" cy="476250"/>
          </a:xfrm>
          <a:prstGeom prst="rect">
            <a:avLst/>
          </a:prstGeom>
          <a:noFill/>
          <a:ln w="0">
            <a:noFill/>
            <a:prstDash val="solid"/>
          </a:ln>
        </p:spPr>
        <p:txBody>
          <a:bodyPr wrap="square" lIns="0" tIns="0" rIns="0" bIns="0" anchor="t">
            <a:normAutofit/>
          </a:bodyPr>
          <a:lstStyle>
            <a:defPPr algn="ctr">
              <a:defRPr sz="1650" b="1">
                <a:solidFill>
                  <a:srgbClr val="147A78"/>
                </a:solidFill>
                <a:latin typeface="Arial" panose="020B0604020202090204"/>
                <a:ea typeface="Arial" panose="020B0604020202090204"/>
                <a:cs typeface="Arial" panose="020B0604020202090204"/>
              </a:defRPr>
            </a:defPPr>
            <a:lvl1pPr algn="ctr">
              <a:defRPr sz="1650" b="1">
                <a:solidFill>
                  <a:srgbClr val="147A78"/>
                </a:solidFill>
                <a:latin typeface="Arial" panose="020B0604020202090204"/>
                <a:ea typeface="Arial" panose="020B0604020202090204"/>
                <a:cs typeface="Arial" panose="020B0604020202090204"/>
              </a:defRPr>
            </a:lvl1pPr>
            <a:lvl2pPr algn="ctr">
              <a:defRPr sz="1650" b="1">
                <a:solidFill>
                  <a:srgbClr val="147A78"/>
                </a:solidFill>
                <a:latin typeface="Arial" panose="020B0604020202090204"/>
                <a:ea typeface="Arial" panose="020B0604020202090204"/>
                <a:cs typeface="Arial" panose="020B0604020202090204"/>
              </a:defRPr>
            </a:lvl2pPr>
            <a:lvl3pPr algn="ctr">
              <a:defRPr sz="1650" b="1">
                <a:solidFill>
                  <a:srgbClr val="147A78"/>
                </a:solidFill>
                <a:latin typeface="Arial" panose="020B0604020202090204"/>
                <a:ea typeface="Arial" panose="020B0604020202090204"/>
                <a:cs typeface="Arial" panose="020B0604020202090204"/>
              </a:defRPr>
            </a:lvl3pPr>
            <a:lvl4pPr algn="ctr">
              <a:defRPr sz="1650" b="1">
                <a:solidFill>
                  <a:srgbClr val="147A78"/>
                </a:solidFill>
                <a:latin typeface="Arial" panose="020B0604020202090204"/>
                <a:ea typeface="Arial" panose="020B0604020202090204"/>
                <a:cs typeface="Arial" panose="020B0604020202090204"/>
              </a:defRPr>
            </a:lvl4pPr>
            <a:lvl5pPr algn="ctr">
              <a:defRPr sz="1650" b="1">
                <a:solidFill>
                  <a:srgbClr val="147A78"/>
                </a:solidFill>
                <a:latin typeface="Arial" panose="020B0604020202090204"/>
                <a:ea typeface="Arial" panose="020B0604020202090204"/>
                <a:cs typeface="Arial" panose="020B0604020202090204"/>
              </a:defRPr>
            </a:lvl5pPr>
            <a:lvl6pPr algn="ctr">
              <a:defRPr sz="1650" b="1">
                <a:solidFill>
                  <a:srgbClr val="147A78"/>
                </a:solidFill>
                <a:latin typeface="Arial" panose="020B0604020202090204"/>
                <a:ea typeface="Arial" panose="020B0604020202090204"/>
                <a:cs typeface="Arial" panose="020B0604020202090204"/>
              </a:defRPr>
            </a:lvl6pPr>
            <a:lvl7pPr algn="ctr">
              <a:defRPr sz="1650" b="1">
                <a:solidFill>
                  <a:srgbClr val="147A78"/>
                </a:solidFill>
                <a:latin typeface="Arial" panose="020B0604020202090204"/>
                <a:ea typeface="Arial" panose="020B0604020202090204"/>
                <a:cs typeface="Arial" panose="020B0604020202090204"/>
              </a:defRPr>
            </a:lvl7pPr>
            <a:lvl8pPr algn="ctr">
              <a:defRPr sz="1650" b="1">
                <a:solidFill>
                  <a:srgbClr val="147A78"/>
                </a:solidFill>
                <a:latin typeface="Arial" panose="020B0604020202090204"/>
                <a:ea typeface="Arial" panose="020B0604020202090204"/>
                <a:cs typeface="Arial" panose="020B0604020202090204"/>
              </a:defRPr>
            </a:lvl8pPr>
            <a:lvl9pPr algn="ctr">
              <a:defRPr sz="1650" b="1">
                <a:solidFill>
                  <a:srgbClr val="147A78"/>
                </a:solidFill>
                <a:latin typeface="Arial" panose="020B0604020202090204"/>
                <a:ea typeface="Arial" panose="020B0604020202090204"/>
                <a:cs typeface="Arial" panose="020B0604020202090204"/>
              </a:defRPr>
            </a:lvl9pPr>
          </a:lstStyle>
          <a:p>
            <a:pPr algn="ctr">
              <a:lnSpc>
                <a:spcPct val="102000"/>
              </a:lnSpc>
              <a:buNone/>
              <a:defRPr sz="1650" b="1">
                <a:solidFill>
                  <a:srgbClr val="147A78"/>
                </a:solidFill>
                <a:latin typeface="Arial" panose="020B0604020202090204"/>
                <a:ea typeface="Arial" panose="020B0604020202090204"/>
                <a:cs typeface="Arial" panose="020B0604020202090204"/>
              </a:defRPr>
            </a:pPr>
            <a:r>
              <a:rPr sz="1650" b="1">
                <a:solidFill>
                  <a:srgbClr val="147A78"/>
                </a:solidFill>
                <a:latin typeface="Arial" panose="020B0604020202090204"/>
                <a:ea typeface="Arial" panose="020B0604020202090204"/>
                <a:cs typeface="Arial" panose="020B0604020202090204"/>
              </a:rPr>
              <a:t>Human DE curves are consistently higher in these six examples.</a:t>
            </a:r>
            <a:endParaRPr sz="1650" b="1">
              <a:solidFill>
                <a:srgbClr val="147A78"/>
              </a:solidFill>
              <a:latin typeface="Arial" panose="020B0604020202090204"/>
              <a:ea typeface="Arial" panose="020B0604020202090204"/>
              <a:cs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4" name="矩形 13"/>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Lastde score</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0</a:t>
            </a:r>
            <a:r>
              <a:rPr lang="en-US" sz="1125" b="1">
                <a:solidFill>
                  <a:srgbClr val="637279"/>
                </a:solidFill>
                <a:latin typeface="Arial" panose="020B0604020202090204"/>
                <a:ea typeface="Arial" panose="020B0604020202090204"/>
                <a:cs typeface="Arial" panose="020B0604020202090204"/>
              </a:rPr>
              <a:t>9</a:t>
            </a:r>
            <a:endParaRPr lang="en-US" sz="1125" b="1">
              <a:solidFill>
                <a:srgbClr val="637279"/>
              </a:solidFill>
              <a:latin typeface="Arial" panose="020B0604020202090204"/>
              <a:ea typeface="Arial" panose="020B0604020202090204"/>
              <a:cs typeface="Arial" panose="020B0604020202090204"/>
            </a:endParaRPr>
          </a:p>
        </p:txBody>
      </p:sp>
      <p:sp>
        <p:nvSpPr>
          <p:cNvPr id="5" name="矩形 4"/>
          <p:cNvSpPr>
            <a:spLocks noGrp="1"/>
          </p:cNvSpPr>
          <p:nvPr/>
        </p:nvSpPr>
        <p:spPr>
          <a:xfrm>
            <a:off x="826135" y="1525905"/>
            <a:ext cx="66675" cy="1428750"/>
          </a:xfrm>
          <a:prstGeom prst="rect">
            <a:avLst/>
          </a:prstGeom>
          <a:solidFill>
            <a:srgbClr val="E7684A"/>
          </a:solidFill>
          <a:ln w="0">
            <a:solidFill>
              <a:srgbClr val="E7684A"/>
            </a:solidFill>
            <a:prstDash val="solid"/>
          </a:ln>
        </p:spPr>
      </p:sp>
      <p:sp>
        <p:nvSpPr>
          <p:cNvPr id="6" name="矩形 5"/>
          <p:cNvSpPr>
            <a:spLocks noGrp="1"/>
          </p:cNvSpPr>
          <p:nvPr/>
        </p:nvSpPr>
        <p:spPr>
          <a:xfrm>
            <a:off x="1035685" y="1640205"/>
            <a:ext cx="3733800" cy="323850"/>
          </a:xfrm>
          <a:prstGeom prst="rect">
            <a:avLst/>
          </a:prstGeom>
          <a:noFill/>
          <a:ln w="0">
            <a:noFill/>
            <a:prstDash val="solid"/>
          </a:ln>
        </p:spPr>
        <p:txBody>
          <a:bodyPr wrap="square" lIns="0" tIns="0" rIns="0" bIns="0" anchor="t">
            <a:normAutofit/>
          </a:bodyPr>
          <a:lstStyle>
            <a:defPPr algn="l">
              <a:defRPr sz="1575" b="1">
                <a:solidFill>
                  <a:srgbClr val="E7684A"/>
                </a:solidFill>
                <a:latin typeface="Arial" panose="020B0604020202090204"/>
                <a:ea typeface="Arial" panose="020B0604020202090204"/>
                <a:cs typeface="Arial" panose="020B0604020202090204"/>
              </a:defRPr>
            </a:defPPr>
            <a:lvl1pPr algn="l">
              <a:defRPr sz="1575" b="1">
                <a:solidFill>
                  <a:srgbClr val="E7684A"/>
                </a:solidFill>
                <a:latin typeface="Arial" panose="020B0604020202090204"/>
                <a:ea typeface="Arial" panose="020B0604020202090204"/>
                <a:cs typeface="Arial" panose="020B0604020202090204"/>
              </a:defRPr>
            </a:lvl1pPr>
            <a:lvl2pPr algn="l">
              <a:defRPr sz="1575" b="1">
                <a:solidFill>
                  <a:srgbClr val="E7684A"/>
                </a:solidFill>
                <a:latin typeface="Arial" panose="020B0604020202090204"/>
                <a:ea typeface="Arial" panose="020B0604020202090204"/>
                <a:cs typeface="Arial" panose="020B0604020202090204"/>
              </a:defRPr>
            </a:lvl2pPr>
            <a:lvl3pPr algn="l">
              <a:defRPr sz="1575" b="1">
                <a:solidFill>
                  <a:srgbClr val="E7684A"/>
                </a:solidFill>
                <a:latin typeface="Arial" panose="020B0604020202090204"/>
                <a:ea typeface="Arial" panose="020B0604020202090204"/>
                <a:cs typeface="Arial" panose="020B0604020202090204"/>
              </a:defRPr>
            </a:lvl3pPr>
            <a:lvl4pPr algn="l">
              <a:defRPr sz="1575" b="1">
                <a:solidFill>
                  <a:srgbClr val="E7684A"/>
                </a:solidFill>
                <a:latin typeface="Arial" panose="020B0604020202090204"/>
                <a:ea typeface="Arial" panose="020B0604020202090204"/>
                <a:cs typeface="Arial" panose="020B0604020202090204"/>
              </a:defRPr>
            </a:lvl4pPr>
            <a:lvl5pPr algn="l">
              <a:defRPr sz="1575" b="1">
                <a:solidFill>
                  <a:srgbClr val="E7684A"/>
                </a:solidFill>
                <a:latin typeface="Arial" panose="020B0604020202090204"/>
                <a:ea typeface="Arial" panose="020B0604020202090204"/>
                <a:cs typeface="Arial" panose="020B0604020202090204"/>
              </a:defRPr>
            </a:lvl5pPr>
            <a:lvl6pPr algn="l">
              <a:defRPr sz="1575" b="1">
                <a:solidFill>
                  <a:srgbClr val="E7684A"/>
                </a:solidFill>
                <a:latin typeface="Arial" panose="020B0604020202090204"/>
                <a:ea typeface="Arial" panose="020B0604020202090204"/>
                <a:cs typeface="Arial" panose="020B0604020202090204"/>
              </a:defRPr>
            </a:lvl6pPr>
            <a:lvl7pPr algn="l">
              <a:defRPr sz="1575" b="1">
                <a:solidFill>
                  <a:srgbClr val="E7684A"/>
                </a:solidFill>
                <a:latin typeface="Arial" panose="020B0604020202090204"/>
                <a:ea typeface="Arial" panose="020B0604020202090204"/>
                <a:cs typeface="Arial" panose="020B0604020202090204"/>
              </a:defRPr>
            </a:lvl7pPr>
            <a:lvl8pPr algn="l">
              <a:defRPr sz="1575" b="1">
                <a:solidFill>
                  <a:srgbClr val="E7684A"/>
                </a:solidFill>
                <a:latin typeface="Arial" panose="020B0604020202090204"/>
                <a:ea typeface="Arial" panose="020B0604020202090204"/>
                <a:cs typeface="Arial" panose="020B0604020202090204"/>
              </a:defRPr>
            </a:lvl8pPr>
            <a:lvl9pPr algn="l">
              <a:defRPr sz="1575" b="1">
                <a:solidFill>
                  <a:srgbClr val="E7684A"/>
                </a:solidFill>
                <a:latin typeface="Arial" panose="020B0604020202090204"/>
                <a:ea typeface="Arial" panose="020B0604020202090204"/>
                <a:cs typeface="Arial" panose="020B0604020202090204"/>
              </a:defRPr>
            </a:lvl9pPr>
          </a:lstStyle>
          <a:p>
            <a:pPr algn="l">
              <a:lnSpc>
                <a:spcPct val="102000"/>
              </a:lnSpc>
              <a:buNone/>
              <a:defRPr sz="1575" b="1">
                <a:solidFill>
                  <a:srgbClr val="E7684A"/>
                </a:solidFill>
                <a:latin typeface="Arial" panose="020B0604020202090204"/>
                <a:ea typeface="Arial" panose="020B0604020202090204"/>
                <a:cs typeface="Arial" panose="020B0604020202090204"/>
              </a:defRPr>
            </a:pPr>
            <a:r>
              <a:rPr sz="1575" b="1">
                <a:solidFill>
                  <a:srgbClr val="E7684A"/>
                </a:solidFill>
                <a:latin typeface="Arial" panose="020B0604020202090204"/>
                <a:ea typeface="Arial" panose="020B0604020202090204"/>
                <a:cs typeface="Arial" panose="020B0604020202090204"/>
              </a:rPr>
              <a:t>Global signal</a:t>
            </a:r>
            <a:endParaRPr sz="1575" b="1">
              <a:solidFill>
                <a:srgbClr val="E7684A"/>
              </a:solidFill>
              <a:latin typeface="Arial" panose="020B0604020202090204"/>
              <a:ea typeface="Arial" panose="020B0604020202090204"/>
              <a:cs typeface="Arial" panose="020B0604020202090204"/>
            </a:endParaRPr>
          </a:p>
        </p:txBody>
      </p:sp>
      <p:sp>
        <p:nvSpPr>
          <p:cNvPr id="7" name="矩形 6"/>
          <p:cNvSpPr>
            <a:spLocks noGrp="1"/>
          </p:cNvSpPr>
          <p:nvPr/>
        </p:nvSpPr>
        <p:spPr>
          <a:xfrm>
            <a:off x="1035685" y="2040255"/>
            <a:ext cx="3714750" cy="819150"/>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Average log likelihood measures how predictable the complete text is.</a:t>
            </a:r>
            <a:endParaRPr sz="1275" b="0">
              <a:solidFill>
                <a:srgbClr val="63727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826135" y="3240405"/>
            <a:ext cx="66675" cy="1428750"/>
          </a:xfrm>
          <a:prstGeom prst="rect">
            <a:avLst/>
          </a:prstGeom>
          <a:solidFill>
            <a:srgbClr val="147A78"/>
          </a:solidFill>
          <a:ln w="0">
            <a:solidFill>
              <a:srgbClr val="147A78"/>
            </a:solidFill>
            <a:prstDash val="solid"/>
          </a:ln>
        </p:spPr>
      </p:sp>
      <p:sp>
        <p:nvSpPr>
          <p:cNvPr id="9" name="矩形 8"/>
          <p:cNvSpPr>
            <a:spLocks noGrp="1"/>
          </p:cNvSpPr>
          <p:nvPr/>
        </p:nvSpPr>
        <p:spPr>
          <a:xfrm>
            <a:off x="1035685" y="3354705"/>
            <a:ext cx="3733800" cy="323850"/>
          </a:xfrm>
          <a:prstGeom prst="rect">
            <a:avLst/>
          </a:prstGeom>
          <a:noFill/>
          <a:ln w="0">
            <a:noFill/>
            <a:prstDash val="solid"/>
          </a:ln>
        </p:spPr>
        <p:txBody>
          <a:bodyPr wrap="square" lIns="0" tIns="0" rIns="0" bIns="0" anchor="t">
            <a:normAutofit/>
          </a:bodyPr>
          <a:lstStyle>
            <a:defPPr algn="l">
              <a:defRPr sz="1575" b="1">
                <a:solidFill>
                  <a:srgbClr val="147A78"/>
                </a:solidFill>
                <a:latin typeface="Arial" panose="020B0604020202090204"/>
                <a:ea typeface="Arial" panose="020B0604020202090204"/>
                <a:cs typeface="Arial" panose="020B0604020202090204"/>
              </a:defRPr>
            </a:defPPr>
            <a:lvl1pPr algn="l">
              <a:defRPr sz="1575" b="1">
                <a:solidFill>
                  <a:srgbClr val="147A78"/>
                </a:solidFill>
                <a:latin typeface="Arial" panose="020B0604020202090204"/>
                <a:ea typeface="Arial" panose="020B0604020202090204"/>
                <a:cs typeface="Arial" panose="020B0604020202090204"/>
              </a:defRPr>
            </a:lvl1pPr>
            <a:lvl2pPr algn="l">
              <a:defRPr sz="1575" b="1">
                <a:solidFill>
                  <a:srgbClr val="147A78"/>
                </a:solidFill>
                <a:latin typeface="Arial" panose="020B0604020202090204"/>
                <a:ea typeface="Arial" panose="020B0604020202090204"/>
                <a:cs typeface="Arial" panose="020B0604020202090204"/>
              </a:defRPr>
            </a:lvl2pPr>
            <a:lvl3pPr algn="l">
              <a:defRPr sz="1575" b="1">
                <a:solidFill>
                  <a:srgbClr val="147A78"/>
                </a:solidFill>
                <a:latin typeface="Arial" panose="020B0604020202090204"/>
                <a:ea typeface="Arial" panose="020B0604020202090204"/>
                <a:cs typeface="Arial" panose="020B0604020202090204"/>
              </a:defRPr>
            </a:lvl3pPr>
            <a:lvl4pPr algn="l">
              <a:defRPr sz="1575" b="1">
                <a:solidFill>
                  <a:srgbClr val="147A78"/>
                </a:solidFill>
                <a:latin typeface="Arial" panose="020B0604020202090204"/>
                <a:ea typeface="Arial" panose="020B0604020202090204"/>
                <a:cs typeface="Arial" panose="020B0604020202090204"/>
              </a:defRPr>
            </a:lvl4pPr>
            <a:lvl5pPr algn="l">
              <a:defRPr sz="1575" b="1">
                <a:solidFill>
                  <a:srgbClr val="147A78"/>
                </a:solidFill>
                <a:latin typeface="Arial" panose="020B0604020202090204"/>
                <a:ea typeface="Arial" panose="020B0604020202090204"/>
                <a:cs typeface="Arial" panose="020B0604020202090204"/>
              </a:defRPr>
            </a:lvl5pPr>
            <a:lvl6pPr algn="l">
              <a:defRPr sz="1575" b="1">
                <a:solidFill>
                  <a:srgbClr val="147A78"/>
                </a:solidFill>
                <a:latin typeface="Arial" panose="020B0604020202090204"/>
                <a:ea typeface="Arial" panose="020B0604020202090204"/>
                <a:cs typeface="Arial" panose="020B0604020202090204"/>
              </a:defRPr>
            </a:lvl6pPr>
            <a:lvl7pPr algn="l">
              <a:defRPr sz="1575" b="1">
                <a:solidFill>
                  <a:srgbClr val="147A78"/>
                </a:solidFill>
                <a:latin typeface="Arial" panose="020B0604020202090204"/>
                <a:ea typeface="Arial" panose="020B0604020202090204"/>
                <a:cs typeface="Arial" panose="020B0604020202090204"/>
              </a:defRPr>
            </a:lvl7pPr>
            <a:lvl8pPr algn="l">
              <a:defRPr sz="1575" b="1">
                <a:solidFill>
                  <a:srgbClr val="147A78"/>
                </a:solidFill>
                <a:latin typeface="Arial" panose="020B0604020202090204"/>
                <a:ea typeface="Arial" panose="020B0604020202090204"/>
                <a:cs typeface="Arial" panose="020B0604020202090204"/>
              </a:defRPr>
            </a:lvl8pPr>
            <a:lvl9pPr algn="l">
              <a:defRPr sz="1575" b="1">
                <a:solidFill>
                  <a:srgbClr val="147A78"/>
                </a:solidFill>
                <a:latin typeface="Arial" panose="020B0604020202090204"/>
                <a:ea typeface="Arial" panose="020B0604020202090204"/>
                <a:cs typeface="Arial" panose="020B0604020202090204"/>
              </a:defRPr>
            </a:lvl9pPr>
          </a:lstStyle>
          <a:p>
            <a:pPr algn="l">
              <a:lnSpc>
                <a:spcPct val="102000"/>
              </a:lnSpc>
              <a:buNone/>
              <a:defRPr sz="1575" b="1">
                <a:solidFill>
                  <a:srgbClr val="147A78"/>
                </a:solidFill>
                <a:latin typeface="Arial" panose="020B0604020202090204"/>
                <a:ea typeface="Arial" panose="020B0604020202090204"/>
                <a:cs typeface="Arial" panose="020B0604020202090204"/>
              </a:defRPr>
            </a:pPr>
            <a:r>
              <a:rPr sz="1575" b="1">
                <a:solidFill>
                  <a:srgbClr val="147A78"/>
                </a:solidFill>
                <a:latin typeface="Arial" panose="020B0604020202090204"/>
                <a:ea typeface="Arial" panose="020B0604020202090204"/>
                <a:cs typeface="Arial" panose="020B0604020202090204"/>
              </a:rPr>
              <a:t>Local signal</a:t>
            </a:r>
            <a:endParaRPr sz="1575" b="1">
              <a:solidFill>
                <a:srgbClr val="147A78"/>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1035685" y="3754755"/>
            <a:ext cx="3714750" cy="819150"/>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The standard deviation of MDE summarizes dynamics across scales.</a:t>
            </a:r>
            <a:endParaRPr sz="1275" b="0">
              <a:solidFill>
                <a:srgbClr val="637279"/>
              </a:solidFill>
              <a:latin typeface="Arial" panose="020B0604020202090204"/>
              <a:ea typeface="Arial" panose="020B0604020202090204"/>
              <a:cs typeface="Arial" panose="020B0604020202090204"/>
            </a:endParaRPr>
          </a:p>
        </p:txBody>
      </p:sp>
      <p:pic>
        <p:nvPicPr>
          <p:cNvPr id="11" name="图片 10"/>
          <p:cNvPicPr>
            <a:picLocks noChangeAspect="1"/>
          </p:cNvPicPr>
          <p:nvPr/>
        </p:nvPicPr>
        <p:blipFill>
          <a:blip r:embed="rId1"/>
          <a:stretch>
            <a:fillRect/>
          </a:stretch>
        </p:blipFill>
        <p:spPr>
          <a:xfrm>
            <a:off x="5160010" y="1844397"/>
            <a:ext cx="6191250" cy="1934766"/>
          </a:xfrm>
          <a:prstGeom prst="rect">
            <a:avLst/>
          </a:prstGeom>
        </p:spPr>
      </p:pic>
      <p:sp>
        <p:nvSpPr>
          <p:cNvPr id="12" name="矩形 11"/>
          <p:cNvSpPr>
            <a:spLocks noGrp="1"/>
          </p:cNvSpPr>
          <p:nvPr/>
        </p:nvSpPr>
        <p:spPr>
          <a:xfrm>
            <a:off x="5207635" y="4335780"/>
            <a:ext cx="6096000" cy="495300"/>
          </a:xfrm>
          <a:prstGeom prst="rect">
            <a:avLst/>
          </a:prstGeom>
          <a:noFill/>
          <a:ln w="0">
            <a:noFill/>
            <a:prstDash val="solid"/>
          </a:ln>
        </p:spPr>
        <p:txBody>
          <a:bodyPr wrap="square" lIns="0" tIns="0" rIns="0" bIns="0" anchor="t">
            <a:normAutofit/>
          </a:bodyPr>
          <a:lstStyle>
            <a:defPPr algn="ctr">
              <a:defRPr sz="1575" b="1">
                <a:solidFill>
                  <a:srgbClr val="147A78"/>
                </a:solidFill>
                <a:latin typeface="Arial" panose="020B0604020202090204"/>
                <a:ea typeface="Arial" panose="020B0604020202090204"/>
                <a:cs typeface="Arial" panose="020B0604020202090204"/>
              </a:defRPr>
            </a:defPPr>
            <a:lvl1pPr algn="ctr">
              <a:defRPr sz="1575" b="1">
                <a:solidFill>
                  <a:srgbClr val="147A78"/>
                </a:solidFill>
                <a:latin typeface="Arial" panose="020B0604020202090204"/>
                <a:ea typeface="Arial" panose="020B0604020202090204"/>
                <a:cs typeface="Arial" panose="020B0604020202090204"/>
              </a:defRPr>
            </a:lvl1pPr>
            <a:lvl2pPr algn="ctr">
              <a:defRPr sz="1575" b="1">
                <a:solidFill>
                  <a:srgbClr val="147A78"/>
                </a:solidFill>
                <a:latin typeface="Arial" panose="020B0604020202090204"/>
                <a:ea typeface="Arial" panose="020B0604020202090204"/>
                <a:cs typeface="Arial" panose="020B0604020202090204"/>
              </a:defRPr>
            </a:lvl2pPr>
            <a:lvl3pPr algn="ctr">
              <a:defRPr sz="1575" b="1">
                <a:solidFill>
                  <a:srgbClr val="147A78"/>
                </a:solidFill>
                <a:latin typeface="Arial" panose="020B0604020202090204"/>
                <a:ea typeface="Arial" panose="020B0604020202090204"/>
                <a:cs typeface="Arial" panose="020B0604020202090204"/>
              </a:defRPr>
            </a:lvl3pPr>
            <a:lvl4pPr algn="ctr">
              <a:defRPr sz="1575" b="1">
                <a:solidFill>
                  <a:srgbClr val="147A78"/>
                </a:solidFill>
                <a:latin typeface="Arial" panose="020B0604020202090204"/>
                <a:ea typeface="Arial" panose="020B0604020202090204"/>
                <a:cs typeface="Arial" panose="020B0604020202090204"/>
              </a:defRPr>
            </a:lvl4pPr>
            <a:lvl5pPr algn="ctr">
              <a:defRPr sz="1575" b="1">
                <a:solidFill>
                  <a:srgbClr val="147A78"/>
                </a:solidFill>
                <a:latin typeface="Arial" panose="020B0604020202090204"/>
                <a:ea typeface="Arial" panose="020B0604020202090204"/>
                <a:cs typeface="Arial" panose="020B0604020202090204"/>
              </a:defRPr>
            </a:lvl5pPr>
            <a:lvl6pPr algn="ctr">
              <a:defRPr sz="1575" b="1">
                <a:solidFill>
                  <a:srgbClr val="147A78"/>
                </a:solidFill>
                <a:latin typeface="Arial" panose="020B0604020202090204"/>
                <a:ea typeface="Arial" panose="020B0604020202090204"/>
                <a:cs typeface="Arial" panose="020B0604020202090204"/>
              </a:defRPr>
            </a:lvl6pPr>
            <a:lvl7pPr algn="ctr">
              <a:defRPr sz="1575" b="1">
                <a:solidFill>
                  <a:srgbClr val="147A78"/>
                </a:solidFill>
                <a:latin typeface="Arial" panose="020B0604020202090204"/>
                <a:ea typeface="Arial" panose="020B0604020202090204"/>
                <a:cs typeface="Arial" panose="020B0604020202090204"/>
              </a:defRPr>
            </a:lvl7pPr>
            <a:lvl8pPr algn="ctr">
              <a:defRPr sz="1575" b="1">
                <a:solidFill>
                  <a:srgbClr val="147A78"/>
                </a:solidFill>
                <a:latin typeface="Arial" panose="020B0604020202090204"/>
                <a:ea typeface="Arial" panose="020B0604020202090204"/>
                <a:cs typeface="Arial" panose="020B0604020202090204"/>
              </a:defRPr>
            </a:lvl8pPr>
            <a:lvl9pPr algn="ctr">
              <a:defRPr sz="1575" b="1">
                <a:solidFill>
                  <a:srgbClr val="147A78"/>
                </a:solidFill>
                <a:latin typeface="Arial" panose="020B0604020202090204"/>
                <a:ea typeface="Arial" panose="020B0604020202090204"/>
                <a:cs typeface="Arial" panose="020B0604020202090204"/>
              </a:defRPr>
            </a:lvl9pPr>
          </a:lstStyle>
          <a:p>
            <a:pPr algn="ctr">
              <a:lnSpc>
                <a:spcPct val="102000"/>
              </a:lnSpc>
              <a:buNone/>
              <a:defRPr sz="1575" b="1">
                <a:solidFill>
                  <a:srgbClr val="147A78"/>
                </a:solidFill>
                <a:latin typeface="Arial" panose="020B0604020202090204"/>
                <a:ea typeface="Arial" panose="020B0604020202090204"/>
                <a:cs typeface="Arial" panose="020B0604020202090204"/>
              </a:defRPr>
            </a:pPr>
            <a:r>
              <a:rPr sz="1575" b="1">
                <a:solidFill>
                  <a:srgbClr val="147A78"/>
                </a:solidFill>
                <a:latin typeface="Arial" panose="020B0604020202090204"/>
                <a:ea typeface="Arial" panose="020B0604020202090204"/>
                <a:cs typeface="Arial" panose="020B0604020202090204"/>
              </a:rPr>
              <a:t>The combined score separates the distributions more clearly.</a:t>
            </a:r>
            <a:endParaRPr sz="1575" b="1">
              <a:solidFill>
                <a:srgbClr val="147A78"/>
              </a:solidFill>
              <a:latin typeface="Arial" panose="020B0604020202090204"/>
              <a:ea typeface="Arial" panose="020B0604020202090204"/>
              <a:cs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3" name="矩形 12"/>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Lastde++ score normalization</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1</a:t>
            </a:r>
            <a:r>
              <a:rPr lang="en-US" sz="1125" b="1">
                <a:solidFill>
                  <a:srgbClr val="637279"/>
                </a:solidFill>
                <a:latin typeface="Arial" panose="020B0604020202090204"/>
                <a:ea typeface="Arial" panose="020B0604020202090204"/>
                <a:cs typeface="Arial" panose="020B0604020202090204"/>
              </a:rPr>
              <a:t>0</a:t>
            </a:r>
            <a:endParaRPr lang="en-US" sz="1125" b="1">
              <a:solidFill>
                <a:srgbClr val="637279"/>
              </a:solidFill>
              <a:latin typeface="Arial" panose="020B0604020202090204"/>
              <a:ea typeface="Arial" panose="020B0604020202090204"/>
              <a:cs typeface="Arial" panose="020B0604020202090204"/>
            </a:endParaRPr>
          </a:p>
        </p:txBody>
      </p:sp>
      <p:sp>
        <p:nvSpPr>
          <p:cNvPr id="5" name="矩形 4"/>
          <p:cNvSpPr>
            <a:spLocks noGrp="1"/>
          </p:cNvSpPr>
          <p:nvPr/>
        </p:nvSpPr>
        <p:spPr>
          <a:xfrm>
            <a:off x="781050" y="2667000"/>
            <a:ext cx="5715000" cy="2238375"/>
          </a:xfrm>
          <a:prstGeom prst="rect">
            <a:avLst/>
          </a:prstGeom>
          <a:noFill/>
          <a:ln w="0">
            <a:noFill/>
            <a:prstDash val="solid"/>
          </a:ln>
        </p:spPr>
        <p:txBody>
          <a:bodyPr wrap="square" lIns="0" tIns="0" rIns="0" bIns="0" anchor="t">
            <a:normAutofit/>
          </a:bodyPr>
          <a:lstStyle>
            <a:defPPr algn="l">
              <a:defRPr sz="1650" b="0">
                <a:solidFill>
                  <a:srgbClr val="182226"/>
                </a:solidFill>
                <a:latin typeface="Arial" panose="020B0604020202090204"/>
                <a:ea typeface="Arial" panose="020B0604020202090204"/>
                <a:cs typeface="Arial" panose="020B0604020202090204"/>
              </a:defRPr>
            </a:defPPr>
            <a:lvl1pPr algn="l">
              <a:defRPr sz="1650" b="0">
                <a:solidFill>
                  <a:srgbClr val="182226"/>
                </a:solidFill>
                <a:latin typeface="Arial" panose="020B0604020202090204"/>
                <a:ea typeface="Arial" panose="020B0604020202090204"/>
                <a:cs typeface="Arial" panose="020B0604020202090204"/>
              </a:defRPr>
            </a:lvl1pPr>
            <a:lvl2pPr algn="l">
              <a:defRPr sz="1650" b="0">
                <a:solidFill>
                  <a:srgbClr val="182226"/>
                </a:solidFill>
                <a:latin typeface="Arial" panose="020B0604020202090204"/>
                <a:ea typeface="Arial" panose="020B0604020202090204"/>
                <a:cs typeface="Arial" panose="020B0604020202090204"/>
              </a:defRPr>
            </a:lvl2pPr>
            <a:lvl3pPr algn="l">
              <a:defRPr sz="1650" b="0">
                <a:solidFill>
                  <a:srgbClr val="182226"/>
                </a:solidFill>
                <a:latin typeface="Arial" panose="020B0604020202090204"/>
                <a:ea typeface="Arial" panose="020B0604020202090204"/>
                <a:cs typeface="Arial" panose="020B0604020202090204"/>
              </a:defRPr>
            </a:lvl3pPr>
            <a:lvl4pPr algn="l">
              <a:defRPr sz="1650" b="0">
                <a:solidFill>
                  <a:srgbClr val="182226"/>
                </a:solidFill>
                <a:latin typeface="Arial" panose="020B0604020202090204"/>
                <a:ea typeface="Arial" panose="020B0604020202090204"/>
                <a:cs typeface="Arial" panose="020B0604020202090204"/>
              </a:defRPr>
            </a:lvl4pPr>
            <a:lvl5pPr algn="l">
              <a:defRPr sz="1650" b="0">
                <a:solidFill>
                  <a:srgbClr val="182226"/>
                </a:solidFill>
                <a:latin typeface="Arial" panose="020B0604020202090204"/>
                <a:ea typeface="Arial" panose="020B0604020202090204"/>
                <a:cs typeface="Arial" panose="020B0604020202090204"/>
              </a:defRPr>
            </a:lvl5pPr>
            <a:lvl6pPr algn="l">
              <a:defRPr sz="1650" b="0">
                <a:solidFill>
                  <a:srgbClr val="182226"/>
                </a:solidFill>
                <a:latin typeface="Arial" panose="020B0604020202090204"/>
                <a:ea typeface="Arial" panose="020B0604020202090204"/>
                <a:cs typeface="Arial" panose="020B0604020202090204"/>
              </a:defRPr>
            </a:lvl6pPr>
            <a:lvl7pPr algn="l">
              <a:defRPr sz="1650" b="0">
                <a:solidFill>
                  <a:srgbClr val="182226"/>
                </a:solidFill>
                <a:latin typeface="Arial" panose="020B0604020202090204"/>
                <a:ea typeface="Arial" panose="020B0604020202090204"/>
                <a:cs typeface="Arial" panose="020B0604020202090204"/>
              </a:defRPr>
            </a:lvl7pPr>
            <a:lvl8pPr algn="l">
              <a:defRPr sz="1650" b="0">
                <a:solidFill>
                  <a:srgbClr val="182226"/>
                </a:solidFill>
                <a:latin typeface="Arial" panose="020B0604020202090204"/>
                <a:ea typeface="Arial" panose="020B0604020202090204"/>
                <a:cs typeface="Arial" panose="020B0604020202090204"/>
              </a:defRPr>
            </a:lvl8pPr>
            <a:lvl9pPr algn="l">
              <a:defRPr sz="1650" b="0">
                <a:solidFill>
                  <a:srgbClr val="182226"/>
                </a:solidFill>
                <a:latin typeface="Arial" panose="020B0604020202090204"/>
                <a:ea typeface="Arial" panose="020B0604020202090204"/>
                <a:cs typeface="Arial" panose="020B0604020202090204"/>
              </a:defRPr>
            </a:lvl9pPr>
          </a:lstStyle>
          <a:p>
            <a:pPr marL="228600" indent="-114300" algn="l">
              <a:lnSpc>
                <a:spcPct val="104000"/>
              </a:lnSpc>
              <a:spcAft>
                <a:spcPts val="900"/>
              </a:spcAft>
              <a:buNone/>
              <a:defRPr sz="1650" b="0">
                <a:solidFill>
                  <a:srgbClr val="182226"/>
                </a:solidFill>
                <a:latin typeface="Arial" panose="020B0604020202090204"/>
                <a:ea typeface="Arial" panose="020B0604020202090204"/>
                <a:cs typeface="Arial" panose="020B0604020202090204"/>
              </a:defRPr>
            </a:pPr>
            <a:r>
              <a:rPr sz="1650">
                <a:solidFill>
                  <a:srgbClr val="182226"/>
                </a:solidFill>
                <a:latin typeface="Arial" panose="020B0604020202090204"/>
                <a:ea typeface="Arial" panose="020B0604020202090204"/>
                <a:cs typeface="Arial" panose="020B0604020202090204"/>
              </a:rPr>
              <a:t>Generate conditional samples with the scoring model.</a:t>
            </a:r>
            <a:endParaRPr sz="1650">
              <a:solidFill>
                <a:srgbClr val="182226"/>
              </a:solidFill>
              <a:latin typeface="Arial" panose="020B0604020202090204"/>
              <a:ea typeface="Arial" panose="020B0604020202090204"/>
              <a:cs typeface="Arial" panose="020B0604020202090204"/>
            </a:endParaRPr>
          </a:p>
          <a:p>
            <a:pPr marL="228600" indent="-114300" algn="l">
              <a:lnSpc>
                <a:spcPct val="104000"/>
              </a:lnSpc>
              <a:spcAft>
                <a:spcPts val="900"/>
              </a:spcAft>
              <a:buNone/>
              <a:defRPr sz="1650" b="0">
                <a:solidFill>
                  <a:srgbClr val="182226"/>
                </a:solidFill>
                <a:latin typeface="Arial" panose="020B0604020202090204"/>
                <a:ea typeface="Arial" panose="020B0604020202090204"/>
                <a:cs typeface="Arial" panose="020B0604020202090204"/>
              </a:defRPr>
            </a:pPr>
            <a:r>
              <a:rPr sz="1650">
                <a:solidFill>
                  <a:srgbClr val="182226"/>
                </a:solidFill>
                <a:latin typeface="Arial" panose="020B0604020202090204"/>
                <a:ea typeface="Arial" panose="020B0604020202090204"/>
                <a:cs typeface="Arial" panose="020B0604020202090204"/>
              </a:rPr>
              <a:t>Estimate the mean and standard deviation of sample scores.</a:t>
            </a:r>
            <a:endParaRPr sz="1650">
              <a:solidFill>
                <a:srgbClr val="182226"/>
              </a:solidFill>
              <a:latin typeface="Arial" panose="020B0604020202090204"/>
              <a:ea typeface="Arial" panose="020B0604020202090204"/>
              <a:cs typeface="Arial" panose="020B0604020202090204"/>
            </a:endParaRPr>
          </a:p>
          <a:p>
            <a:pPr marL="228600" indent="-114300" algn="l">
              <a:lnSpc>
                <a:spcPct val="104000"/>
              </a:lnSpc>
              <a:spcAft>
                <a:spcPts val="900"/>
              </a:spcAft>
              <a:buNone/>
              <a:defRPr sz="1650" b="0">
                <a:solidFill>
                  <a:srgbClr val="182226"/>
                </a:solidFill>
                <a:latin typeface="Arial" panose="020B0604020202090204"/>
                <a:ea typeface="Arial" panose="020B0604020202090204"/>
                <a:cs typeface="Arial" panose="020B0604020202090204"/>
              </a:defRPr>
            </a:pPr>
            <a:r>
              <a:rPr sz="1650">
                <a:solidFill>
                  <a:srgbClr val="182226"/>
                </a:solidFill>
                <a:latin typeface="Arial" panose="020B0604020202090204"/>
                <a:ea typeface="Arial" panose="020B0604020202090204"/>
                <a:cs typeface="Arial" panose="020B0604020202090204"/>
              </a:rPr>
              <a:t>Standardize the candidate score against this reference distribution.</a:t>
            </a:r>
            <a:endParaRPr sz="1650">
              <a:solidFill>
                <a:srgbClr val="182226"/>
              </a:solidFill>
              <a:latin typeface="Arial" panose="020B0604020202090204"/>
              <a:ea typeface="Arial" panose="020B0604020202090204"/>
              <a:cs typeface="Arial" panose="020B0604020202090204"/>
            </a:endParaRPr>
          </a:p>
        </p:txBody>
      </p:sp>
      <p:sp>
        <p:nvSpPr>
          <p:cNvPr id="6" name="矩形 5"/>
          <p:cNvSpPr>
            <a:spLocks noGrp="1"/>
          </p:cNvSpPr>
          <p:nvPr/>
        </p:nvSpPr>
        <p:spPr>
          <a:xfrm>
            <a:off x="7620000" y="1524000"/>
            <a:ext cx="1619250" cy="857250"/>
          </a:xfrm>
          <a:prstGeom prst="rect">
            <a:avLst/>
          </a:prstGeom>
          <a:noFill/>
          <a:ln w="0">
            <a:noFill/>
            <a:prstDash val="solid"/>
          </a:ln>
        </p:spPr>
        <p:txBody>
          <a:bodyPr wrap="square" lIns="0" tIns="0" rIns="0" bIns="0" anchor="t">
            <a:normAutofit/>
          </a:bodyPr>
          <a:lstStyle>
            <a:defPPr algn="ctr">
              <a:defRPr sz="4800" b="1">
                <a:solidFill>
                  <a:srgbClr val="E7684A"/>
                </a:solidFill>
                <a:latin typeface="Arial" panose="020B0604020202090204"/>
                <a:ea typeface="Arial" panose="020B0604020202090204"/>
                <a:cs typeface="Arial" panose="020B0604020202090204"/>
              </a:defRPr>
            </a:defPPr>
            <a:lvl1pPr algn="ctr">
              <a:defRPr sz="4800" b="1">
                <a:solidFill>
                  <a:srgbClr val="E7684A"/>
                </a:solidFill>
                <a:latin typeface="Arial" panose="020B0604020202090204"/>
                <a:ea typeface="Arial" panose="020B0604020202090204"/>
                <a:cs typeface="Arial" panose="020B0604020202090204"/>
              </a:defRPr>
            </a:lvl1pPr>
            <a:lvl2pPr algn="ctr">
              <a:defRPr sz="4800" b="1">
                <a:solidFill>
                  <a:srgbClr val="E7684A"/>
                </a:solidFill>
                <a:latin typeface="Arial" panose="020B0604020202090204"/>
                <a:ea typeface="Arial" panose="020B0604020202090204"/>
                <a:cs typeface="Arial" panose="020B0604020202090204"/>
              </a:defRPr>
            </a:lvl2pPr>
            <a:lvl3pPr algn="ctr">
              <a:defRPr sz="4800" b="1">
                <a:solidFill>
                  <a:srgbClr val="E7684A"/>
                </a:solidFill>
                <a:latin typeface="Arial" panose="020B0604020202090204"/>
                <a:ea typeface="Arial" panose="020B0604020202090204"/>
                <a:cs typeface="Arial" panose="020B0604020202090204"/>
              </a:defRPr>
            </a:lvl3pPr>
            <a:lvl4pPr algn="ctr">
              <a:defRPr sz="4800" b="1">
                <a:solidFill>
                  <a:srgbClr val="E7684A"/>
                </a:solidFill>
                <a:latin typeface="Arial" panose="020B0604020202090204"/>
                <a:ea typeface="Arial" panose="020B0604020202090204"/>
                <a:cs typeface="Arial" panose="020B0604020202090204"/>
              </a:defRPr>
            </a:lvl4pPr>
            <a:lvl5pPr algn="ctr">
              <a:defRPr sz="4800" b="1">
                <a:solidFill>
                  <a:srgbClr val="E7684A"/>
                </a:solidFill>
                <a:latin typeface="Arial" panose="020B0604020202090204"/>
                <a:ea typeface="Arial" panose="020B0604020202090204"/>
                <a:cs typeface="Arial" panose="020B0604020202090204"/>
              </a:defRPr>
            </a:lvl5pPr>
            <a:lvl6pPr algn="ctr">
              <a:defRPr sz="4800" b="1">
                <a:solidFill>
                  <a:srgbClr val="E7684A"/>
                </a:solidFill>
                <a:latin typeface="Arial" panose="020B0604020202090204"/>
                <a:ea typeface="Arial" panose="020B0604020202090204"/>
                <a:cs typeface="Arial" panose="020B0604020202090204"/>
              </a:defRPr>
            </a:lvl6pPr>
            <a:lvl7pPr algn="ctr">
              <a:defRPr sz="4800" b="1">
                <a:solidFill>
                  <a:srgbClr val="E7684A"/>
                </a:solidFill>
                <a:latin typeface="Arial" panose="020B0604020202090204"/>
                <a:ea typeface="Arial" panose="020B0604020202090204"/>
                <a:cs typeface="Arial" panose="020B0604020202090204"/>
              </a:defRPr>
            </a:lvl7pPr>
            <a:lvl8pPr algn="ctr">
              <a:defRPr sz="4800" b="1">
                <a:solidFill>
                  <a:srgbClr val="E7684A"/>
                </a:solidFill>
                <a:latin typeface="Arial" panose="020B0604020202090204"/>
                <a:ea typeface="Arial" panose="020B0604020202090204"/>
                <a:cs typeface="Arial" panose="020B0604020202090204"/>
              </a:defRPr>
            </a:lvl8pPr>
            <a:lvl9pPr algn="ctr">
              <a:defRPr sz="4800" b="1">
                <a:solidFill>
                  <a:srgbClr val="E7684A"/>
                </a:solidFill>
                <a:latin typeface="Arial" panose="020B0604020202090204"/>
                <a:ea typeface="Arial" panose="020B0604020202090204"/>
                <a:cs typeface="Arial" panose="020B0604020202090204"/>
              </a:defRPr>
            </a:lvl9pPr>
          </a:lstStyle>
          <a:p>
            <a:pPr algn="ctr">
              <a:lnSpc>
                <a:spcPct val="102000"/>
              </a:lnSpc>
              <a:buNone/>
              <a:defRPr sz="4800" b="1">
                <a:solidFill>
                  <a:srgbClr val="E7684A"/>
                </a:solidFill>
                <a:latin typeface="Arial" panose="020B0604020202090204"/>
                <a:ea typeface="Arial" panose="020B0604020202090204"/>
                <a:cs typeface="Arial" panose="020B0604020202090204"/>
              </a:defRPr>
            </a:pPr>
            <a:r>
              <a:rPr sz="4800" b="1">
                <a:solidFill>
                  <a:srgbClr val="E7684A"/>
                </a:solidFill>
                <a:latin typeface="Arial" panose="020B0604020202090204"/>
                <a:ea typeface="Arial" panose="020B0604020202090204"/>
                <a:cs typeface="Arial" panose="020B0604020202090204"/>
              </a:rPr>
              <a:t>100</a:t>
            </a:r>
            <a:endParaRPr sz="4800" b="1">
              <a:solidFill>
                <a:srgbClr val="E7684A"/>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620000" y="2457450"/>
            <a:ext cx="1619250" cy="333375"/>
          </a:xfrm>
          <a:prstGeom prst="rect">
            <a:avLst/>
          </a:prstGeom>
          <a:noFill/>
          <a:ln w="0">
            <a:noFill/>
            <a:prstDash val="solid"/>
          </a:ln>
        </p:spPr>
        <p:txBody>
          <a:bodyPr wrap="square" lIns="0" tIns="0" rIns="0" bIns="0" anchor="t">
            <a:normAutofit/>
          </a:bodyPr>
          <a:lstStyle>
            <a:defPPr algn="ctr">
              <a:defRPr sz="1350" b="0">
                <a:solidFill>
                  <a:srgbClr val="637279"/>
                </a:solidFill>
                <a:latin typeface="Arial" panose="020B0604020202090204"/>
                <a:ea typeface="Arial" panose="020B0604020202090204"/>
                <a:cs typeface="Arial" panose="020B0604020202090204"/>
              </a:defRPr>
            </a:defPPr>
            <a:lvl1pPr algn="ctr">
              <a:defRPr sz="1350" b="0">
                <a:solidFill>
                  <a:srgbClr val="637279"/>
                </a:solidFill>
                <a:latin typeface="Arial" panose="020B0604020202090204"/>
                <a:ea typeface="Arial" panose="020B0604020202090204"/>
                <a:cs typeface="Arial" panose="020B0604020202090204"/>
              </a:defRPr>
            </a:lvl1pPr>
            <a:lvl2pPr algn="ctr">
              <a:defRPr sz="1350" b="0">
                <a:solidFill>
                  <a:srgbClr val="637279"/>
                </a:solidFill>
                <a:latin typeface="Arial" panose="020B0604020202090204"/>
                <a:ea typeface="Arial" panose="020B0604020202090204"/>
                <a:cs typeface="Arial" panose="020B0604020202090204"/>
              </a:defRPr>
            </a:lvl2pPr>
            <a:lvl3pPr algn="ctr">
              <a:defRPr sz="1350" b="0">
                <a:solidFill>
                  <a:srgbClr val="637279"/>
                </a:solidFill>
                <a:latin typeface="Arial" panose="020B0604020202090204"/>
                <a:ea typeface="Arial" panose="020B0604020202090204"/>
                <a:cs typeface="Arial" panose="020B0604020202090204"/>
              </a:defRPr>
            </a:lvl3pPr>
            <a:lvl4pPr algn="ctr">
              <a:defRPr sz="1350" b="0">
                <a:solidFill>
                  <a:srgbClr val="637279"/>
                </a:solidFill>
                <a:latin typeface="Arial" panose="020B0604020202090204"/>
                <a:ea typeface="Arial" panose="020B0604020202090204"/>
                <a:cs typeface="Arial" panose="020B0604020202090204"/>
              </a:defRPr>
            </a:lvl4pPr>
            <a:lvl5pPr algn="ctr">
              <a:defRPr sz="1350" b="0">
                <a:solidFill>
                  <a:srgbClr val="637279"/>
                </a:solidFill>
                <a:latin typeface="Arial" panose="020B0604020202090204"/>
                <a:ea typeface="Arial" panose="020B0604020202090204"/>
                <a:cs typeface="Arial" panose="020B0604020202090204"/>
              </a:defRPr>
            </a:lvl5pPr>
            <a:lvl6pPr algn="ctr">
              <a:defRPr sz="1350" b="0">
                <a:solidFill>
                  <a:srgbClr val="637279"/>
                </a:solidFill>
                <a:latin typeface="Arial" panose="020B0604020202090204"/>
                <a:ea typeface="Arial" panose="020B0604020202090204"/>
                <a:cs typeface="Arial" panose="020B0604020202090204"/>
              </a:defRPr>
            </a:lvl6pPr>
            <a:lvl7pPr algn="ctr">
              <a:defRPr sz="1350" b="0">
                <a:solidFill>
                  <a:srgbClr val="637279"/>
                </a:solidFill>
                <a:latin typeface="Arial" panose="020B0604020202090204"/>
                <a:ea typeface="Arial" panose="020B0604020202090204"/>
                <a:cs typeface="Arial" panose="020B0604020202090204"/>
              </a:defRPr>
            </a:lvl7pPr>
            <a:lvl8pPr algn="ctr">
              <a:defRPr sz="1350" b="0">
                <a:solidFill>
                  <a:srgbClr val="637279"/>
                </a:solidFill>
                <a:latin typeface="Arial" panose="020B0604020202090204"/>
                <a:ea typeface="Arial" panose="020B0604020202090204"/>
                <a:cs typeface="Arial" panose="020B0604020202090204"/>
              </a:defRPr>
            </a:lvl8pPr>
            <a:lvl9pPr algn="ctr">
              <a:defRPr sz="1350" b="0">
                <a:solidFill>
                  <a:srgbClr val="637279"/>
                </a:solidFill>
                <a:latin typeface="Arial" panose="020B0604020202090204"/>
                <a:ea typeface="Arial" panose="020B0604020202090204"/>
                <a:cs typeface="Arial" panose="020B0604020202090204"/>
              </a:defRPr>
            </a:lvl9pPr>
          </a:lstStyle>
          <a:p>
            <a:pPr algn="ctr">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default samples</a:t>
            </a:r>
            <a:endParaRPr sz="1350" b="0">
              <a:solidFill>
                <a:srgbClr val="63727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9525000" y="1619250"/>
            <a:ext cx="1905000" cy="762000"/>
          </a:xfrm>
          <a:prstGeom prst="rect">
            <a:avLst/>
          </a:prstGeom>
          <a:noFill/>
          <a:ln w="0">
            <a:noFill/>
            <a:prstDash val="solid"/>
          </a:ln>
        </p:spPr>
        <p:txBody>
          <a:bodyPr wrap="square" lIns="0" tIns="0" rIns="0" bIns="0" anchor="t">
            <a:normAutofit/>
          </a:bodyPr>
          <a:lstStyle>
            <a:defPPr algn="ctr">
              <a:defRPr sz="3600" b="1">
                <a:solidFill>
                  <a:srgbClr val="637279"/>
                </a:solidFill>
                <a:latin typeface="Arial" panose="020B0604020202090204"/>
                <a:ea typeface="Arial" panose="020B0604020202090204"/>
                <a:cs typeface="Arial" panose="020B0604020202090204"/>
              </a:defRPr>
            </a:defPPr>
            <a:lvl1pPr algn="ctr">
              <a:defRPr sz="3600" b="1">
                <a:solidFill>
                  <a:srgbClr val="637279"/>
                </a:solidFill>
                <a:latin typeface="Arial" panose="020B0604020202090204"/>
                <a:ea typeface="Arial" panose="020B0604020202090204"/>
                <a:cs typeface="Arial" panose="020B0604020202090204"/>
              </a:defRPr>
            </a:lvl1pPr>
            <a:lvl2pPr algn="ctr">
              <a:defRPr sz="3600" b="1">
                <a:solidFill>
                  <a:srgbClr val="637279"/>
                </a:solidFill>
                <a:latin typeface="Arial" panose="020B0604020202090204"/>
                <a:ea typeface="Arial" panose="020B0604020202090204"/>
                <a:cs typeface="Arial" panose="020B0604020202090204"/>
              </a:defRPr>
            </a:lvl2pPr>
            <a:lvl3pPr algn="ctr">
              <a:defRPr sz="3600" b="1">
                <a:solidFill>
                  <a:srgbClr val="637279"/>
                </a:solidFill>
                <a:latin typeface="Arial" panose="020B0604020202090204"/>
                <a:ea typeface="Arial" panose="020B0604020202090204"/>
                <a:cs typeface="Arial" panose="020B0604020202090204"/>
              </a:defRPr>
            </a:lvl3pPr>
            <a:lvl4pPr algn="ctr">
              <a:defRPr sz="3600" b="1">
                <a:solidFill>
                  <a:srgbClr val="637279"/>
                </a:solidFill>
                <a:latin typeface="Arial" panose="020B0604020202090204"/>
                <a:ea typeface="Arial" panose="020B0604020202090204"/>
                <a:cs typeface="Arial" panose="020B0604020202090204"/>
              </a:defRPr>
            </a:lvl4pPr>
            <a:lvl5pPr algn="ctr">
              <a:defRPr sz="3600" b="1">
                <a:solidFill>
                  <a:srgbClr val="637279"/>
                </a:solidFill>
                <a:latin typeface="Arial" panose="020B0604020202090204"/>
                <a:ea typeface="Arial" panose="020B0604020202090204"/>
                <a:cs typeface="Arial" panose="020B0604020202090204"/>
              </a:defRPr>
            </a:lvl5pPr>
            <a:lvl6pPr algn="ctr">
              <a:defRPr sz="3600" b="1">
                <a:solidFill>
                  <a:srgbClr val="637279"/>
                </a:solidFill>
                <a:latin typeface="Arial" panose="020B0604020202090204"/>
                <a:ea typeface="Arial" panose="020B0604020202090204"/>
                <a:cs typeface="Arial" panose="020B0604020202090204"/>
              </a:defRPr>
            </a:lvl6pPr>
            <a:lvl7pPr algn="ctr">
              <a:defRPr sz="3600" b="1">
                <a:solidFill>
                  <a:srgbClr val="637279"/>
                </a:solidFill>
                <a:latin typeface="Arial" panose="020B0604020202090204"/>
                <a:ea typeface="Arial" panose="020B0604020202090204"/>
                <a:cs typeface="Arial" panose="020B0604020202090204"/>
              </a:defRPr>
            </a:lvl7pPr>
            <a:lvl8pPr algn="ctr">
              <a:defRPr sz="3600" b="1">
                <a:solidFill>
                  <a:srgbClr val="637279"/>
                </a:solidFill>
                <a:latin typeface="Arial" panose="020B0604020202090204"/>
                <a:ea typeface="Arial" panose="020B0604020202090204"/>
                <a:cs typeface="Arial" panose="020B0604020202090204"/>
              </a:defRPr>
            </a:lvl8pPr>
            <a:lvl9pPr algn="ctr">
              <a:defRPr sz="3600" b="1">
                <a:solidFill>
                  <a:srgbClr val="637279"/>
                </a:solidFill>
                <a:latin typeface="Arial" panose="020B0604020202090204"/>
                <a:ea typeface="Arial" panose="020B0604020202090204"/>
                <a:cs typeface="Arial" panose="020B0604020202090204"/>
              </a:defRPr>
            </a:lvl9pPr>
          </a:lstStyle>
          <a:p>
            <a:pPr algn="ctr">
              <a:lnSpc>
                <a:spcPct val="102000"/>
              </a:lnSpc>
              <a:buNone/>
              <a:defRPr sz="3600" b="1">
                <a:solidFill>
                  <a:srgbClr val="637279"/>
                </a:solidFill>
                <a:latin typeface="Arial" panose="020B0604020202090204"/>
                <a:ea typeface="Arial" panose="020B0604020202090204"/>
                <a:cs typeface="Arial" panose="020B0604020202090204"/>
              </a:defRPr>
            </a:pPr>
            <a:r>
              <a:rPr sz="3600" b="1">
                <a:solidFill>
                  <a:srgbClr val="637279"/>
                </a:solidFill>
                <a:latin typeface="Arial" panose="020B0604020202090204"/>
                <a:ea typeface="Arial" panose="020B0604020202090204"/>
                <a:cs typeface="Arial" panose="020B0604020202090204"/>
              </a:rPr>
              <a:t>10,000</a:t>
            </a:r>
            <a:endParaRPr sz="3600" b="1">
              <a:solidFill>
                <a:srgbClr val="637279"/>
              </a:solidFill>
              <a:latin typeface="Arial" panose="020B0604020202090204"/>
              <a:ea typeface="Arial" panose="020B0604020202090204"/>
              <a:cs typeface="Arial" panose="020B0604020202090204"/>
            </a:endParaRPr>
          </a:p>
        </p:txBody>
      </p:sp>
      <p:sp>
        <p:nvSpPr>
          <p:cNvPr id="9" name="矩形 8"/>
          <p:cNvSpPr>
            <a:spLocks noGrp="1"/>
          </p:cNvSpPr>
          <p:nvPr/>
        </p:nvSpPr>
        <p:spPr>
          <a:xfrm>
            <a:off x="9525000" y="2457450"/>
            <a:ext cx="1905000" cy="333375"/>
          </a:xfrm>
          <a:prstGeom prst="rect">
            <a:avLst/>
          </a:prstGeom>
          <a:noFill/>
          <a:ln w="0">
            <a:noFill/>
            <a:prstDash val="solid"/>
          </a:ln>
        </p:spPr>
        <p:txBody>
          <a:bodyPr wrap="square" lIns="0" tIns="0" rIns="0" bIns="0" anchor="t">
            <a:normAutofit/>
          </a:bodyPr>
          <a:lstStyle>
            <a:defPPr algn="ctr">
              <a:defRPr sz="1350" b="0">
                <a:solidFill>
                  <a:srgbClr val="637279"/>
                </a:solidFill>
                <a:latin typeface="Arial" panose="020B0604020202090204"/>
                <a:ea typeface="Arial" panose="020B0604020202090204"/>
                <a:cs typeface="Arial" panose="020B0604020202090204"/>
              </a:defRPr>
            </a:defPPr>
            <a:lvl1pPr algn="ctr">
              <a:defRPr sz="1350" b="0">
                <a:solidFill>
                  <a:srgbClr val="637279"/>
                </a:solidFill>
                <a:latin typeface="Arial" panose="020B0604020202090204"/>
                <a:ea typeface="Arial" panose="020B0604020202090204"/>
                <a:cs typeface="Arial" panose="020B0604020202090204"/>
              </a:defRPr>
            </a:lvl1pPr>
            <a:lvl2pPr algn="ctr">
              <a:defRPr sz="1350" b="0">
                <a:solidFill>
                  <a:srgbClr val="637279"/>
                </a:solidFill>
                <a:latin typeface="Arial" panose="020B0604020202090204"/>
                <a:ea typeface="Arial" panose="020B0604020202090204"/>
                <a:cs typeface="Arial" panose="020B0604020202090204"/>
              </a:defRPr>
            </a:lvl2pPr>
            <a:lvl3pPr algn="ctr">
              <a:defRPr sz="1350" b="0">
                <a:solidFill>
                  <a:srgbClr val="637279"/>
                </a:solidFill>
                <a:latin typeface="Arial" panose="020B0604020202090204"/>
                <a:ea typeface="Arial" panose="020B0604020202090204"/>
                <a:cs typeface="Arial" panose="020B0604020202090204"/>
              </a:defRPr>
            </a:lvl3pPr>
            <a:lvl4pPr algn="ctr">
              <a:defRPr sz="1350" b="0">
                <a:solidFill>
                  <a:srgbClr val="637279"/>
                </a:solidFill>
                <a:latin typeface="Arial" panose="020B0604020202090204"/>
                <a:ea typeface="Arial" panose="020B0604020202090204"/>
                <a:cs typeface="Arial" panose="020B0604020202090204"/>
              </a:defRPr>
            </a:lvl4pPr>
            <a:lvl5pPr algn="ctr">
              <a:defRPr sz="1350" b="0">
                <a:solidFill>
                  <a:srgbClr val="637279"/>
                </a:solidFill>
                <a:latin typeface="Arial" panose="020B0604020202090204"/>
                <a:ea typeface="Arial" panose="020B0604020202090204"/>
                <a:cs typeface="Arial" panose="020B0604020202090204"/>
              </a:defRPr>
            </a:lvl5pPr>
            <a:lvl6pPr algn="ctr">
              <a:defRPr sz="1350" b="0">
                <a:solidFill>
                  <a:srgbClr val="637279"/>
                </a:solidFill>
                <a:latin typeface="Arial" panose="020B0604020202090204"/>
                <a:ea typeface="Arial" panose="020B0604020202090204"/>
                <a:cs typeface="Arial" panose="020B0604020202090204"/>
              </a:defRPr>
            </a:lvl6pPr>
            <a:lvl7pPr algn="ctr">
              <a:defRPr sz="1350" b="0">
                <a:solidFill>
                  <a:srgbClr val="637279"/>
                </a:solidFill>
                <a:latin typeface="Arial" panose="020B0604020202090204"/>
                <a:ea typeface="Arial" panose="020B0604020202090204"/>
                <a:cs typeface="Arial" panose="020B0604020202090204"/>
              </a:defRPr>
            </a:lvl7pPr>
            <a:lvl8pPr algn="ctr">
              <a:defRPr sz="1350" b="0">
                <a:solidFill>
                  <a:srgbClr val="637279"/>
                </a:solidFill>
                <a:latin typeface="Arial" panose="020B0604020202090204"/>
                <a:ea typeface="Arial" panose="020B0604020202090204"/>
                <a:cs typeface="Arial" panose="020B0604020202090204"/>
              </a:defRPr>
            </a:lvl8pPr>
            <a:lvl9pPr algn="ctr">
              <a:defRPr sz="1350" b="0">
                <a:solidFill>
                  <a:srgbClr val="637279"/>
                </a:solidFill>
                <a:latin typeface="Arial" panose="020B0604020202090204"/>
                <a:ea typeface="Arial" panose="020B0604020202090204"/>
                <a:cs typeface="Arial" panose="020B0604020202090204"/>
              </a:defRPr>
            </a:lvl9pPr>
          </a:lstStyle>
          <a:p>
            <a:pPr algn="ctr">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Fast-DetectGPT setup</a:t>
            </a:r>
            <a:endParaRPr sz="1350" b="0">
              <a:solidFill>
                <a:srgbClr val="637279"/>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7715250" y="3476625"/>
            <a:ext cx="3524250" cy="619125"/>
          </a:xfrm>
          <a:prstGeom prst="rect">
            <a:avLst/>
          </a:prstGeom>
          <a:noFill/>
          <a:ln w="0">
            <a:noFill/>
            <a:prstDash val="solid"/>
          </a:ln>
        </p:spPr>
        <p:txBody>
          <a:bodyPr wrap="square" lIns="0" tIns="0" rIns="0" bIns="0" anchor="ctr">
            <a:normAutofit fontScale="95795"/>
          </a:bodyPr>
          <a:lstStyle>
            <a:defPPr algn="ctr">
              <a:defRPr sz="2100" b="1">
                <a:solidFill>
                  <a:srgbClr val="C99B27"/>
                </a:solidFill>
                <a:latin typeface="Arial" panose="020B0604020202090204"/>
                <a:ea typeface="Arial" panose="020B0604020202090204"/>
                <a:cs typeface="Arial" panose="020B0604020202090204"/>
              </a:defRPr>
            </a:defPPr>
            <a:lvl1pPr algn="ctr">
              <a:defRPr sz="2100" b="1">
                <a:solidFill>
                  <a:srgbClr val="C99B27"/>
                </a:solidFill>
                <a:latin typeface="Arial" panose="020B0604020202090204"/>
                <a:ea typeface="Arial" panose="020B0604020202090204"/>
                <a:cs typeface="Arial" panose="020B0604020202090204"/>
              </a:defRPr>
            </a:lvl1pPr>
            <a:lvl2pPr algn="ctr">
              <a:defRPr sz="2100" b="1">
                <a:solidFill>
                  <a:srgbClr val="C99B27"/>
                </a:solidFill>
                <a:latin typeface="Arial" panose="020B0604020202090204"/>
                <a:ea typeface="Arial" panose="020B0604020202090204"/>
                <a:cs typeface="Arial" panose="020B0604020202090204"/>
              </a:defRPr>
            </a:lvl2pPr>
            <a:lvl3pPr algn="ctr">
              <a:defRPr sz="2100" b="1">
                <a:solidFill>
                  <a:srgbClr val="C99B27"/>
                </a:solidFill>
                <a:latin typeface="Arial" panose="020B0604020202090204"/>
                <a:ea typeface="Arial" panose="020B0604020202090204"/>
                <a:cs typeface="Arial" panose="020B0604020202090204"/>
              </a:defRPr>
            </a:lvl3pPr>
            <a:lvl4pPr algn="ctr">
              <a:defRPr sz="2100" b="1">
                <a:solidFill>
                  <a:srgbClr val="C99B27"/>
                </a:solidFill>
                <a:latin typeface="Arial" panose="020B0604020202090204"/>
                <a:ea typeface="Arial" panose="020B0604020202090204"/>
                <a:cs typeface="Arial" panose="020B0604020202090204"/>
              </a:defRPr>
            </a:lvl4pPr>
            <a:lvl5pPr algn="ctr">
              <a:defRPr sz="2100" b="1">
                <a:solidFill>
                  <a:srgbClr val="C99B27"/>
                </a:solidFill>
                <a:latin typeface="Arial" panose="020B0604020202090204"/>
                <a:ea typeface="Arial" panose="020B0604020202090204"/>
                <a:cs typeface="Arial" panose="020B0604020202090204"/>
              </a:defRPr>
            </a:lvl5pPr>
            <a:lvl6pPr algn="ctr">
              <a:defRPr sz="2100" b="1">
                <a:solidFill>
                  <a:srgbClr val="C99B27"/>
                </a:solidFill>
                <a:latin typeface="Arial" panose="020B0604020202090204"/>
                <a:ea typeface="Arial" panose="020B0604020202090204"/>
                <a:cs typeface="Arial" panose="020B0604020202090204"/>
              </a:defRPr>
            </a:lvl6pPr>
            <a:lvl7pPr algn="ctr">
              <a:defRPr sz="2100" b="1">
                <a:solidFill>
                  <a:srgbClr val="C99B27"/>
                </a:solidFill>
                <a:latin typeface="Arial" panose="020B0604020202090204"/>
                <a:ea typeface="Arial" panose="020B0604020202090204"/>
                <a:cs typeface="Arial" panose="020B0604020202090204"/>
              </a:defRPr>
            </a:lvl7pPr>
            <a:lvl8pPr algn="ctr">
              <a:defRPr sz="2100" b="1">
                <a:solidFill>
                  <a:srgbClr val="C99B27"/>
                </a:solidFill>
                <a:latin typeface="Arial" panose="020B0604020202090204"/>
                <a:ea typeface="Arial" panose="020B0604020202090204"/>
                <a:cs typeface="Arial" panose="020B0604020202090204"/>
              </a:defRPr>
            </a:lvl8pPr>
            <a:lvl9pPr algn="ctr">
              <a:defRPr sz="2100" b="1">
                <a:solidFill>
                  <a:srgbClr val="C99B27"/>
                </a:solidFill>
                <a:latin typeface="Arial" panose="020B0604020202090204"/>
                <a:ea typeface="Arial" panose="020B0604020202090204"/>
                <a:cs typeface="Arial" panose="020B0604020202090204"/>
              </a:defRPr>
            </a:lvl9pPr>
          </a:lstStyle>
          <a:p>
            <a:pPr algn="ctr">
              <a:lnSpc>
                <a:spcPct val="102000"/>
              </a:lnSpc>
              <a:buNone/>
              <a:defRPr sz="2100" b="1">
                <a:solidFill>
                  <a:srgbClr val="C99B27"/>
                </a:solidFill>
                <a:latin typeface="Arial" panose="020B0604020202090204"/>
                <a:ea typeface="Arial" panose="020B0604020202090204"/>
                <a:cs typeface="Arial" panose="020B0604020202090204"/>
              </a:defRPr>
            </a:pPr>
            <a:r>
              <a:rPr sz="2100" b="1">
                <a:solidFill>
                  <a:srgbClr val="C99B27"/>
                </a:solidFill>
                <a:latin typeface="Arial" panose="020B0604020202090204"/>
                <a:ea typeface="Arial" panose="020B0604020202090204"/>
                <a:cs typeface="Arial" panose="020B0604020202090204"/>
              </a:rPr>
              <a:t>1/100 of the sampling budget</a:t>
            </a:r>
            <a:endParaRPr sz="2100" b="1">
              <a:solidFill>
                <a:srgbClr val="C99B27"/>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7715250" y="4619625"/>
            <a:ext cx="3524250" cy="381000"/>
          </a:xfrm>
          <a:prstGeom prst="rect">
            <a:avLst/>
          </a:prstGeom>
          <a:noFill/>
          <a:ln w="0">
            <a:noFill/>
            <a:prstDash val="solid"/>
          </a:ln>
        </p:spPr>
        <p:txBody>
          <a:bodyPr wrap="square" lIns="0" tIns="0" rIns="0" bIns="0" anchor="t">
            <a:normAutofit/>
          </a:bodyPr>
          <a:lstStyle>
            <a:defPPr algn="ctr">
              <a:defRPr sz="1500" b="1">
                <a:solidFill>
                  <a:srgbClr val="147A78"/>
                </a:solidFill>
                <a:latin typeface="Arial" panose="020B0604020202090204"/>
                <a:ea typeface="Arial" panose="020B0604020202090204"/>
                <a:cs typeface="Arial" panose="020B0604020202090204"/>
              </a:defRPr>
            </a:defPPr>
            <a:lvl1pPr algn="ctr">
              <a:defRPr sz="1500" b="1">
                <a:solidFill>
                  <a:srgbClr val="147A78"/>
                </a:solidFill>
                <a:latin typeface="Arial" panose="020B0604020202090204"/>
                <a:ea typeface="Arial" panose="020B0604020202090204"/>
                <a:cs typeface="Arial" panose="020B0604020202090204"/>
              </a:defRPr>
            </a:lvl1pPr>
            <a:lvl2pPr algn="ctr">
              <a:defRPr sz="1500" b="1">
                <a:solidFill>
                  <a:srgbClr val="147A78"/>
                </a:solidFill>
                <a:latin typeface="Arial" panose="020B0604020202090204"/>
                <a:ea typeface="Arial" panose="020B0604020202090204"/>
                <a:cs typeface="Arial" panose="020B0604020202090204"/>
              </a:defRPr>
            </a:lvl2pPr>
            <a:lvl3pPr algn="ctr">
              <a:defRPr sz="1500" b="1">
                <a:solidFill>
                  <a:srgbClr val="147A78"/>
                </a:solidFill>
                <a:latin typeface="Arial" panose="020B0604020202090204"/>
                <a:ea typeface="Arial" panose="020B0604020202090204"/>
                <a:cs typeface="Arial" panose="020B0604020202090204"/>
              </a:defRPr>
            </a:lvl3pPr>
            <a:lvl4pPr algn="ctr">
              <a:defRPr sz="1500" b="1">
                <a:solidFill>
                  <a:srgbClr val="147A78"/>
                </a:solidFill>
                <a:latin typeface="Arial" panose="020B0604020202090204"/>
                <a:ea typeface="Arial" panose="020B0604020202090204"/>
                <a:cs typeface="Arial" panose="020B0604020202090204"/>
              </a:defRPr>
            </a:lvl4pPr>
            <a:lvl5pPr algn="ctr">
              <a:defRPr sz="1500" b="1">
                <a:solidFill>
                  <a:srgbClr val="147A78"/>
                </a:solidFill>
                <a:latin typeface="Arial" panose="020B0604020202090204"/>
                <a:ea typeface="Arial" panose="020B0604020202090204"/>
                <a:cs typeface="Arial" panose="020B0604020202090204"/>
              </a:defRPr>
            </a:lvl5pPr>
            <a:lvl6pPr algn="ctr">
              <a:defRPr sz="1500" b="1">
                <a:solidFill>
                  <a:srgbClr val="147A78"/>
                </a:solidFill>
                <a:latin typeface="Arial" panose="020B0604020202090204"/>
                <a:ea typeface="Arial" panose="020B0604020202090204"/>
                <a:cs typeface="Arial" panose="020B0604020202090204"/>
              </a:defRPr>
            </a:lvl6pPr>
            <a:lvl7pPr algn="ctr">
              <a:defRPr sz="1500" b="1">
                <a:solidFill>
                  <a:srgbClr val="147A78"/>
                </a:solidFill>
                <a:latin typeface="Arial" panose="020B0604020202090204"/>
                <a:ea typeface="Arial" panose="020B0604020202090204"/>
                <a:cs typeface="Arial" panose="020B0604020202090204"/>
              </a:defRPr>
            </a:lvl7pPr>
            <a:lvl8pPr algn="ctr">
              <a:defRPr sz="1500" b="1">
                <a:solidFill>
                  <a:srgbClr val="147A78"/>
                </a:solidFill>
                <a:latin typeface="Arial" panose="020B0604020202090204"/>
                <a:ea typeface="Arial" panose="020B0604020202090204"/>
                <a:cs typeface="Arial" panose="020B0604020202090204"/>
              </a:defRPr>
            </a:lvl8pPr>
            <a:lvl9pPr algn="ctr">
              <a:defRPr sz="1500" b="1">
                <a:solidFill>
                  <a:srgbClr val="147A78"/>
                </a:solidFill>
                <a:latin typeface="Arial" panose="020B0604020202090204"/>
                <a:ea typeface="Arial" panose="020B0604020202090204"/>
                <a:cs typeface="Arial" panose="020B0604020202090204"/>
              </a:defRPr>
            </a:lvl9pPr>
          </a:lstStyle>
          <a:p>
            <a:pPr algn="ctr">
              <a:lnSpc>
                <a:spcPct val="102000"/>
              </a:lnSpc>
              <a:buNone/>
              <a:defRPr sz="1500" b="1">
                <a:solidFill>
                  <a:srgbClr val="147A78"/>
                </a:solidFill>
                <a:latin typeface="Arial" panose="020B0604020202090204"/>
                <a:ea typeface="Arial" panose="020B0604020202090204"/>
                <a:cs typeface="Arial" panose="020B0604020202090204"/>
              </a:defRPr>
            </a:pPr>
            <a:r>
              <a:rPr sz="1500" b="1">
                <a:solidFill>
                  <a:srgbClr val="147A78"/>
                </a:solidFill>
                <a:latin typeface="Arial" panose="020B0604020202090204"/>
                <a:ea typeface="Arial" panose="020B0604020202090204"/>
                <a:cs typeface="Arial" panose="020B0604020202090204"/>
              </a:rPr>
              <a:t>Defaults: s=4, ε=8n, τ′=15</a:t>
            </a:r>
            <a:endParaRPr sz="1500" b="1">
              <a:solidFill>
                <a:srgbClr val="147A78"/>
              </a:solidFill>
              <a:latin typeface="Arial" panose="020B0604020202090204"/>
              <a:ea typeface="Arial" panose="020B0604020202090204"/>
              <a:cs typeface="Arial" panose="020B060402020209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22" name="矩形 21"/>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Experimental setup</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1</a:t>
            </a:r>
            <a:r>
              <a:rPr lang="en-US" sz="1125" b="1">
                <a:solidFill>
                  <a:srgbClr val="637279"/>
                </a:solidFill>
                <a:latin typeface="Arial" panose="020B0604020202090204"/>
                <a:ea typeface="Arial" panose="020B0604020202090204"/>
                <a:cs typeface="Arial" panose="020B0604020202090204"/>
              </a:rPr>
              <a:t>1</a:t>
            </a:r>
            <a:endParaRPr lang="en-US" sz="1125" b="1">
              <a:solidFill>
                <a:srgbClr val="637279"/>
              </a:solidFill>
              <a:latin typeface="Arial" panose="020B0604020202090204"/>
              <a:ea typeface="Arial" panose="020B0604020202090204"/>
              <a:cs typeface="Arial" panose="020B0604020202090204"/>
            </a:endParaRPr>
          </a:p>
        </p:txBody>
      </p:sp>
      <p:sp>
        <p:nvSpPr>
          <p:cNvPr id="4" name="矩形 3"/>
          <p:cNvSpPr>
            <a:spLocks noGrp="1"/>
          </p:cNvSpPr>
          <p:nvPr/>
        </p:nvSpPr>
        <p:spPr>
          <a:xfrm>
            <a:off x="523875" y="1809750"/>
            <a:ext cx="1952625" cy="838200"/>
          </a:xfrm>
          <a:prstGeom prst="rect">
            <a:avLst/>
          </a:prstGeom>
          <a:noFill/>
          <a:ln w="0">
            <a:noFill/>
            <a:prstDash val="solid"/>
          </a:ln>
        </p:spPr>
        <p:txBody>
          <a:bodyPr wrap="square" lIns="0" tIns="0" rIns="0" bIns="0" anchor="ctr">
            <a:normAutofit/>
          </a:bodyPr>
          <a:lstStyle>
            <a:defPPr algn="ctr">
              <a:defRPr sz="3750" b="1">
                <a:solidFill>
                  <a:srgbClr val="147A78"/>
                </a:solidFill>
                <a:latin typeface="Arial" panose="020B0604020202090204"/>
                <a:ea typeface="Arial" panose="020B0604020202090204"/>
                <a:cs typeface="Arial" panose="020B0604020202090204"/>
              </a:defRPr>
            </a:defPPr>
            <a:lvl1pPr algn="ctr">
              <a:defRPr sz="3750" b="1">
                <a:solidFill>
                  <a:srgbClr val="147A78"/>
                </a:solidFill>
                <a:latin typeface="Arial" panose="020B0604020202090204"/>
                <a:ea typeface="Arial" panose="020B0604020202090204"/>
                <a:cs typeface="Arial" panose="020B0604020202090204"/>
              </a:defRPr>
            </a:lvl1pPr>
            <a:lvl2pPr algn="ctr">
              <a:defRPr sz="3750" b="1">
                <a:solidFill>
                  <a:srgbClr val="147A78"/>
                </a:solidFill>
                <a:latin typeface="Arial" panose="020B0604020202090204"/>
                <a:ea typeface="Arial" panose="020B0604020202090204"/>
                <a:cs typeface="Arial" panose="020B0604020202090204"/>
              </a:defRPr>
            </a:lvl2pPr>
            <a:lvl3pPr algn="ctr">
              <a:defRPr sz="3750" b="1">
                <a:solidFill>
                  <a:srgbClr val="147A78"/>
                </a:solidFill>
                <a:latin typeface="Arial" panose="020B0604020202090204"/>
                <a:ea typeface="Arial" panose="020B0604020202090204"/>
                <a:cs typeface="Arial" panose="020B0604020202090204"/>
              </a:defRPr>
            </a:lvl3pPr>
            <a:lvl4pPr algn="ctr">
              <a:defRPr sz="3750" b="1">
                <a:solidFill>
                  <a:srgbClr val="147A78"/>
                </a:solidFill>
                <a:latin typeface="Arial" panose="020B0604020202090204"/>
                <a:ea typeface="Arial" panose="020B0604020202090204"/>
                <a:cs typeface="Arial" panose="020B0604020202090204"/>
              </a:defRPr>
            </a:lvl4pPr>
            <a:lvl5pPr algn="ctr">
              <a:defRPr sz="3750" b="1">
                <a:solidFill>
                  <a:srgbClr val="147A78"/>
                </a:solidFill>
                <a:latin typeface="Arial" panose="020B0604020202090204"/>
                <a:ea typeface="Arial" panose="020B0604020202090204"/>
                <a:cs typeface="Arial" panose="020B0604020202090204"/>
              </a:defRPr>
            </a:lvl5pPr>
            <a:lvl6pPr algn="ctr">
              <a:defRPr sz="3750" b="1">
                <a:solidFill>
                  <a:srgbClr val="147A78"/>
                </a:solidFill>
                <a:latin typeface="Arial" panose="020B0604020202090204"/>
                <a:ea typeface="Arial" panose="020B0604020202090204"/>
                <a:cs typeface="Arial" panose="020B0604020202090204"/>
              </a:defRPr>
            </a:lvl6pPr>
            <a:lvl7pPr algn="ctr">
              <a:defRPr sz="3750" b="1">
                <a:solidFill>
                  <a:srgbClr val="147A78"/>
                </a:solidFill>
                <a:latin typeface="Arial" panose="020B0604020202090204"/>
                <a:ea typeface="Arial" panose="020B0604020202090204"/>
                <a:cs typeface="Arial" panose="020B0604020202090204"/>
              </a:defRPr>
            </a:lvl7pPr>
            <a:lvl8pPr algn="ctr">
              <a:defRPr sz="3750" b="1">
                <a:solidFill>
                  <a:srgbClr val="147A78"/>
                </a:solidFill>
                <a:latin typeface="Arial" panose="020B0604020202090204"/>
                <a:ea typeface="Arial" panose="020B0604020202090204"/>
                <a:cs typeface="Arial" panose="020B0604020202090204"/>
              </a:defRPr>
            </a:lvl8pPr>
            <a:lvl9pPr algn="ctr">
              <a:defRPr sz="3750" b="1">
                <a:solidFill>
                  <a:srgbClr val="147A78"/>
                </a:solidFill>
                <a:latin typeface="Arial" panose="020B0604020202090204"/>
                <a:ea typeface="Arial" panose="020B0604020202090204"/>
                <a:cs typeface="Arial" panose="020B0604020202090204"/>
              </a:defRPr>
            </a:lvl9pPr>
          </a:lstStyle>
          <a:p>
            <a:pPr algn="ctr">
              <a:lnSpc>
                <a:spcPct val="102000"/>
              </a:lnSpc>
              <a:buNone/>
              <a:defRPr sz="3750" b="1">
                <a:solidFill>
                  <a:srgbClr val="147A78"/>
                </a:solidFill>
                <a:latin typeface="Arial" panose="020B0604020202090204"/>
                <a:ea typeface="Arial" panose="020B0604020202090204"/>
                <a:cs typeface="Arial" panose="020B0604020202090204"/>
              </a:defRPr>
            </a:pPr>
            <a:r>
              <a:rPr sz="3750" b="1">
                <a:solidFill>
                  <a:srgbClr val="147A78"/>
                </a:solidFill>
                <a:latin typeface="Arial" panose="020B0604020202090204"/>
                <a:ea typeface="Arial" panose="020B0604020202090204"/>
                <a:cs typeface="Arial" panose="020B0604020202090204"/>
              </a:rPr>
              <a:t>6</a:t>
            </a:r>
            <a:endParaRPr sz="3750" b="1">
              <a:solidFill>
                <a:srgbClr val="147A78"/>
              </a:solidFill>
              <a:latin typeface="Arial" panose="020B0604020202090204"/>
              <a:ea typeface="Arial" panose="020B0604020202090204"/>
              <a:cs typeface="Arial" panose="020B0604020202090204"/>
            </a:endParaRPr>
          </a:p>
        </p:txBody>
      </p:sp>
      <p:sp>
        <p:nvSpPr>
          <p:cNvPr id="5" name="矩形 4"/>
          <p:cNvSpPr>
            <a:spLocks noGrp="1"/>
          </p:cNvSpPr>
          <p:nvPr/>
        </p:nvSpPr>
        <p:spPr>
          <a:xfrm>
            <a:off x="523875" y="2724150"/>
            <a:ext cx="1952625" cy="83820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datasets</a:t>
            </a:r>
            <a:endParaRPr sz="1275" b="0">
              <a:solidFill>
                <a:srgbClr val="637279"/>
              </a:solidFill>
              <a:latin typeface="Arial" panose="020B0604020202090204"/>
              <a:ea typeface="Arial" panose="020B0604020202090204"/>
              <a:cs typeface="Arial" panose="020B0604020202090204"/>
            </a:endParaRPr>
          </a:p>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news, QA, stories, German and Chinese</a:t>
            </a:r>
            <a:endParaRPr sz="1275" b="0">
              <a:solidFill>
                <a:srgbClr val="637279"/>
              </a:solidFill>
              <a:latin typeface="Arial" panose="020B0604020202090204"/>
              <a:ea typeface="Arial" panose="020B0604020202090204"/>
              <a:cs typeface="Arial" panose="020B0604020202090204"/>
            </a:endParaRPr>
          </a:p>
        </p:txBody>
      </p:sp>
      <p:sp>
        <p:nvSpPr>
          <p:cNvPr id="6" name="矩形 5"/>
          <p:cNvSpPr>
            <a:spLocks noGrp="1"/>
          </p:cNvSpPr>
          <p:nvPr/>
        </p:nvSpPr>
        <p:spPr>
          <a:xfrm>
            <a:off x="2762250" y="1809750"/>
            <a:ext cx="1952625" cy="838200"/>
          </a:xfrm>
          <a:prstGeom prst="rect">
            <a:avLst/>
          </a:prstGeom>
          <a:noFill/>
          <a:ln w="0">
            <a:noFill/>
            <a:prstDash val="solid"/>
          </a:ln>
        </p:spPr>
        <p:txBody>
          <a:bodyPr wrap="square" lIns="0" tIns="0" rIns="0" bIns="0" anchor="ctr">
            <a:normAutofit/>
          </a:bodyPr>
          <a:lstStyle>
            <a:defPPr algn="ctr">
              <a:defRPr sz="3750" b="1">
                <a:solidFill>
                  <a:srgbClr val="E7684A"/>
                </a:solidFill>
                <a:latin typeface="Arial" panose="020B0604020202090204"/>
                <a:ea typeface="Arial" panose="020B0604020202090204"/>
                <a:cs typeface="Arial" panose="020B0604020202090204"/>
              </a:defRPr>
            </a:defPPr>
            <a:lvl1pPr algn="ctr">
              <a:defRPr sz="3750" b="1">
                <a:solidFill>
                  <a:srgbClr val="E7684A"/>
                </a:solidFill>
                <a:latin typeface="Arial" panose="020B0604020202090204"/>
                <a:ea typeface="Arial" panose="020B0604020202090204"/>
                <a:cs typeface="Arial" panose="020B0604020202090204"/>
              </a:defRPr>
            </a:lvl1pPr>
            <a:lvl2pPr algn="ctr">
              <a:defRPr sz="3750" b="1">
                <a:solidFill>
                  <a:srgbClr val="E7684A"/>
                </a:solidFill>
                <a:latin typeface="Arial" panose="020B0604020202090204"/>
                <a:ea typeface="Arial" panose="020B0604020202090204"/>
                <a:cs typeface="Arial" panose="020B0604020202090204"/>
              </a:defRPr>
            </a:lvl2pPr>
            <a:lvl3pPr algn="ctr">
              <a:defRPr sz="3750" b="1">
                <a:solidFill>
                  <a:srgbClr val="E7684A"/>
                </a:solidFill>
                <a:latin typeface="Arial" panose="020B0604020202090204"/>
                <a:ea typeface="Arial" panose="020B0604020202090204"/>
                <a:cs typeface="Arial" panose="020B0604020202090204"/>
              </a:defRPr>
            </a:lvl3pPr>
            <a:lvl4pPr algn="ctr">
              <a:defRPr sz="3750" b="1">
                <a:solidFill>
                  <a:srgbClr val="E7684A"/>
                </a:solidFill>
                <a:latin typeface="Arial" panose="020B0604020202090204"/>
                <a:ea typeface="Arial" panose="020B0604020202090204"/>
                <a:cs typeface="Arial" panose="020B0604020202090204"/>
              </a:defRPr>
            </a:lvl4pPr>
            <a:lvl5pPr algn="ctr">
              <a:defRPr sz="3750" b="1">
                <a:solidFill>
                  <a:srgbClr val="E7684A"/>
                </a:solidFill>
                <a:latin typeface="Arial" panose="020B0604020202090204"/>
                <a:ea typeface="Arial" panose="020B0604020202090204"/>
                <a:cs typeface="Arial" panose="020B0604020202090204"/>
              </a:defRPr>
            </a:lvl5pPr>
            <a:lvl6pPr algn="ctr">
              <a:defRPr sz="3750" b="1">
                <a:solidFill>
                  <a:srgbClr val="E7684A"/>
                </a:solidFill>
                <a:latin typeface="Arial" panose="020B0604020202090204"/>
                <a:ea typeface="Arial" panose="020B0604020202090204"/>
                <a:cs typeface="Arial" panose="020B0604020202090204"/>
              </a:defRPr>
            </a:lvl6pPr>
            <a:lvl7pPr algn="ctr">
              <a:defRPr sz="3750" b="1">
                <a:solidFill>
                  <a:srgbClr val="E7684A"/>
                </a:solidFill>
                <a:latin typeface="Arial" panose="020B0604020202090204"/>
                <a:ea typeface="Arial" panose="020B0604020202090204"/>
                <a:cs typeface="Arial" panose="020B0604020202090204"/>
              </a:defRPr>
            </a:lvl7pPr>
            <a:lvl8pPr algn="ctr">
              <a:defRPr sz="3750" b="1">
                <a:solidFill>
                  <a:srgbClr val="E7684A"/>
                </a:solidFill>
                <a:latin typeface="Arial" panose="020B0604020202090204"/>
                <a:ea typeface="Arial" panose="020B0604020202090204"/>
                <a:cs typeface="Arial" panose="020B0604020202090204"/>
              </a:defRPr>
            </a:lvl8pPr>
            <a:lvl9pPr algn="ctr">
              <a:defRPr sz="3750" b="1">
                <a:solidFill>
                  <a:srgbClr val="E7684A"/>
                </a:solidFill>
                <a:latin typeface="Arial" panose="020B0604020202090204"/>
                <a:ea typeface="Arial" panose="020B0604020202090204"/>
                <a:cs typeface="Arial" panose="020B0604020202090204"/>
              </a:defRPr>
            </a:lvl9pPr>
          </a:lstStyle>
          <a:p>
            <a:pPr algn="ctr">
              <a:lnSpc>
                <a:spcPct val="102000"/>
              </a:lnSpc>
              <a:buNone/>
              <a:defRPr sz="3750" b="1">
                <a:solidFill>
                  <a:srgbClr val="E7684A"/>
                </a:solidFill>
                <a:latin typeface="Arial" panose="020B0604020202090204"/>
                <a:ea typeface="Arial" panose="020B0604020202090204"/>
                <a:cs typeface="Arial" panose="020B0604020202090204"/>
              </a:defRPr>
            </a:pPr>
            <a:r>
              <a:rPr sz="3750" b="1">
                <a:solidFill>
                  <a:srgbClr val="E7684A"/>
                </a:solidFill>
                <a:latin typeface="Arial" panose="020B0604020202090204"/>
                <a:ea typeface="Arial" panose="020B0604020202090204"/>
                <a:cs typeface="Arial" panose="020B0604020202090204"/>
              </a:rPr>
              <a:t>18</a:t>
            </a:r>
            <a:endParaRPr sz="3750" b="1">
              <a:solidFill>
                <a:srgbClr val="E7684A"/>
              </a:solidFill>
              <a:latin typeface="Arial" panose="020B0604020202090204"/>
              <a:ea typeface="Arial" panose="020B0604020202090204"/>
              <a:cs typeface="Arial" panose="020B0604020202090204"/>
            </a:endParaRPr>
          </a:p>
        </p:txBody>
      </p:sp>
      <p:sp>
        <p:nvSpPr>
          <p:cNvPr id="7" name="矩形 6"/>
          <p:cNvSpPr>
            <a:spLocks noGrp="1"/>
          </p:cNvSpPr>
          <p:nvPr/>
        </p:nvSpPr>
        <p:spPr>
          <a:xfrm>
            <a:off x="2762250" y="2724150"/>
            <a:ext cx="1952625" cy="83820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source models</a:t>
            </a:r>
            <a:endParaRPr sz="1275" b="0">
              <a:solidFill>
                <a:srgbClr val="637279"/>
              </a:solidFill>
              <a:latin typeface="Arial" panose="020B0604020202090204"/>
              <a:ea typeface="Arial" panose="020B0604020202090204"/>
              <a:cs typeface="Arial" panose="020B0604020202090204"/>
            </a:endParaRPr>
          </a:p>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open and closed</a:t>
            </a:r>
            <a:endParaRPr sz="1275" b="0">
              <a:solidFill>
                <a:srgbClr val="637279"/>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000625" y="1809750"/>
            <a:ext cx="1952625" cy="838200"/>
          </a:xfrm>
          <a:prstGeom prst="rect">
            <a:avLst/>
          </a:prstGeom>
          <a:noFill/>
          <a:ln w="0">
            <a:noFill/>
            <a:prstDash val="solid"/>
          </a:ln>
        </p:spPr>
        <p:txBody>
          <a:bodyPr wrap="square" lIns="0" tIns="0" rIns="0" bIns="0" anchor="ctr">
            <a:normAutofit/>
          </a:bodyPr>
          <a:lstStyle>
            <a:defPPr algn="ctr">
              <a:defRPr sz="3750" b="1">
                <a:solidFill>
                  <a:srgbClr val="C99B27"/>
                </a:solidFill>
                <a:latin typeface="Arial" panose="020B0604020202090204"/>
                <a:ea typeface="Arial" panose="020B0604020202090204"/>
                <a:cs typeface="Arial" panose="020B0604020202090204"/>
              </a:defRPr>
            </a:defPPr>
            <a:lvl1pPr algn="ctr">
              <a:defRPr sz="3750" b="1">
                <a:solidFill>
                  <a:srgbClr val="C99B27"/>
                </a:solidFill>
                <a:latin typeface="Arial" panose="020B0604020202090204"/>
                <a:ea typeface="Arial" panose="020B0604020202090204"/>
                <a:cs typeface="Arial" panose="020B0604020202090204"/>
              </a:defRPr>
            </a:lvl1pPr>
            <a:lvl2pPr algn="ctr">
              <a:defRPr sz="3750" b="1">
                <a:solidFill>
                  <a:srgbClr val="C99B27"/>
                </a:solidFill>
                <a:latin typeface="Arial" panose="020B0604020202090204"/>
                <a:ea typeface="Arial" panose="020B0604020202090204"/>
                <a:cs typeface="Arial" panose="020B0604020202090204"/>
              </a:defRPr>
            </a:lvl2pPr>
            <a:lvl3pPr algn="ctr">
              <a:defRPr sz="3750" b="1">
                <a:solidFill>
                  <a:srgbClr val="C99B27"/>
                </a:solidFill>
                <a:latin typeface="Arial" panose="020B0604020202090204"/>
                <a:ea typeface="Arial" panose="020B0604020202090204"/>
                <a:cs typeface="Arial" panose="020B0604020202090204"/>
              </a:defRPr>
            </a:lvl3pPr>
            <a:lvl4pPr algn="ctr">
              <a:defRPr sz="3750" b="1">
                <a:solidFill>
                  <a:srgbClr val="C99B27"/>
                </a:solidFill>
                <a:latin typeface="Arial" panose="020B0604020202090204"/>
                <a:ea typeface="Arial" panose="020B0604020202090204"/>
                <a:cs typeface="Arial" panose="020B0604020202090204"/>
              </a:defRPr>
            </a:lvl4pPr>
            <a:lvl5pPr algn="ctr">
              <a:defRPr sz="3750" b="1">
                <a:solidFill>
                  <a:srgbClr val="C99B27"/>
                </a:solidFill>
                <a:latin typeface="Arial" panose="020B0604020202090204"/>
                <a:ea typeface="Arial" panose="020B0604020202090204"/>
                <a:cs typeface="Arial" panose="020B0604020202090204"/>
              </a:defRPr>
            </a:lvl5pPr>
            <a:lvl6pPr algn="ctr">
              <a:defRPr sz="3750" b="1">
                <a:solidFill>
                  <a:srgbClr val="C99B27"/>
                </a:solidFill>
                <a:latin typeface="Arial" panose="020B0604020202090204"/>
                <a:ea typeface="Arial" panose="020B0604020202090204"/>
                <a:cs typeface="Arial" panose="020B0604020202090204"/>
              </a:defRPr>
            </a:lvl6pPr>
            <a:lvl7pPr algn="ctr">
              <a:defRPr sz="3750" b="1">
                <a:solidFill>
                  <a:srgbClr val="C99B27"/>
                </a:solidFill>
                <a:latin typeface="Arial" panose="020B0604020202090204"/>
                <a:ea typeface="Arial" panose="020B0604020202090204"/>
                <a:cs typeface="Arial" panose="020B0604020202090204"/>
              </a:defRPr>
            </a:lvl7pPr>
            <a:lvl8pPr algn="ctr">
              <a:defRPr sz="3750" b="1">
                <a:solidFill>
                  <a:srgbClr val="C99B27"/>
                </a:solidFill>
                <a:latin typeface="Arial" panose="020B0604020202090204"/>
                <a:ea typeface="Arial" panose="020B0604020202090204"/>
                <a:cs typeface="Arial" panose="020B0604020202090204"/>
              </a:defRPr>
            </a:lvl8pPr>
            <a:lvl9pPr algn="ctr">
              <a:defRPr sz="3750" b="1">
                <a:solidFill>
                  <a:srgbClr val="C99B27"/>
                </a:solidFill>
                <a:latin typeface="Arial" panose="020B0604020202090204"/>
                <a:ea typeface="Arial" panose="020B0604020202090204"/>
                <a:cs typeface="Arial" panose="020B0604020202090204"/>
              </a:defRPr>
            </a:lvl9pPr>
          </a:lstStyle>
          <a:p>
            <a:pPr algn="ctr">
              <a:lnSpc>
                <a:spcPct val="102000"/>
              </a:lnSpc>
              <a:buNone/>
              <a:defRPr sz="3750" b="1">
                <a:solidFill>
                  <a:srgbClr val="C99B27"/>
                </a:solidFill>
                <a:latin typeface="Arial" panose="020B0604020202090204"/>
                <a:ea typeface="Arial" panose="020B0604020202090204"/>
                <a:cs typeface="Arial" panose="020B0604020202090204"/>
              </a:defRPr>
            </a:pPr>
            <a:r>
              <a:rPr sz="3750" b="1">
                <a:solidFill>
                  <a:srgbClr val="C99B27"/>
                </a:solidFill>
                <a:latin typeface="Arial" panose="020B0604020202090204"/>
                <a:ea typeface="Arial" panose="020B0604020202090204"/>
                <a:cs typeface="Arial" panose="020B0604020202090204"/>
              </a:rPr>
              <a:t>8</a:t>
            </a:r>
            <a:endParaRPr sz="3750" b="1">
              <a:solidFill>
                <a:srgbClr val="C99B27"/>
              </a:solidFill>
              <a:latin typeface="Arial" panose="020B0604020202090204"/>
              <a:ea typeface="Arial" panose="020B0604020202090204"/>
              <a:cs typeface="Arial" panose="020B0604020202090204"/>
            </a:endParaRPr>
          </a:p>
        </p:txBody>
      </p:sp>
      <p:sp>
        <p:nvSpPr>
          <p:cNvPr id="9" name="矩形 8"/>
          <p:cNvSpPr>
            <a:spLocks noGrp="1"/>
          </p:cNvSpPr>
          <p:nvPr/>
        </p:nvSpPr>
        <p:spPr>
          <a:xfrm>
            <a:off x="5000625" y="2724150"/>
            <a:ext cx="1952625" cy="83820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training-free</a:t>
            </a:r>
            <a:endParaRPr sz="1275" b="0">
              <a:solidFill>
                <a:srgbClr val="637279"/>
              </a:solidFill>
              <a:latin typeface="Arial" panose="020B0604020202090204"/>
              <a:ea typeface="Arial" panose="020B0604020202090204"/>
              <a:cs typeface="Arial" panose="020B0604020202090204"/>
            </a:endParaRPr>
          </a:p>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baselines</a:t>
            </a:r>
            <a:endParaRPr sz="1275" b="0">
              <a:solidFill>
                <a:srgbClr val="637279"/>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7239000" y="1809750"/>
            <a:ext cx="1952625" cy="838200"/>
          </a:xfrm>
          <a:prstGeom prst="rect">
            <a:avLst/>
          </a:prstGeom>
          <a:noFill/>
          <a:ln w="0">
            <a:noFill/>
            <a:prstDash val="solid"/>
          </a:ln>
        </p:spPr>
        <p:txBody>
          <a:bodyPr wrap="square" lIns="0" tIns="0" rIns="0" bIns="0" anchor="ctr">
            <a:normAutofit/>
          </a:bodyPr>
          <a:lstStyle>
            <a:defPPr algn="ctr">
              <a:defRPr sz="3750" b="1">
                <a:solidFill>
                  <a:srgbClr val="147A78"/>
                </a:solidFill>
                <a:latin typeface="Arial" panose="020B0604020202090204"/>
                <a:ea typeface="Arial" panose="020B0604020202090204"/>
                <a:cs typeface="Arial" panose="020B0604020202090204"/>
              </a:defRPr>
            </a:defPPr>
            <a:lvl1pPr algn="ctr">
              <a:defRPr sz="3750" b="1">
                <a:solidFill>
                  <a:srgbClr val="147A78"/>
                </a:solidFill>
                <a:latin typeface="Arial" panose="020B0604020202090204"/>
                <a:ea typeface="Arial" panose="020B0604020202090204"/>
                <a:cs typeface="Arial" panose="020B0604020202090204"/>
              </a:defRPr>
            </a:lvl1pPr>
            <a:lvl2pPr algn="ctr">
              <a:defRPr sz="3750" b="1">
                <a:solidFill>
                  <a:srgbClr val="147A78"/>
                </a:solidFill>
                <a:latin typeface="Arial" panose="020B0604020202090204"/>
                <a:ea typeface="Arial" panose="020B0604020202090204"/>
                <a:cs typeface="Arial" panose="020B0604020202090204"/>
              </a:defRPr>
            </a:lvl2pPr>
            <a:lvl3pPr algn="ctr">
              <a:defRPr sz="3750" b="1">
                <a:solidFill>
                  <a:srgbClr val="147A78"/>
                </a:solidFill>
                <a:latin typeface="Arial" panose="020B0604020202090204"/>
                <a:ea typeface="Arial" panose="020B0604020202090204"/>
                <a:cs typeface="Arial" panose="020B0604020202090204"/>
              </a:defRPr>
            </a:lvl3pPr>
            <a:lvl4pPr algn="ctr">
              <a:defRPr sz="3750" b="1">
                <a:solidFill>
                  <a:srgbClr val="147A78"/>
                </a:solidFill>
                <a:latin typeface="Arial" panose="020B0604020202090204"/>
                <a:ea typeface="Arial" panose="020B0604020202090204"/>
                <a:cs typeface="Arial" panose="020B0604020202090204"/>
              </a:defRPr>
            </a:lvl4pPr>
            <a:lvl5pPr algn="ctr">
              <a:defRPr sz="3750" b="1">
                <a:solidFill>
                  <a:srgbClr val="147A78"/>
                </a:solidFill>
                <a:latin typeface="Arial" panose="020B0604020202090204"/>
                <a:ea typeface="Arial" panose="020B0604020202090204"/>
                <a:cs typeface="Arial" panose="020B0604020202090204"/>
              </a:defRPr>
            </a:lvl5pPr>
            <a:lvl6pPr algn="ctr">
              <a:defRPr sz="3750" b="1">
                <a:solidFill>
                  <a:srgbClr val="147A78"/>
                </a:solidFill>
                <a:latin typeface="Arial" panose="020B0604020202090204"/>
                <a:ea typeface="Arial" panose="020B0604020202090204"/>
                <a:cs typeface="Arial" panose="020B0604020202090204"/>
              </a:defRPr>
            </a:lvl6pPr>
            <a:lvl7pPr algn="ctr">
              <a:defRPr sz="3750" b="1">
                <a:solidFill>
                  <a:srgbClr val="147A78"/>
                </a:solidFill>
                <a:latin typeface="Arial" panose="020B0604020202090204"/>
                <a:ea typeface="Arial" panose="020B0604020202090204"/>
                <a:cs typeface="Arial" panose="020B0604020202090204"/>
              </a:defRPr>
            </a:lvl7pPr>
            <a:lvl8pPr algn="ctr">
              <a:defRPr sz="3750" b="1">
                <a:solidFill>
                  <a:srgbClr val="147A78"/>
                </a:solidFill>
                <a:latin typeface="Arial" panose="020B0604020202090204"/>
                <a:ea typeface="Arial" panose="020B0604020202090204"/>
                <a:cs typeface="Arial" panose="020B0604020202090204"/>
              </a:defRPr>
            </a:lvl8pPr>
            <a:lvl9pPr algn="ctr">
              <a:defRPr sz="3750" b="1">
                <a:solidFill>
                  <a:srgbClr val="147A78"/>
                </a:solidFill>
                <a:latin typeface="Arial" panose="020B0604020202090204"/>
                <a:ea typeface="Arial" panose="020B0604020202090204"/>
                <a:cs typeface="Arial" panose="020B0604020202090204"/>
              </a:defRPr>
            </a:lvl9pPr>
          </a:lstStyle>
          <a:p>
            <a:pPr algn="ctr">
              <a:lnSpc>
                <a:spcPct val="102000"/>
              </a:lnSpc>
              <a:buNone/>
              <a:defRPr sz="3750" b="1">
                <a:solidFill>
                  <a:srgbClr val="147A78"/>
                </a:solidFill>
                <a:latin typeface="Arial" panose="020B0604020202090204"/>
                <a:ea typeface="Arial" panose="020B0604020202090204"/>
                <a:cs typeface="Arial" panose="020B0604020202090204"/>
              </a:defRPr>
            </a:pPr>
            <a:r>
              <a:rPr sz="3750" b="1">
                <a:solidFill>
                  <a:srgbClr val="147A78"/>
                </a:solidFill>
                <a:latin typeface="Arial" panose="020B0604020202090204"/>
                <a:ea typeface="Arial" panose="020B0604020202090204"/>
                <a:cs typeface="Arial" panose="020B0604020202090204"/>
              </a:rPr>
              <a:t>300</a:t>
            </a:r>
            <a:endParaRPr sz="3750" b="1">
              <a:solidFill>
                <a:srgbClr val="147A78"/>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7239000" y="2724150"/>
            <a:ext cx="1952625" cy="83820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texts per dataset</a:t>
            </a:r>
            <a:endParaRPr sz="1275" b="0">
              <a:solidFill>
                <a:srgbClr val="637279"/>
              </a:solidFill>
              <a:latin typeface="Arial" panose="020B0604020202090204"/>
              <a:ea typeface="Arial" panose="020B0604020202090204"/>
              <a:cs typeface="Arial" panose="020B0604020202090204"/>
            </a:endParaRPr>
          </a:p>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150 human + 150 LLM</a:t>
            </a:r>
            <a:endParaRPr sz="1275" b="0">
              <a:solidFill>
                <a:srgbClr val="637279"/>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9477375" y="1809750"/>
            <a:ext cx="1952625" cy="838200"/>
          </a:xfrm>
          <a:prstGeom prst="rect">
            <a:avLst/>
          </a:prstGeom>
          <a:noFill/>
          <a:ln w="0">
            <a:noFill/>
            <a:prstDash val="solid"/>
          </a:ln>
        </p:spPr>
        <p:txBody>
          <a:bodyPr wrap="square" lIns="0" tIns="0" rIns="0" bIns="0" anchor="ctr">
            <a:normAutofit/>
          </a:bodyPr>
          <a:lstStyle>
            <a:defPPr algn="ctr">
              <a:defRPr sz="3750" b="1">
                <a:solidFill>
                  <a:srgbClr val="E7684A"/>
                </a:solidFill>
                <a:latin typeface="Arial" panose="020B0604020202090204"/>
                <a:ea typeface="Arial" panose="020B0604020202090204"/>
                <a:cs typeface="Arial" panose="020B0604020202090204"/>
              </a:defRPr>
            </a:defPPr>
            <a:lvl1pPr algn="ctr">
              <a:defRPr sz="3750" b="1">
                <a:solidFill>
                  <a:srgbClr val="E7684A"/>
                </a:solidFill>
                <a:latin typeface="Arial" panose="020B0604020202090204"/>
                <a:ea typeface="Arial" panose="020B0604020202090204"/>
                <a:cs typeface="Arial" panose="020B0604020202090204"/>
              </a:defRPr>
            </a:lvl1pPr>
            <a:lvl2pPr algn="ctr">
              <a:defRPr sz="3750" b="1">
                <a:solidFill>
                  <a:srgbClr val="E7684A"/>
                </a:solidFill>
                <a:latin typeface="Arial" panose="020B0604020202090204"/>
                <a:ea typeface="Arial" panose="020B0604020202090204"/>
                <a:cs typeface="Arial" panose="020B0604020202090204"/>
              </a:defRPr>
            </a:lvl2pPr>
            <a:lvl3pPr algn="ctr">
              <a:defRPr sz="3750" b="1">
                <a:solidFill>
                  <a:srgbClr val="E7684A"/>
                </a:solidFill>
                <a:latin typeface="Arial" panose="020B0604020202090204"/>
                <a:ea typeface="Arial" panose="020B0604020202090204"/>
                <a:cs typeface="Arial" panose="020B0604020202090204"/>
              </a:defRPr>
            </a:lvl3pPr>
            <a:lvl4pPr algn="ctr">
              <a:defRPr sz="3750" b="1">
                <a:solidFill>
                  <a:srgbClr val="E7684A"/>
                </a:solidFill>
                <a:latin typeface="Arial" panose="020B0604020202090204"/>
                <a:ea typeface="Arial" panose="020B0604020202090204"/>
                <a:cs typeface="Arial" panose="020B0604020202090204"/>
              </a:defRPr>
            </a:lvl4pPr>
            <a:lvl5pPr algn="ctr">
              <a:defRPr sz="3750" b="1">
                <a:solidFill>
                  <a:srgbClr val="E7684A"/>
                </a:solidFill>
                <a:latin typeface="Arial" panose="020B0604020202090204"/>
                <a:ea typeface="Arial" panose="020B0604020202090204"/>
                <a:cs typeface="Arial" panose="020B0604020202090204"/>
              </a:defRPr>
            </a:lvl5pPr>
            <a:lvl6pPr algn="ctr">
              <a:defRPr sz="3750" b="1">
                <a:solidFill>
                  <a:srgbClr val="E7684A"/>
                </a:solidFill>
                <a:latin typeface="Arial" panose="020B0604020202090204"/>
                <a:ea typeface="Arial" panose="020B0604020202090204"/>
                <a:cs typeface="Arial" panose="020B0604020202090204"/>
              </a:defRPr>
            </a:lvl6pPr>
            <a:lvl7pPr algn="ctr">
              <a:defRPr sz="3750" b="1">
                <a:solidFill>
                  <a:srgbClr val="E7684A"/>
                </a:solidFill>
                <a:latin typeface="Arial" panose="020B0604020202090204"/>
                <a:ea typeface="Arial" panose="020B0604020202090204"/>
                <a:cs typeface="Arial" panose="020B0604020202090204"/>
              </a:defRPr>
            </a:lvl7pPr>
            <a:lvl8pPr algn="ctr">
              <a:defRPr sz="3750" b="1">
                <a:solidFill>
                  <a:srgbClr val="E7684A"/>
                </a:solidFill>
                <a:latin typeface="Arial" panose="020B0604020202090204"/>
                <a:ea typeface="Arial" panose="020B0604020202090204"/>
                <a:cs typeface="Arial" panose="020B0604020202090204"/>
              </a:defRPr>
            </a:lvl8pPr>
            <a:lvl9pPr algn="ctr">
              <a:defRPr sz="3750" b="1">
                <a:solidFill>
                  <a:srgbClr val="E7684A"/>
                </a:solidFill>
                <a:latin typeface="Arial" panose="020B0604020202090204"/>
                <a:ea typeface="Arial" panose="020B0604020202090204"/>
                <a:cs typeface="Arial" panose="020B0604020202090204"/>
              </a:defRPr>
            </a:lvl9pPr>
          </a:lstStyle>
          <a:p>
            <a:pPr algn="ctr">
              <a:lnSpc>
                <a:spcPct val="102000"/>
              </a:lnSpc>
              <a:buNone/>
              <a:defRPr sz="3750" b="1">
                <a:solidFill>
                  <a:srgbClr val="E7684A"/>
                </a:solidFill>
                <a:latin typeface="Arial" panose="020B0604020202090204"/>
                <a:ea typeface="Arial" panose="020B0604020202090204"/>
                <a:cs typeface="Arial" panose="020B0604020202090204"/>
              </a:defRPr>
            </a:pPr>
            <a:r>
              <a:rPr sz="3750" b="1">
                <a:solidFill>
                  <a:srgbClr val="E7684A"/>
                </a:solidFill>
                <a:latin typeface="Arial" panose="020B0604020202090204"/>
                <a:ea typeface="Arial" panose="020B0604020202090204"/>
                <a:cs typeface="Arial" panose="020B0604020202090204"/>
              </a:rPr>
              <a:t>2</a:t>
            </a:r>
            <a:endParaRPr sz="3750" b="1">
              <a:solidFill>
                <a:srgbClr val="E7684A"/>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9477375" y="2724150"/>
            <a:ext cx="1952625" cy="838200"/>
          </a:xfrm>
          <a:prstGeom prst="rect">
            <a:avLst/>
          </a:prstGeom>
          <a:noFill/>
          <a:ln w="0">
            <a:noFill/>
            <a:prstDash val="solid"/>
          </a:ln>
        </p:spPr>
        <p:txBody>
          <a:bodyPr wrap="square" lIns="0" tIns="0" rIns="0" bIns="0" anchor="t">
            <a:normAutofit/>
          </a:bodyPr>
          <a:lstStyle>
            <a:defPPr algn="ctr">
              <a:defRPr sz="1275" b="0">
                <a:solidFill>
                  <a:srgbClr val="637279"/>
                </a:solidFill>
                <a:latin typeface="Arial" panose="020B0604020202090204"/>
                <a:ea typeface="Arial" panose="020B0604020202090204"/>
                <a:cs typeface="Arial" panose="020B0604020202090204"/>
              </a:defRPr>
            </a:defPPr>
            <a:lvl1pPr algn="ctr">
              <a:defRPr sz="1275" b="0">
                <a:solidFill>
                  <a:srgbClr val="637279"/>
                </a:solidFill>
                <a:latin typeface="Arial" panose="020B0604020202090204"/>
                <a:ea typeface="Arial" panose="020B0604020202090204"/>
                <a:cs typeface="Arial" panose="020B0604020202090204"/>
              </a:defRPr>
            </a:lvl1pPr>
            <a:lvl2pPr algn="ctr">
              <a:defRPr sz="1275" b="0">
                <a:solidFill>
                  <a:srgbClr val="637279"/>
                </a:solidFill>
                <a:latin typeface="Arial" panose="020B0604020202090204"/>
                <a:ea typeface="Arial" panose="020B0604020202090204"/>
                <a:cs typeface="Arial" panose="020B0604020202090204"/>
              </a:defRPr>
            </a:lvl2pPr>
            <a:lvl3pPr algn="ctr">
              <a:defRPr sz="1275" b="0">
                <a:solidFill>
                  <a:srgbClr val="637279"/>
                </a:solidFill>
                <a:latin typeface="Arial" panose="020B0604020202090204"/>
                <a:ea typeface="Arial" panose="020B0604020202090204"/>
                <a:cs typeface="Arial" panose="020B0604020202090204"/>
              </a:defRPr>
            </a:lvl3pPr>
            <a:lvl4pPr algn="ctr">
              <a:defRPr sz="1275" b="0">
                <a:solidFill>
                  <a:srgbClr val="637279"/>
                </a:solidFill>
                <a:latin typeface="Arial" panose="020B0604020202090204"/>
                <a:ea typeface="Arial" panose="020B0604020202090204"/>
                <a:cs typeface="Arial" panose="020B0604020202090204"/>
              </a:defRPr>
            </a:lvl4pPr>
            <a:lvl5pPr algn="ctr">
              <a:defRPr sz="1275" b="0">
                <a:solidFill>
                  <a:srgbClr val="637279"/>
                </a:solidFill>
                <a:latin typeface="Arial" panose="020B0604020202090204"/>
                <a:ea typeface="Arial" panose="020B0604020202090204"/>
                <a:cs typeface="Arial" panose="020B0604020202090204"/>
              </a:defRPr>
            </a:lvl5pPr>
            <a:lvl6pPr algn="ctr">
              <a:defRPr sz="1275" b="0">
                <a:solidFill>
                  <a:srgbClr val="637279"/>
                </a:solidFill>
                <a:latin typeface="Arial" panose="020B0604020202090204"/>
                <a:ea typeface="Arial" panose="020B0604020202090204"/>
                <a:cs typeface="Arial" panose="020B0604020202090204"/>
              </a:defRPr>
            </a:lvl6pPr>
            <a:lvl7pPr algn="ctr">
              <a:defRPr sz="1275" b="0">
                <a:solidFill>
                  <a:srgbClr val="637279"/>
                </a:solidFill>
                <a:latin typeface="Arial" panose="020B0604020202090204"/>
                <a:ea typeface="Arial" panose="020B0604020202090204"/>
                <a:cs typeface="Arial" panose="020B0604020202090204"/>
              </a:defRPr>
            </a:lvl7pPr>
            <a:lvl8pPr algn="ctr">
              <a:defRPr sz="1275" b="0">
                <a:solidFill>
                  <a:srgbClr val="637279"/>
                </a:solidFill>
                <a:latin typeface="Arial" panose="020B0604020202090204"/>
                <a:ea typeface="Arial" panose="020B0604020202090204"/>
                <a:cs typeface="Arial" panose="020B0604020202090204"/>
              </a:defRPr>
            </a:lvl8pPr>
            <a:lvl9pPr algn="ctr">
              <a:defRPr sz="1275" b="0">
                <a:solidFill>
                  <a:srgbClr val="637279"/>
                </a:solidFill>
                <a:latin typeface="Arial" panose="020B0604020202090204"/>
                <a:ea typeface="Arial" panose="020B0604020202090204"/>
                <a:cs typeface="Arial" panose="020B0604020202090204"/>
              </a:defRPr>
            </a:lvl9pPr>
          </a:lstStyle>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regimes</a:t>
            </a:r>
            <a:endParaRPr sz="1275" b="0">
              <a:solidFill>
                <a:srgbClr val="637279"/>
              </a:solidFill>
              <a:latin typeface="Arial" panose="020B0604020202090204"/>
              <a:ea typeface="Arial" panose="020B0604020202090204"/>
              <a:cs typeface="Arial" panose="020B0604020202090204"/>
            </a:endParaRPr>
          </a:p>
          <a:p>
            <a:pPr algn="ctr">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white box + black box</a:t>
            </a:r>
            <a:endParaRPr sz="1275" b="0">
              <a:solidFill>
                <a:srgbClr val="637279"/>
              </a:solidFill>
              <a:latin typeface="Arial" panose="020B0604020202090204"/>
              <a:ea typeface="Arial" panose="020B0604020202090204"/>
              <a:cs typeface="Arial" panose="020B0604020202090204"/>
            </a:endParaRPr>
          </a:p>
        </p:txBody>
      </p:sp>
      <p:sp>
        <p:nvSpPr>
          <p:cNvPr id="14" name="直接连接符 13"/>
          <p:cNvSpPr>
            <a:spLocks noGrp="1"/>
          </p:cNvSpPr>
          <p:nvPr/>
        </p:nvSpPr>
        <p:spPr>
          <a:xfrm>
            <a:off x="666750" y="3905250"/>
            <a:ext cx="10858500" cy="0"/>
          </a:xfrm>
          <a:prstGeom prst="line">
            <a:avLst/>
          </a:prstGeom>
          <a:noFill/>
          <a:ln w="9525">
            <a:solidFill>
              <a:srgbClr val="D7DEDF"/>
            </a:solidFill>
            <a:prstDash val="solid"/>
          </a:ln>
        </p:spPr>
      </p:sp>
      <p:sp>
        <p:nvSpPr>
          <p:cNvPr id="15" name="矩形 14"/>
          <p:cNvSpPr>
            <a:spLocks noGrp="1"/>
          </p:cNvSpPr>
          <p:nvPr/>
        </p:nvSpPr>
        <p:spPr>
          <a:xfrm>
            <a:off x="952500" y="4333875"/>
            <a:ext cx="1524000" cy="285750"/>
          </a:xfrm>
          <a:prstGeom prst="rect">
            <a:avLst/>
          </a:prstGeom>
          <a:noFill/>
          <a:ln w="0">
            <a:noFill/>
            <a:prstDash val="solid"/>
          </a:ln>
        </p:spPr>
        <p:txBody>
          <a:bodyPr wrap="square" lIns="0" tIns="0" rIns="0" bIns="0" anchor="t">
            <a:normAutofit/>
          </a:bodyPr>
          <a:lstStyle>
            <a:defPPr algn="l">
              <a:defRPr sz="1500" b="1">
                <a:solidFill>
                  <a:srgbClr val="182226"/>
                </a:solidFill>
                <a:latin typeface="Arial" panose="020B0604020202090204"/>
                <a:ea typeface="Arial" panose="020B0604020202090204"/>
                <a:cs typeface="Arial" panose="020B0604020202090204"/>
              </a:defRPr>
            </a:defPPr>
            <a:lvl1pPr algn="l">
              <a:defRPr sz="1500" b="1">
                <a:solidFill>
                  <a:srgbClr val="182226"/>
                </a:solidFill>
                <a:latin typeface="Arial" panose="020B0604020202090204"/>
                <a:ea typeface="Arial" panose="020B0604020202090204"/>
                <a:cs typeface="Arial" panose="020B0604020202090204"/>
              </a:defRPr>
            </a:lvl1pPr>
            <a:lvl2pPr algn="l">
              <a:defRPr sz="1500" b="1">
                <a:solidFill>
                  <a:srgbClr val="182226"/>
                </a:solidFill>
                <a:latin typeface="Arial" panose="020B0604020202090204"/>
                <a:ea typeface="Arial" panose="020B0604020202090204"/>
                <a:cs typeface="Arial" panose="020B0604020202090204"/>
              </a:defRPr>
            </a:lvl2pPr>
            <a:lvl3pPr algn="l">
              <a:defRPr sz="1500" b="1">
                <a:solidFill>
                  <a:srgbClr val="182226"/>
                </a:solidFill>
                <a:latin typeface="Arial" panose="020B0604020202090204"/>
                <a:ea typeface="Arial" panose="020B0604020202090204"/>
                <a:cs typeface="Arial" panose="020B0604020202090204"/>
              </a:defRPr>
            </a:lvl3pPr>
            <a:lvl4pPr algn="l">
              <a:defRPr sz="1500" b="1">
                <a:solidFill>
                  <a:srgbClr val="182226"/>
                </a:solidFill>
                <a:latin typeface="Arial" panose="020B0604020202090204"/>
                <a:ea typeface="Arial" panose="020B0604020202090204"/>
                <a:cs typeface="Arial" panose="020B0604020202090204"/>
              </a:defRPr>
            </a:lvl4pPr>
            <a:lvl5pPr algn="l">
              <a:defRPr sz="1500" b="1">
                <a:solidFill>
                  <a:srgbClr val="182226"/>
                </a:solidFill>
                <a:latin typeface="Arial" panose="020B0604020202090204"/>
                <a:ea typeface="Arial" panose="020B0604020202090204"/>
                <a:cs typeface="Arial" panose="020B0604020202090204"/>
              </a:defRPr>
            </a:lvl5pPr>
            <a:lvl6pPr algn="l">
              <a:defRPr sz="1500" b="1">
                <a:solidFill>
                  <a:srgbClr val="182226"/>
                </a:solidFill>
                <a:latin typeface="Arial" panose="020B0604020202090204"/>
                <a:ea typeface="Arial" panose="020B0604020202090204"/>
                <a:cs typeface="Arial" panose="020B0604020202090204"/>
              </a:defRPr>
            </a:lvl6pPr>
            <a:lvl7pPr algn="l">
              <a:defRPr sz="1500" b="1">
                <a:solidFill>
                  <a:srgbClr val="182226"/>
                </a:solidFill>
                <a:latin typeface="Arial" panose="020B0604020202090204"/>
                <a:ea typeface="Arial" panose="020B0604020202090204"/>
                <a:cs typeface="Arial" panose="020B0604020202090204"/>
              </a:defRPr>
            </a:lvl7pPr>
            <a:lvl8pPr algn="l">
              <a:defRPr sz="1500" b="1">
                <a:solidFill>
                  <a:srgbClr val="182226"/>
                </a:solidFill>
                <a:latin typeface="Arial" panose="020B0604020202090204"/>
                <a:ea typeface="Arial" panose="020B0604020202090204"/>
                <a:cs typeface="Arial" panose="020B0604020202090204"/>
              </a:defRPr>
            </a:lvl8pPr>
            <a:lvl9pPr algn="l">
              <a:defRPr sz="1500" b="1">
                <a:solidFill>
                  <a:srgbClr val="182226"/>
                </a:solidFill>
                <a:latin typeface="Arial" panose="020B0604020202090204"/>
                <a:ea typeface="Arial" panose="020B0604020202090204"/>
                <a:cs typeface="Arial" panose="020B0604020202090204"/>
              </a:defRPr>
            </a:lvl9pPr>
          </a:lstStyle>
          <a:p>
            <a:pPr algn="l">
              <a:lnSpc>
                <a:spcPct val="102000"/>
              </a:lnSpc>
              <a:buNone/>
              <a:defRPr sz="1500" b="1">
                <a:solidFill>
                  <a:srgbClr val="182226"/>
                </a:solidFill>
                <a:latin typeface="Arial" panose="020B0604020202090204"/>
                <a:ea typeface="Arial" panose="020B0604020202090204"/>
                <a:cs typeface="Arial" panose="020B0604020202090204"/>
              </a:defRPr>
            </a:pPr>
            <a:r>
              <a:rPr sz="1500" b="1">
                <a:solidFill>
                  <a:srgbClr val="182226"/>
                </a:solidFill>
                <a:latin typeface="Arial" panose="020B0604020202090204"/>
                <a:ea typeface="Arial" panose="020B0604020202090204"/>
                <a:cs typeface="Arial" panose="020B0604020202090204"/>
              </a:rPr>
              <a:t>Metric</a:t>
            </a:r>
            <a:endParaRPr sz="1500" b="1">
              <a:solidFill>
                <a:srgbClr val="182226"/>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952500" y="4762500"/>
            <a:ext cx="2095500" cy="495300"/>
          </a:xfrm>
          <a:prstGeom prst="rect">
            <a:avLst/>
          </a:prstGeom>
          <a:noFill/>
          <a:ln w="0">
            <a:noFill/>
            <a:prstDash val="solid"/>
          </a:ln>
        </p:spPr>
        <p:txBody>
          <a:bodyPr wrap="square" lIns="0" tIns="0" rIns="0" bIns="0" anchor="t">
            <a:normAutofit/>
          </a:bodyPr>
          <a:lstStyle>
            <a:defPPr algn="l">
              <a:defRPr sz="2850" b="1">
                <a:solidFill>
                  <a:srgbClr val="147A78"/>
                </a:solidFill>
                <a:latin typeface="Arial" panose="020B0604020202090204"/>
                <a:ea typeface="Arial" panose="020B0604020202090204"/>
                <a:cs typeface="Arial" panose="020B0604020202090204"/>
              </a:defRPr>
            </a:defPPr>
            <a:lvl1pPr algn="l">
              <a:defRPr sz="2850" b="1">
                <a:solidFill>
                  <a:srgbClr val="147A78"/>
                </a:solidFill>
                <a:latin typeface="Arial" panose="020B0604020202090204"/>
                <a:ea typeface="Arial" panose="020B0604020202090204"/>
                <a:cs typeface="Arial" panose="020B0604020202090204"/>
              </a:defRPr>
            </a:lvl1pPr>
            <a:lvl2pPr algn="l">
              <a:defRPr sz="2850" b="1">
                <a:solidFill>
                  <a:srgbClr val="147A78"/>
                </a:solidFill>
                <a:latin typeface="Arial" panose="020B0604020202090204"/>
                <a:ea typeface="Arial" panose="020B0604020202090204"/>
                <a:cs typeface="Arial" panose="020B0604020202090204"/>
              </a:defRPr>
            </a:lvl2pPr>
            <a:lvl3pPr algn="l">
              <a:defRPr sz="2850" b="1">
                <a:solidFill>
                  <a:srgbClr val="147A78"/>
                </a:solidFill>
                <a:latin typeface="Arial" panose="020B0604020202090204"/>
                <a:ea typeface="Arial" panose="020B0604020202090204"/>
                <a:cs typeface="Arial" panose="020B0604020202090204"/>
              </a:defRPr>
            </a:lvl3pPr>
            <a:lvl4pPr algn="l">
              <a:defRPr sz="2850" b="1">
                <a:solidFill>
                  <a:srgbClr val="147A78"/>
                </a:solidFill>
                <a:latin typeface="Arial" panose="020B0604020202090204"/>
                <a:ea typeface="Arial" panose="020B0604020202090204"/>
                <a:cs typeface="Arial" panose="020B0604020202090204"/>
              </a:defRPr>
            </a:lvl4pPr>
            <a:lvl5pPr algn="l">
              <a:defRPr sz="2850" b="1">
                <a:solidFill>
                  <a:srgbClr val="147A78"/>
                </a:solidFill>
                <a:latin typeface="Arial" panose="020B0604020202090204"/>
                <a:ea typeface="Arial" panose="020B0604020202090204"/>
                <a:cs typeface="Arial" panose="020B0604020202090204"/>
              </a:defRPr>
            </a:lvl5pPr>
            <a:lvl6pPr algn="l">
              <a:defRPr sz="2850" b="1">
                <a:solidFill>
                  <a:srgbClr val="147A78"/>
                </a:solidFill>
                <a:latin typeface="Arial" panose="020B0604020202090204"/>
                <a:ea typeface="Arial" panose="020B0604020202090204"/>
                <a:cs typeface="Arial" panose="020B0604020202090204"/>
              </a:defRPr>
            </a:lvl6pPr>
            <a:lvl7pPr algn="l">
              <a:defRPr sz="2850" b="1">
                <a:solidFill>
                  <a:srgbClr val="147A78"/>
                </a:solidFill>
                <a:latin typeface="Arial" panose="020B0604020202090204"/>
                <a:ea typeface="Arial" panose="020B0604020202090204"/>
                <a:cs typeface="Arial" panose="020B0604020202090204"/>
              </a:defRPr>
            </a:lvl7pPr>
            <a:lvl8pPr algn="l">
              <a:defRPr sz="2850" b="1">
                <a:solidFill>
                  <a:srgbClr val="147A78"/>
                </a:solidFill>
                <a:latin typeface="Arial" panose="020B0604020202090204"/>
                <a:ea typeface="Arial" panose="020B0604020202090204"/>
                <a:cs typeface="Arial" panose="020B0604020202090204"/>
              </a:defRPr>
            </a:lvl8pPr>
            <a:lvl9pPr algn="l">
              <a:defRPr sz="2850" b="1">
                <a:solidFill>
                  <a:srgbClr val="147A78"/>
                </a:solidFill>
                <a:latin typeface="Arial" panose="020B0604020202090204"/>
                <a:ea typeface="Arial" panose="020B0604020202090204"/>
                <a:cs typeface="Arial" panose="020B0604020202090204"/>
              </a:defRPr>
            </a:lvl9pPr>
          </a:lstStyle>
          <a:p>
            <a:pPr algn="l">
              <a:lnSpc>
                <a:spcPct val="102000"/>
              </a:lnSpc>
              <a:buNone/>
              <a:defRPr sz="2850" b="1">
                <a:solidFill>
                  <a:srgbClr val="147A78"/>
                </a:solidFill>
                <a:latin typeface="Arial" panose="020B0604020202090204"/>
                <a:ea typeface="Arial" panose="020B0604020202090204"/>
                <a:cs typeface="Arial" panose="020B0604020202090204"/>
              </a:defRPr>
            </a:pPr>
            <a:r>
              <a:rPr sz="2850" b="1">
                <a:solidFill>
                  <a:srgbClr val="147A78"/>
                </a:solidFill>
                <a:latin typeface="Arial" panose="020B0604020202090204"/>
                <a:ea typeface="Arial" panose="020B0604020202090204"/>
                <a:cs typeface="Arial" panose="020B0604020202090204"/>
              </a:rPr>
              <a:t>AUROC</a:t>
            </a:r>
            <a:endParaRPr sz="2850" b="1">
              <a:solidFill>
                <a:srgbClr val="147A78"/>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4476750" y="4333875"/>
            <a:ext cx="2000250" cy="285750"/>
          </a:xfrm>
          <a:prstGeom prst="rect">
            <a:avLst/>
          </a:prstGeom>
          <a:noFill/>
          <a:ln w="0">
            <a:noFill/>
            <a:prstDash val="solid"/>
          </a:ln>
        </p:spPr>
        <p:txBody>
          <a:bodyPr wrap="square" lIns="0" tIns="0" rIns="0" bIns="0" anchor="t">
            <a:normAutofit/>
          </a:bodyPr>
          <a:lstStyle>
            <a:defPPr algn="l">
              <a:defRPr sz="1500" b="1">
                <a:solidFill>
                  <a:srgbClr val="182226"/>
                </a:solidFill>
                <a:latin typeface="Arial" panose="020B0604020202090204"/>
                <a:ea typeface="Arial" panose="020B0604020202090204"/>
                <a:cs typeface="Arial" panose="020B0604020202090204"/>
              </a:defRPr>
            </a:defPPr>
            <a:lvl1pPr algn="l">
              <a:defRPr sz="1500" b="1">
                <a:solidFill>
                  <a:srgbClr val="182226"/>
                </a:solidFill>
                <a:latin typeface="Arial" panose="020B0604020202090204"/>
                <a:ea typeface="Arial" panose="020B0604020202090204"/>
                <a:cs typeface="Arial" panose="020B0604020202090204"/>
              </a:defRPr>
            </a:lvl1pPr>
            <a:lvl2pPr algn="l">
              <a:defRPr sz="1500" b="1">
                <a:solidFill>
                  <a:srgbClr val="182226"/>
                </a:solidFill>
                <a:latin typeface="Arial" panose="020B0604020202090204"/>
                <a:ea typeface="Arial" panose="020B0604020202090204"/>
                <a:cs typeface="Arial" panose="020B0604020202090204"/>
              </a:defRPr>
            </a:lvl2pPr>
            <a:lvl3pPr algn="l">
              <a:defRPr sz="1500" b="1">
                <a:solidFill>
                  <a:srgbClr val="182226"/>
                </a:solidFill>
                <a:latin typeface="Arial" panose="020B0604020202090204"/>
                <a:ea typeface="Arial" panose="020B0604020202090204"/>
                <a:cs typeface="Arial" panose="020B0604020202090204"/>
              </a:defRPr>
            </a:lvl3pPr>
            <a:lvl4pPr algn="l">
              <a:defRPr sz="1500" b="1">
                <a:solidFill>
                  <a:srgbClr val="182226"/>
                </a:solidFill>
                <a:latin typeface="Arial" panose="020B0604020202090204"/>
                <a:ea typeface="Arial" panose="020B0604020202090204"/>
                <a:cs typeface="Arial" panose="020B0604020202090204"/>
              </a:defRPr>
            </a:lvl4pPr>
            <a:lvl5pPr algn="l">
              <a:defRPr sz="1500" b="1">
                <a:solidFill>
                  <a:srgbClr val="182226"/>
                </a:solidFill>
                <a:latin typeface="Arial" panose="020B0604020202090204"/>
                <a:ea typeface="Arial" panose="020B0604020202090204"/>
                <a:cs typeface="Arial" panose="020B0604020202090204"/>
              </a:defRPr>
            </a:lvl5pPr>
            <a:lvl6pPr algn="l">
              <a:defRPr sz="1500" b="1">
                <a:solidFill>
                  <a:srgbClr val="182226"/>
                </a:solidFill>
                <a:latin typeface="Arial" panose="020B0604020202090204"/>
                <a:ea typeface="Arial" panose="020B0604020202090204"/>
                <a:cs typeface="Arial" panose="020B0604020202090204"/>
              </a:defRPr>
            </a:lvl6pPr>
            <a:lvl7pPr algn="l">
              <a:defRPr sz="1500" b="1">
                <a:solidFill>
                  <a:srgbClr val="182226"/>
                </a:solidFill>
                <a:latin typeface="Arial" panose="020B0604020202090204"/>
                <a:ea typeface="Arial" panose="020B0604020202090204"/>
                <a:cs typeface="Arial" panose="020B0604020202090204"/>
              </a:defRPr>
            </a:lvl7pPr>
            <a:lvl8pPr algn="l">
              <a:defRPr sz="1500" b="1">
                <a:solidFill>
                  <a:srgbClr val="182226"/>
                </a:solidFill>
                <a:latin typeface="Arial" panose="020B0604020202090204"/>
                <a:ea typeface="Arial" panose="020B0604020202090204"/>
                <a:cs typeface="Arial" panose="020B0604020202090204"/>
              </a:defRPr>
            </a:lvl8pPr>
            <a:lvl9pPr algn="l">
              <a:defRPr sz="1500" b="1">
                <a:solidFill>
                  <a:srgbClr val="182226"/>
                </a:solidFill>
                <a:latin typeface="Arial" panose="020B0604020202090204"/>
                <a:ea typeface="Arial" panose="020B0604020202090204"/>
                <a:cs typeface="Arial" panose="020B0604020202090204"/>
              </a:defRPr>
            </a:lvl9pPr>
          </a:lstStyle>
          <a:p>
            <a:pPr algn="l">
              <a:lnSpc>
                <a:spcPct val="102000"/>
              </a:lnSpc>
              <a:buNone/>
              <a:defRPr sz="1500" b="1">
                <a:solidFill>
                  <a:srgbClr val="182226"/>
                </a:solidFill>
                <a:latin typeface="Arial" panose="020B0604020202090204"/>
                <a:ea typeface="Arial" panose="020B0604020202090204"/>
                <a:cs typeface="Arial" panose="020B0604020202090204"/>
              </a:defRPr>
            </a:pPr>
            <a:r>
              <a:rPr sz="1500" b="1">
                <a:solidFill>
                  <a:srgbClr val="182226"/>
                </a:solidFill>
                <a:latin typeface="Arial" panose="020B0604020202090204"/>
                <a:ea typeface="Arial" panose="020B0604020202090204"/>
                <a:cs typeface="Arial" panose="020B0604020202090204"/>
              </a:rPr>
              <a:t>Default proxy</a:t>
            </a:r>
            <a:endParaRPr sz="1500" b="1">
              <a:solidFill>
                <a:srgbClr val="182226"/>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4476750" y="4762500"/>
            <a:ext cx="2476500" cy="495300"/>
          </a:xfrm>
          <a:prstGeom prst="rect">
            <a:avLst/>
          </a:prstGeom>
          <a:noFill/>
          <a:ln w="0">
            <a:noFill/>
            <a:prstDash val="solid"/>
          </a:ln>
        </p:spPr>
        <p:txBody>
          <a:bodyPr wrap="square" lIns="0" tIns="0" rIns="0" bIns="0" anchor="t">
            <a:normAutofit/>
          </a:bodyPr>
          <a:lstStyle>
            <a:defPPr algn="l">
              <a:defRPr sz="2550" b="1">
                <a:solidFill>
                  <a:srgbClr val="E7684A"/>
                </a:solidFill>
                <a:latin typeface="Arial" panose="020B0604020202090204"/>
                <a:ea typeface="Arial" panose="020B0604020202090204"/>
                <a:cs typeface="Arial" panose="020B0604020202090204"/>
              </a:defRPr>
            </a:defPPr>
            <a:lvl1pPr algn="l">
              <a:defRPr sz="2550" b="1">
                <a:solidFill>
                  <a:srgbClr val="E7684A"/>
                </a:solidFill>
                <a:latin typeface="Arial" panose="020B0604020202090204"/>
                <a:ea typeface="Arial" panose="020B0604020202090204"/>
                <a:cs typeface="Arial" panose="020B0604020202090204"/>
              </a:defRPr>
            </a:lvl1pPr>
            <a:lvl2pPr algn="l">
              <a:defRPr sz="2550" b="1">
                <a:solidFill>
                  <a:srgbClr val="E7684A"/>
                </a:solidFill>
                <a:latin typeface="Arial" panose="020B0604020202090204"/>
                <a:ea typeface="Arial" panose="020B0604020202090204"/>
                <a:cs typeface="Arial" panose="020B0604020202090204"/>
              </a:defRPr>
            </a:lvl2pPr>
            <a:lvl3pPr algn="l">
              <a:defRPr sz="2550" b="1">
                <a:solidFill>
                  <a:srgbClr val="E7684A"/>
                </a:solidFill>
                <a:latin typeface="Arial" panose="020B0604020202090204"/>
                <a:ea typeface="Arial" panose="020B0604020202090204"/>
                <a:cs typeface="Arial" panose="020B0604020202090204"/>
              </a:defRPr>
            </a:lvl3pPr>
            <a:lvl4pPr algn="l">
              <a:defRPr sz="2550" b="1">
                <a:solidFill>
                  <a:srgbClr val="E7684A"/>
                </a:solidFill>
                <a:latin typeface="Arial" panose="020B0604020202090204"/>
                <a:ea typeface="Arial" panose="020B0604020202090204"/>
                <a:cs typeface="Arial" panose="020B0604020202090204"/>
              </a:defRPr>
            </a:lvl4pPr>
            <a:lvl5pPr algn="l">
              <a:defRPr sz="2550" b="1">
                <a:solidFill>
                  <a:srgbClr val="E7684A"/>
                </a:solidFill>
                <a:latin typeface="Arial" panose="020B0604020202090204"/>
                <a:ea typeface="Arial" panose="020B0604020202090204"/>
                <a:cs typeface="Arial" panose="020B0604020202090204"/>
              </a:defRPr>
            </a:lvl5pPr>
            <a:lvl6pPr algn="l">
              <a:defRPr sz="2550" b="1">
                <a:solidFill>
                  <a:srgbClr val="E7684A"/>
                </a:solidFill>
                <a:latin typeface="Arial" panose="020B0604020202090204"/>
                <a:ea typeface="Arial" panose="020B0604020202090204"/>
                <a:cs typeface="Arial" panose="020B0604020202090204"/>
              </a:defRPr>
            </a:lvl6pPr>
            <a:lvl7pPr algn="l">
              <a:defRPr sz="2550" b="1">
                <a:solidFill>
                  <a:srgbClr val="E7684A"/>
                </a:solidFill>
                <a:latin typeface="Arial" panose="020B0604020202090204"/>
                <a:ea typeface="Arial" panose="020B0604020202090204"/>
                <a:cs typeface="Arial" panose="020B0604020202090204"/>
              </a:defRPr>
            </a:lvl7pPr>
            <a:lvl8pPr algn="l">
              <a:defRPr sz="2550" b="1">
                <a:solidFill>
                  <a:srgbClr val="E7684A"/>
                </a:solidFill>
                <a:latin typeface="Arial" panose="020B0604020202090204"/>
                <a:ea typeface="Arial" panose="020B0604020202090204"/>
                <a:cs typeface="Arial" panose="020B0604020202090204"/>
              </a:defRPr>
            </a:lvl8pPr>
            <a:lvl9pPr algn="l">
              <a:defRPr sz="2550" b="1">
                <a:solidFill>
                  <a:srgbClr val="E7684A"/>
                </a:solidFill>
                <a:latin typeface="Arial" panose="020B0604020202090204"/>
                <a:ea typeface="Arial" panose="020B0604020202090204"/>
                <a:cs typeface="Arial" panose="020B0604020202090204"/>
              </a:defRPr>
            </a:lvl9pPr>
          </a:lstStyle>
          <a:p>
            <a:pPr algn="l">
              <a:lnSpc>
                <a:spcPct val="102000"/>
              </a:lnSpc>
              <a:buNone/>
              <a:defRPr sz="2550" b="1">
                <a:solidFill>
                  <a:srgbClr val="E7684A"/>
                </a:solidFill>
                <a:latin typeface="Arial" panose="020B0604020202090204"/>
                <a:ea typeface="Arial" panose="020B0604020202090204"/>
                <a:cs typeface="Arial" panose="020B0604020202090204"/>
              </a:defRPr>
            </a:pPr>
            <a:r>
              <a:rPr sz="2550" b="1">
                <a:solidFill>
                  <a:srgbClr val="E7684A"/>
                </a:solidFill>
                <a:latin typeface="Arial" panose="020B0604020202090204"/>
                <a:ea typeface="Arial" panose="020B0604020202090204"/>
                <a:cs typeface="Arial" panose="020B0604020202090204"/>
              </a:rPr>
              <a:t>GPT-J 6B</a:t>
            </a:r>
            <a:endParaRPr sz="2550" b="1">
              <a:solidFill>
                <a:srgbClr val="E7684A"/>
              </a:solidFill>
              <a:latin typeface="Arial" panose="020B0604020202090204"/>
              <a:ea typeface="Arial" panose="020B0604020202090204"/>
              <a:cs typeface="Arial" panose="020B0604020202090204"/>
            </a:endParaRPr>
          </a:p>
        </p:txBody>
      </p:sp>
      <p:sp>
        <p:nvSpPr>
          <p:cNvPr id="19" name="矩形 18"/>
          <p:cNvSpPr>
            <a:spLocks noGrp="1"/>
          </p:cNvSpPr>
          <p:nvPr/>
        </p:nvSpPr>
        <p:spPr>
          <a:xfrm>
            <a:off x="8096250" y="4333875"/>
            <a:ext cx="2000250" cy="285750"/>
          </a:xfrm>
          <a:prstGeom prst="rect">
            <a:avLst/>
          </a:prstGeom>
          <a:noFill/>
          <a:ln w="0">
            <a:noFill/>
            <a:prstDash val="solid"/>
          </a:ln>
        </p:spPr>
        <p:txBody>
          <a:bodyPr wrap="square" lIns="0" tIns="0" rIns="0" bIns="0" anchor="t">
            <a:normAutofit/>
          </a:bodyPr>
          <a:lstStyle>
            <a:defPPr algn="l">
              <a:defRPr sz="1500" b="1">
                <a:solidFill>
                  <a:srgbClr val="182226"/>
                </a:solidFill>
                <a:latin typeface="Arial" panose="020B0604020202090204"/>
                <a:ea typeface="Arial" panose="020B0604020202090204"/>
                <a:cs typeface="Arial" panose="020B0604020202090204"/>
              </a:defRPr>
            </a:defPPr>
            <a:lvl1pPr algn="l">
              <a:defRPr sz="1500" b="1">
                <a:solidFill>
                  <a:srgbClr val="182226"/>
                </a:solidFill>
                <a:latin typeface="Arial" panose="020B0604020202090204"/>
                <a:ea typeface="Arial" panose="020B0604020202090204"/>
                <a:cs typeface="Arial" panose="020B0604020202090204"/>
              </a:defRPr>
            </a:lvl1pPr>
            <a:lvl2pPr algn="l">
              <a:defRPr sz="1500" b="1">
                <a:solidFill>
                  <a:srgbClr val="182226"/>
                </a:solidFill>
                <a:latin typeface="Arial" panose="020B0604020202090204"/>
                <a:ea typeface="Arial" panose="020B0604020202090204"/>
                <a:cs typeface="Arial" panose="020B0604020202090204"/>
              </a:defRPr>
            </a:lvl2pPr>
            <a:lvl3pPr algn="l">
              <a:defRPr sz="1500" b="1">
                <a:solidFill>
                  <a:srgbClr val="182226"/>
                </a:solidFill>
                <a:latin typeface="Arial" panose="020B0604020202090204"/>
                <a:ea typeface="Arial" panose="020B0604020202090204"/>
                <a:cs typeface="Arial" panose="020B0604020202090204"/>
              </a:defRPr>
            </a:lvl3pPr>
            <a:lvl4pPr algn="l">
              <a:defRPr sz="1500" b="1">
                <a:solidFill>
                  <a:srgbClr val="182226"/>
                </a:solidFill>
                <a:latin typeface="Arial" panose="020B0604020202090204"/>
                <a:ea typeface="Arial" panose="020B0604020202090204"/>
                <a:cs typeface="Arial" panose="020B0604020202090204"/>
              </a:defRPr>
            </a:lvl4pPr>
            <a:lvl5pPr algn="l">
              <a:defRPr sz="1500" b="1">
                <a:solidFill>
                  <a:srgbClr val="182226"/>
                </a:solidFill>
                <a:latin typeface="Arial" panose="020B0604020202090204"/>
                <a:ea typeface="Arial" panose="020B0604020202090204"/>
                <a:cs typeface="Arial" panose="020B0604020202090204"/>
              </a:defRPr>
            </a:lvl5pPr>
            <a:lvl6pPr algn="l">
              <a:defRPr sz="1500" b="1">
                <a:solidFill>
                  <a:srgbClr val="182226"/>
                </a:solidFill>
                <a:latin typeface="Arial" panose="020B0604020202090204"/>
                <a:ea typeface="Arial" panose="020B0604020202090204"/>
                <a:cs typeface="Arial" panose="020B0604020202090204"/>
              </a:defRPr>
            </a:lvl6pPr>
            <a:lvl7pPr algn="l">
              <a:defRPr sz="1500" b="1">
                <a:solidFill>
                  <a:srgbClr val="182226"/>
                </a:solidFill>
                <a:latin typeface="Arial" panose="020B0604020202090204"/>
                <a:ea typeface="Arial" panose="020B0604020202090204"/>
                <a:cs typeface="Arial" panose="020B0604020202090204"/>
              </a:defRPr>
            </a:lvl7pPr>
            <a:lvl8pPr algn="l">
              <a:defRPr sz="1500" b="1">
                <a:solidFill>
                  <a:srgbClr val="182226"/>
                </a:solidFill>
                <a:latin typeface="Arial" panose="020B0604020202090204"/>
                <a:ea typeface="Arial" panose="020B0604020202090204"/>
                <a:cs typeface="Arial" panose="020B0604020202090204"/>
              </a:defRPr>
            </a:lvl8pPr>
            <a:lvl9pPr algn="l">
              <a:defRPr sz="1500" b="1">
                <a:solidFill>
                  <a:srgbClr val="182226"/>
                </a:solidFill>
                <a:latin typeface="Arial" panose="020B0604020202090204"/>
                <a:ea typeface="Arial" panose="020B0604020202090204"/>
                <a:cs typeface="Arial" panose="020B0604020202090204"/>
              </a:defRPr>
            </a:lvl9pPr>
          </a:lstStyle>
          <a:p>
            <a:pPr algn="l">
              <a:lnSpc>
                <a:spcPct val="102000"/>
              </a:lnSpc>
              <a:buNone/>
              <a:defRPr sz="1500" b="1">
                <a:solidFill>
                  <a:srgbClr val="182226"/>
                </a:solidFill>
                <a:latin typeface="Arial" panose="020B0604020202090204"/>
                <a:ea typeface="Arial" panose="020B0604020202090204"/>
                <a:cs typeface="Arial" panose="020B0604020202090204"/>
              </a:defRPr>
            </a:pPr>
            <a:r>
              <a:rPr sz="1500" b="1">
                <a:solidFill>
                  <a:srgbClr val="182226"/>
                </a:solidFill>
                <a:latin typeface="Arial" panose="020B0604020202090204"/>
                <a:ea typeface="Arial" panose="020B0604020202090204"/>
                <a:cs typeface="Arial" panose="020B0604020202090204"/>
              </a:rPr>
              <a:t>Main hardware</a:t>
            </a:r>
            <a:endParaRPr sz="1500" b="1">
              <a:solidFill>
                <a:srgbClr val="182226"/>
              </a:solidFill>
              <a:latin typeface="Arial" panose="020B0604020202090204"/>
              <a:ea typeface="Arial" panose="020B0604020202090204"/>
              <a:cs typeface="Arial" panose="020B0604020202090204"/>
            </a:endParaRPr>
          </a:p>
        </p:txBody>
      </p:sp>
      <p:sp>
        <p:nvSpPr>
          <p:cNvPr id="20" name="矩形 19"/>
          <p:cNvSpPr>
            <a:spLocks noGrp="1"/>
          </p:cNvSpPr>
          <p:nvPr/>
        </p:nvSpPr>
        <p:spPr>
          <a:xfrm>
            <a:off x="8096250" y="4762500"/>
            <a:ext cx="2857500" cy="495300"/>
          </a:xfrm>
          <a:prstGeom prst="rect">
            <a:avLst/>
          </a:prstGeom>
          <a:noFill/>
          <a:ln w="0">
            <a:noFill/>
            <a:prstDash val="solid"/>
          </a:ln>
        </p:spPr>
        <p:txBody>
          <a:bodyPr wrap="square" lIns="0" tIns="0" rIns="0" bIns="0" anchor="t">
            <a:normAutofit/>
          </a:bodyPr>
          <a:lstStyle>
            <a:defPPr algn="l">
              <a:defRPr sz="2550" b="1">
                <a:solidFill>
                  <a:srgbClr val="C99B27"/>
                </a:solidFill>
                <a:latin typeface="Arial" panose="020B0604020202090204"/>
                <a:ea typeface="Arial" panose="020B0604020202090204"/>
                <a:cs typeface="Arial" panose="020B0604020202090204"/>
              </a:defRPr>
            </a:defPPr>
            <a:lvl1pPr algn="l">
              <a:defRPr sz="2550" b="1">
                <a:solidFill>
                  <a:srgbClr val="C99B27"/>
                </a:solidFill>
                <a:latin typeface="Arial" panose="020B0604020202090204"/>
                <a:ea typeface="Arial" panose="020B0604020202090204"/>
                <a:cs typeface="Arial" panose="020B0604020202090204"/>
              </a:defRPr>
            </a:lvl1pPr>
            <a:lvl2pPr algn="l">
              <a:defRPr sz="2550" b="1">
                <a:solidFill>
                  <a:srgbClr val="C99B27"/>
                </a:solidFill>
                <a:latin typeface="Arial" panose="020B0604020202090204"/>
                <a:ea typeface="Arial" panose="020B0604020202090204"/>
                <a:cs typeface="Arial" panose="020B0604020202090204"/>
              </a:defRPr>
            </a:lvl2pPr>
            <a:lvl3pPr algn="l">
              <a:defRPr sz="2550" b="1">
                <a:solidFill>
                  <a:srgbClr val="C99B27"/>
                </a:solidFill>
                <a:latin typeface="Arial" panose="020B0604020202090204"/>
                <a:ea typeface="Arial" panose="020B0604020202090204"/>
                <a:cs typeface="Arial" panose="020B0604020202090204"/>
              </a:defRPr>
            </a:lvl3pPr>
            <a:lvl4pPr algn="l">
              <a:defRPr sz="2550" b="1">
                <a:solidFill>
                  <a:srgbClr val="C99B27"/>
                </a:solidFill>
                <a:latin typeface="Arial" panose="020B0604020202090204"/>
                <a:ea typeface="Arial" panose="020B0604020202090204"/>
                <a:cs typeface="Arial" panose="020B0604020202090204"/>
              </a:defRPr>
            </a:lvl4pPr>
            <a:lvl5pPr algn="l">
              <a:defRPr sz="2550" b="1">
                <a:solidFill>
                  <a:srgbClr val="C99B27"/>
                </a:solidFill>
                <a:latin typeface="Arial" panose="020B0604020202090204"/>
                <a:ea typeface="Arial" panose="020B0604020202090204"/>
                <a:cs typeface="Arial" panose="020B0604020202090204"/>
              </a:defRPr>
            </a:lvl5pPr>
            <a:lvl6pPr algn="l">
              <a:defRPr sz="2550" b="1">
                <a:solidFill>
                  <a:srgbClr val="C99B27"/>
                </a:solidFill>
                <a:latin typeface="Arial" panose="020B0604020202090204"/>
                <a:ea typeface="Arial" panose="020B0604020202090204"/>
                <a:cs typeface="Arial" panose="020B0604020202090204"/>
              </a:defRPr>
            </a:lvl6pPr>
            <a:lvl7pPr algn="l">
              <a:defRPr sz="2550" b="1">
                <a:solidFill>
                  <a:srgbClr val="C99B27"/>
                </a:solidFill>
                <a:latin typeface="Arial" panose="020B0604020202090204"/>
                <a:ea typeface="Arial" panose="020B0604020202090204"/>
                <a:cs typeface="Arial" panose="020B0604020202090204"/>
              </a:defRPr>
            </a:lvl7pPr>
            <a:lvl8pPr algn="l">
              <a:defRPr sz="2550" b="1">
                <a:solidFill>
                  <a:srgbClr val="C99B27"/>
                </a:solidFill>
                <a:latin typeface="Arial" panose="020B0604020202090204"/>
                <a:ea typeface="Arial" panose="020B0604020202090204"/>
                <a:cs typeface="Arial" panose="020B0604020202090204"/>
              </a:defRPr>
            </a:lvl8pPr>
            <a:lvl9pPr algn="l">
              <a:defRPr sz="2550" b="1">
                <a:solidFill>
                  <a:srgbClr val="C99B27"/>
                </a:solidFill>
                <a:latin typeface="Arial" panose="020B0604020202090204"/>
                <a:ea typeface="Arial" panose="020B0604020202090204"/>
                <a:cs typeface="Arial" panose="020B0604020202090204"/>
              </a:defRPr>
            </a:lvl9pPr>
          </a:lstStyle>
          <a:p>
            <a:pPr algn="l">
              <a:lnSpc>
                <a:spcPct val="102000"/>
              </a:lnSpc>
              <a:buNone/>
              <a:defRPr sz="2550" b="1">
                <a:solidFill>
                  <a:srgbClr val="C99B27"/>
                </a:solidFill>
                <a:latin typeface="Arial" panose="020B0604020202090204"/>
                <a:ea typeface="Arial" panose="020B0604020202090204"/>
                <a:cs typeface="Arial" panose="020B0604020202090204"/>
              </a:defRPr>
            </a:pPr>
            <a:r>
              <a:rPr sz="2550" b="1">
                <a:solidFill>
                  <a:srgbClr val="C99B27"/>
                </a:solidFill>
                <a:latin typeface="Arial" panose="020B0604020202090204"/>
                <a:ea typeface="Arial" panose="020B0604020202090204"/>
                <a:cs typeface="Arial" panose="020B0604020202090204"/>
              </a:rPr>
              <a:t>2 × RTX 3090</a:t>
            </a:r>
            <a:endParaRPr sz="2550" b="1">
              <a:solidFill>
                <a:srgbClr val="C99B27"/>
              </a:solidFill>
              <a:latin typeface="Arial" panose="020B0604020202090204"/>
              <a:ea typeface="Arial" panose="020B0604020202090204"/>
              <a:cs typeface="Arial" panose="020B060402020209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0" name="矩形 9"/>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Main results</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1</a:t>
            </a:r>
            <a:r>
              <a:rPr lang="en-US" sz="1125" b="1">
                <a:solidFill>
                  <a:srgbClr val="637279"/>
                </a:solidFill>
                <a:latin typeface="Arial" panose="020B0604020202090204"/>
                <a:ea typeface="Arial" panose="020B0604020202090204"/>
                <a:cs typeface="Arial" panose="020B0604020202090204"/>
              </a:rPr>
              <a:t>2</a:t>
            </a:r>
            <a:endParaRPr lang="en-US" sz="1125" b="1">
              <a:solidFill>
                <a:srgbClr val="637279"/>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85800" y="1190625"/>
            <a:ext cx="4953000" cy="333375"/>
          </a:xfrm>
          <a:prstGeom prst="rect">
            <a:avLst/>
          </a:prstGeom>
          <a:noFill/>
          <a:ln w="0">
            <a:noFill/>
            <a:prstDash val="solid"/>
          </a:ln>
        </p:spPr>
        <p:txBody>
          <a:bodyPr wrap="square" lIns="0" tIns="0" rIns="0" bIns="0" anchor="t">
            <a:normAutofit/>
          </a:bodyPr>
          <a:lstStyle>
            <a:defPPr algn="ctr">
              <a:defRPr sz="1650" b="1">
                <a:solidFill>
                  <a:srgbClr val="182226"/>
                </a:solidFill>
                <a:latin typeface="Arial" panose="020B0604020202090204"/>
                <a:ea typeface="Arial" panose="020B0604020202090204"/>
                <a:cs typeface="Arial" panose="020B0604020202090204"/>
              </a:defRPr>
            </a:defPPr>
            <a:lvl1pPr algn="ctr">
              <a:defRPr sz="1650" b="1">
                <a:solidFill>
                  <a:srgbClr val="182226"/>
                </a:solidFill>
                <a:latin typeface="Arial" panose="020B0604020202090204"/>
                <a:ea typeface="Arial" panose="020B0604020202090204"/>
                <a:cs typeface="Arial" panose="020B0604020202090204"/>
              </a:defRPr>
            </a:lvl1pPr>
            <a:lvl2pPr algn="ctr">
              <a:defRPr sz="1650" b="1">
                <a:solidFill>
                  <a:srgbClr val="182226"/>
                </a:solidFill>
                <a:latin typeface="Arial" panose="020B0604020202090204"/>
                <a:ea typeface="Arial" panose="020B0604020202090204"/>
                <a:cs typeface="Arial" panose="020B0604020202090204"/>
              </a:defRPr>
            </a:lvl2pPr>
            <a:lvl3pPr algn="ctr">
              <a:defRPr sz="1650" b="1">
                <a:solidFill>
                  <a:srgbClr val="182226"/>
                </a:solidFill>
                <a:latin typeface="Arial" panose="020B0604020202090204"/>
                <a:ea typeface="Arial" panose="020B0604020202090204"/>
                <a:cs typeface="Arial" panose="020B0604020202090204"/>
              </a:defRPr>
            </a:lvl3pPr>
            <a:lvl4pPr algn="ctr">
              <a:defRPr sz="1650" b="1">
                <a:solidFill>
                  <a:srgbClr val="182226"/>
                </a:solidFill>
                <a:latin typeface="Arial" panose="020B0604020202090204"/>
                <a:ea typeface="Arial" panose="020B0604020202090204"/>
                <a:cs typeface="Arial" panose="020B0604020202090204"/>
              </a:defRPr>
            </a:lvl4pPr>
            <a:lvl5pPr algn="ctr">
              <a:defRPr sz="1650" b="1">
                <a:solidFill>
                  <a:srgbClr val="182226"/>
                </a:solidFill>
                <a:latin typeface="Arial" panose="020B0604020202090204"/>
                <a:ea typeface="Arial" panose="020B0604020202090204"/>
                <a:cs typeface="Arial" panose="020B0604020202090204"/>
              </a:defRPr>
            </a:lvl5pPr>
            <a:lvl6pPr algn="ctr">
              <a:defRPr sz="1650" b="1">
                <a:solidFill>
                  <a:srgbClr val="182226"/>
                </a:solidFill>
                <a:latin typeface="Arial" panose="020B0604020202090204"/>
                <a:ea typeface="Arial" panose="020B0604020202090204"/>
                <a:cs typeface="Arial" panose="020B0604020202090204"/>
              </a:defRPr>
            </a:lvl6pPr>
            <a:lvl7pPr algn="ctr">
              <a:defRPr sz="1650" b="1">
                <a:solidFill>
                  <a:srgbClr val="182226"/>
                </a:solidFill>
                <a:latin typeface="Arial" panose="020B0604020202090204"/>
                <a:ea typeface="Arial" panose="020B0604020202090204"/>
                <a:cs typeface="Arial" panose="020B0604020202090204"/>
              </a:defRPr>
            </a:lvl7pPr>
            <a:lvl8pPr algn="ctr">
              <a:defRPr sz="1650" b="1">
                <a:solidFill>
                  <a:srgbClr val="182226"/>
                </a:solidFill>
                <a:latin typeface="Arial" panose="020B0604020202090204"/>
                <a:ea typeface="Arial" panose="020B0604020202090204"/>
                <a:cs typeface="Arial" panose="020B0604020202090204"/>
              </a:defRPr>
            </a:lvl8pPr>
            <a:lvl9pPr algn="ctr">
              <a:defRPr sz="1650" b="1">
                <a:solidFill>
                  <a:srgbClr val="182226"/>
                </a:solidFill>
                <a:latin typeface="Arial" panose="020B0604020202090204"/>
                <a:ea typeface="Arial" panose="020B0604020202090204"/>
                <a:cs typeface="Arial" panose="020B0604020202090204"/>
              </a:defRPr>
            </a:lvl9pPr>
          </a:lstStyle>
          <a:p>
            <a:pPr algn="ctr">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Sample-statistic methods</a:t>
            </a:r>
            <a:endParaRPr sz="1650" b="1">
              <a:solidFill>
                <a:srgbClr val="182226"/>
              </a:solidFill>
              <a:latin typeface="Arial" panose="020B0604020202090204"/>
              <a:ea typeface="Arial" panose="020B0604020202090204"/>
              <a:cs typeface="Arial" panose="020B0604020202090204"/>
            </a:endParaRPr>
          </a:p>
        </p:txBody>
      </p:sp>
      <p:graphicFrame>
        <p:nvGraphicFramePr>
          <p:cNvPr id="5" name="Chart"/>
          <p:cNvGraphicFramePr/>
          <p:nvPr/>
        </p:nvGraphicFramePr>
        <p:xfrm>
          <a:off x="685800" y="1600200"/>
          <a:ext cx="4953000" cy="3429000"/>
        </p:xfrm>
        <a:graphic>
          <a:graphicData uri="http://schemas.openxmlformats.org/drawingml/2006/chart">
            <c:chart xmlns:c="http://schemas.openxmlformats.org/drawingml/2006/chart" xmlns:r="http://schemas.openxmlformats.org/officeDocument/2006/relationships" r:id="rId1"/>
          </a:graphicData>
        </a:graphic>
      </p:graphicFrame>
      <p:sp>
        <p:nvSpPr>
          <p:cNvPr id="6" name="矩形 5"/>
          <p:cNvSpPr>
            <a:spLocks noGrp="1"/>
          </p:cNvSpPr>
          <p:nvPr/>
        </p:nvSpPr>
        <p:spPr>
          <a:xfrm>
            <a:off x="6477000" y="1190625"/>
            <a:ext cx="4953000" cy="333375"/>
          </a:xfrm>
          <a:prstGeom prst="rect">
            <a:avLst/>
          </a:prstGeom>
          <a:noFill/>
          <a:ln w="0">
            <a:noFill/>
            <a:prstDash val="solid"/>
          </a:ln>
        </p:spPr>
        <p:txBody>
          <a:bodyPr wrap="square" lIns="0" tIns="0" rIns="0" bIns="0" anchor="t">
            <a:normAutofit/>
          </a:bodyPr>
          <a:lstStyle>
            <a:defPPr algn="ctr">
              <a:defRPr sz="1650" b="1">
                <a:solidFill>
                  <a:srgbClr val="182226"/>
                </a:solidFill>
                <a:latin typeface="Arial" panose="020B0604020202090204"/>
                <a:ea typeface="Arial" panose="020B0604020202090204"/>
                <a:cs typeface="Arial" panose="020B0604020202090204"/>
              </a:defRPr>
            </a:defPPr>
            <a:lvl1pPr algn="ctr">
              <a:defRPr sz="1650" b="1">
                <a:solidFill>
                  <a:srgbClr val="182226"/>
                </a:solidFill>
                <a:latin typeface="Arial" panose="020B0604020202090204"/>
                <a:ea typeface="Arial" panose="020B0604020202090204"/>
                <a:cs typeface="Arial" panose="020B0604020202090204"/>
              </a:defRPr>
            </a:lvl1pPr>
            <a:lvl2pPr algn="ctr">
              <a:defRPr sz="1650" b="1">
                <a:solidFill>
                  <a:srgbClr val="182226"/>
                </a:solidFill>
                <a:latin typeface="Arial" panose="020B0604020202090204"/>
                <a:ea typeface="Arial" panose="020B0604020202090204"/>
                <a:cs typeface="Arial" panose="020B0604020202090204"/>
              </a:defRPr>
            </a:lvl2pPr>
            <a:lvl3pPr algn="ctr">
              <a:defRPr sz="1650" b="1">
                <a:solidFill>
                  <a:srgbClr val="182226"/>
                </a:solidFill>
                <a:latin typeface="Arial" panose="020B0604020202090204"/>
                <a:ea typeface="Arial" panose="020B0604020202090204"/>
                <a:cs typeface="Arial" panose="020B0604020202090204"/>
              </a:defRPr>
            </a:lvl3pPr>
            <a:lvl4pPr algn="ctr">
              <a:defRPr sz="1650" b="1">
                <a:solidFill>
                  <a:srgbClr val="182226"/>
                </a:solidFill>
                <a:latin typeface="Arial" panose="020B0604020202090204"/>
                <a:ea typeface="Arial" panose="020B0604020202090204"/>
                <a:cs typeface="Arial" panose="020B0604020202090204"/>
              </a:defRPr>
            </a:lvl4pPr>
            <a:lvl5pPr algn="ctr">
              <a:defRPr sz="1650" b="1">
                <a:solidFill>
                  <a:srgbClr val="182226"/>
                </a:solidFill>
                <a:latin typeface="Arial" panose="020B0604020202090204"/>
                <a:ea typeface="Arial" panose="020B0604020202090204"/>
                <a:cs typeface="Arial" panose="020B0604020202090204"/>
              </a:defRPr>
            </a:lvl5pPr>
            <a:lvl6pPr algn="ctr">
              <a:defRPr sz="1650" b="1">
                <a:solidFill>
                  <a:srgbClr val="182226"/>
                </a:solidFill>
                <a:latin typeface="Arial" panose="020B0604020202090204"/>
                <a:ea typeface="Arial" panose="020B0604020202090204"/>
                <a:cs typeface="Arial" panose="020B0604020202090204"/>
              </a:defRPr>
            </a:lvl6pPr>
            <a:lvl7pPr algn="ctr">
              <a:defRPr sz="1650" b="1">
                <a:solidFill>
                  <a:srgbClr val="182226"/>
                </a:solidFill>
                <a:latin typeface="Arial" panose="020B0604020202090204"/>
                <a:ea typeface="Arial" panose="020B0604020202090204"/>
                <a:cs typeface="Arial" panose="020B0604020202090204"/>
              </a:defRPr>
            </a:lvl7pPr>
            <a:lvl8pPr algn="ctr">
              <a:defRPr sz="1650" b="1">
                <a:solidFill>
                  <a:srgbClr val="182226"/>
                </a:solidFill>
                <a:latin typeface="Arial" panose="020B0604020202090204"/>
                <a:ea typeface="Arial" panose="020B0604020202090204"/>
                <a:cs typeface="Arial" panose="020B0604020202090204"/>
              </a:defRPr>
            </a:lvl8pPr>
            <a:lvl9pPr algn="ctr">
              <a:defRPr sz="1650" b="1">
                <a:solidFill>
                  <a:srgbClr val="182226"/>
                </a:solidFill>
                <a:latin typeface="Arial" panose="020B0604020202090204"/>
                <a:ea typeface="Arial" panose="020B0604020202090204"/>
                <a:cs typeface="Arial" panose="020B0604020202090204"/>
              </a:defRPr>
            </a:lvl9pPr>
          </a:lstStyle>
          <a:p>
            <a:pPr algn="ctr">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Distribution-statistic methods</a:t>
            </a:r>
            <a:endParaRPr sz="1650" b="1">
              <a:solidFill>
                <a:srgbClr val="182226"/>
              </a:solidFill>
              <a:latin typeface="Arial" panose="020B0604020202090204"/>
              <a:ea typeface="Arial" panose="020B0604020202090204"/>
              <a:cs typeface="Arial" panose="020B0604020202090204"/>
            </a:endParaRPr>
          </a:p>
        </p:txBody>
      </p:sp>
      <p:graphicFrame>
        <p:nvGraphicFramePr>
          <p:cNvPr id="7" name="Chart"/>
          <p:cNvGraphicFramePr/>
          <p:nvPr/>
        </p:nvGraphicFramePr>
        <p:xfrm>
          <a:off x="6477000" y="1600200"/>
          <a:ext cx="495300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7"/>
          <p:cNvSpPr>
            <a:spLocks noGrp="1"/>
          </p:cNvSpPr>
          <p:nvPr/>
        </p:nvSpPr>
        <p:spPr>
          <a:xfrm>
            <a:off x="952500" y="5476875"/>
            <a:ext cx="10287000" cy="438150"/>
          </a:xfrm>
          <a:prstGeom prst="rect">
            <a:avLst/>
          </a:prstGeom>
          <a:noFill/>
          <a:ln w="0">
            <a:noFill/>
            <a:prstDash val="solid"/>
          </a:ln>
        </p:spPr>
        <p:txBody>
          <a:bodyPr wrap="square" lIns="0" tIns="0" rIns="0" bIns="0" anchor="t">
            <a:normAutofit/>
          </a:bodyPr>
          <a:lstStyle>
            <a:defPPr algn="ctr">
              <a:defRPr sz="1650" b="1">
                <a:solidFill>
                  <a:srgbClr val="E7684A"/>
                </a:solidFill>
                <a:latin typeface="Arial" panose="020B0604020202090204"/>
                <a:ea typeface="Arial" panose="020B0604020202090204"/>
                <a:cs typeface="Arial" panose="020B0604020202090204"/>
              </a:defRPr>
            </a:defPPr>
            <a:lvl1pPr algn="ctr">
              <a:defRPr sz="1650" b="1">
                <a:solidFill>
                  <a:srgbClr val="E7684A"/>
                </a:solidFill>
                <a:latin typeface="Arial" panose="020B0604020202090204"/>
                <a:ea typeface="Arial" panose="020B0604020202090204"/>
                <a:cs typeface="Arial" panose="020B0604020202090204"/>
              </a:defRPr>
            </a:lvl1pPr>
            <a:lvl2pPr algn="ctr">
              <a:defRPr sz="1650" b="1">
                <a:solidFill>
                  <a:srgbClr val="E7684A"/>
                </a:solidFill>
                <a:latin typeface="Arial" panose="020B0604020202090204"/>
                <a:ea typeface="Arial" panose="020B0604020202090204"/>
                <a:cs typeface="Arial" panose="020B0604020202090204"/>
              </a:defRPr>
            </a:lvl2pPr>
            <a:lvl3pPr algn="ctr">
              <a:defRPr sz="1650" b="1">
                <a:solidFill>
                  <a:srgbClr val="E7684A"/>
                </a:solidFill>
                <a:latin typeface="Arial" panose="020B0604020202090204"/>
                <a:ea typeface="Arial" panose="020B0604020202090204"/>
                <a:cs typeface="Arial" panose="020B0604020202090204"/>
              </a:defRPr>
            </a:lvl3pPr>
            <a:lvl4pPr algn="ctr">
              <a:defRPr sz="1650" b="1">
                <a:solidFill>
                  <a:srgbClr val="E7684A"/>
                </a:solidFill>
                <a:latin typeface="Arial" panose="020B0604020202090204"/>
                <a:ea typeface="Arial" panose="020B0604020202090204"/>
                <a:cs typeface="Arial" panose="020B0604020202090204"/>
              </a:defRPr>
            </a:lvl4pPr>
            <a:lvl5pPr algn="ctr">
              <a:defRPr sz="1650" b="1">
                <a:solidFill>
                  <a:srgbClr val="E7684A"/>
                </a:solidFill>
                <a:latin typeface="Arial" panose="020B0604020202090204"/>
                <a:ea typeface="Arial" panose="020B0604020202090204"/>
                <a:cs typeface="Arial" panose="020B0604020202090204"/>
              </a:defRPr>
            </a:lvl5pPr>
            <a:lvl6pPr algn="ctr">
              <a:defRPr sz="1650" b="1">
                <a:solidFill>
                  <a:srgbClr val="E7684A"/>
                </a:solidFill>
                <a:latin typeface="Arial" panose="020B0604020202090204"/>
                <a:ea typeface="Arial" panose="020B0604020202090204"/>
                <a:cs typeface="Arial" panose="020B0604020202090204"/>
              </a:defRPr>
            </a:lvl6pPr>
            <a:lvl7pPr algn="ctr">
              <a:defRPr sz="1650" b="1">
                <a:solidFill>
                  <a:srgbClr val="E7684A"/>
                </a:solidFill>
                <a:latin typeface="Arial" panose="020B0604020202090204"/>
                <a:ea typeface="Arial" panose="020B0604020202090204"/>
                <a:cs typeface="Arial" panose="020B0604020202090204"/>
              </a:defRPr>
            </a:lvl7pPr>
            <a:lvl8pPr algn="ctr">
              <a:defRPr sz="1650" b="1">
                <a:solidFill>
                  <a:srgbClr val="E7684A"/>
                </a:solidFill>
                <a:latin typeface="Arial" panose="020B0604020202090204"/>
                <a:ea typeface="Arial" panose="020B0604020202090204"/>
                <a:cs typeface="Arial" panose="020B0604020202090204"/>
              </a:defRPr>
            </a:lvl8pPr>
            <a:lvl9pPr algn="ctr">
              <a:defRPr sz="1650" b="1">
                <a:solidFill>
                  <a:srgbClr val="E7684A"/>
                </a:solidFill>
                <a:latin typeface="Arial" panose="020B0604020202090204"/>
                <a:ea typeface="Arial" panose="020B0604020202090204"/>
                <a:cs typeface="Arial" panose="020B0604020202090204"/>
              </a:defRPr>
            </a:lvl9pPr>
          </a:lstStyle>
          <a:p>
            <a:pPr algn="ctr">
              <a:lnSpc>
                <a:spcPct val="102000"/>
              </a:lnSpc>
              <a:buNone/>
              <a:defRPr sz="1650" b="1">
                <a:solidFill>
                  <a:srgbClr val="E7684A"/>
                </a:solidFill>
                <a:latin typeface="Arial" panose="020B0604020202090204"/>
                <a:ea typeface="Arial" panose="020B0604020202090204"/>
                <a:cs typeface="Arial" panose="020B0604020202090204"/>
              </a:defRPr>
            </a:pPr>
            <a:r>
              <a:rPr sz="1650" b="1">
                <a:solidFill>
                  <a:srgbClr val="E7684A"/>
                </a:solidFill>
                <a:latin typeface="Arial" panose="020B0604020202090204"/>
                <a:ea typeface="Arial" panose="020B0604020202090204"/>
                <a:cs typeface="Arial" panose="020B0604020202090204"/>
              </a:rPr>
              <a:t>Black-box gains: Lastde +6.38 points, Lastde++ +5.79 points</a:t>
            </a:r>
            <a:endParaRPr sz="1650" b="1">
              <a:solidFill>
                <a:srgbClr val="E7684A"/>
              </a:solidFill>
              <a:latin typeface="Arial" panose="020B0604020202090204"/>
              <a:ea typeface="Arial" panose="020B0604020202090204"/>
              <a:cs typeface="Arial" panose="020B060402020209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8" name="矩形 7"/>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Language and paraphrase robustness</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1</a:t>
            </a:r>
            <a:r>
              <a:rPr lang="en-US" sz="1125" b="1">
                <a:solidFill>
                  <a:srgbClr val="637279"/>
                </a:solidFill>
                <a:latin typeface="Arial" panose="020B0604020202090204"/>
                <a:ea typeface="Arial" panose="020B0604020202090204"/>
                <a:cs typeface="Arial" panose="020B0604020202090204"/>
              </a:rPr>
              <a:t>3</a:t>
            </a:r>
            <a:endParaRPr lang="en-US" sz="1125" b="1">
              <a:solidFill>
                <a:srgbClr val="637279"/>
              </a:solidFill>
              <a:latin typeface="Arial" panose="020B0604020202090204"/>
              <a:ea typeface="Arial" panose="020B0604020202090204"/>
              <a:cs typeface="Arial" panose="020B0604020202090204"/>
            </a:endParaRPr>
          </a:p>
        </p:txBody>
      </p:sp>
      <p:pic>
        <p:nvPicPr>
          <p:cNvPr id="4" name="图片 3"/>
          <p:cNvPicPr>
            <a:picLocks noChangeAspect="1"/>
          </p:cNvPicPr>
          <p:nvPr/>
        </p:nvPicPr>
        <p:blipFill>
          <a:blip r:embed="rId1"/>
          <a:stretch>
            <a:fillRect/>
          </a:stretch>
        </p:blipFill>
        <p:spPr>
          <a:xfrm>
            <a:off x="571500" y="1396206"/>
            <a:ext cx="4095750" cy="3208338"/>
          </a:xfrm>
          <a:prstGeom prst="rect">
            <a:avLst/>
          </a:prstGeom>
        </p:spPr>
      </p:pic>
      <p:graphicFrame>
        <p:nvGraphicFramePr>
          <p:cNvPr id="5" name="表格 4"/>
          <p:cNvGraphicFramePr/>
          <p:nvPr/>
        </p:nvGraphicFramePr>
        <p:xfrm>
          <a:off x="4953000" y="1524000"/>
          <a:ext cx="6572250" cy="3000375"/>
        </p:xfrm>
        <a:graphic>
          <a:graphicData uri="http://schemas.openxmlformats.org/drawingml/2006/table">
            <a:tbl>
              <a:tblPr/>
              <a:tblGrid>
                <a:gridCol w="2095500"/>
                <a:gridCol w="1333500"/>
                <a:gridCol w="1238250"/>
                <a:gridCol w="1905000"/>
              </a:tblGrid>
              <a:tr h="600075">
                <a:tc>
                  <a:txBody>
                    <a:bodyPr/>
                    <a:lstStyle/>
                    <a:p>
                      <a:r>
                        <a:rPr sz="1125" b="1">
                          <a:solidFill>
                            <a:srgbClr val="FFFFFF"/>
                          </a:solidFill>
                          <a:latin typeface="Arial" panose="020B0604020202090204"/>
                          <a:ea typeface="Arial" panose="020B0604020202090204"/>
                          <a:cs typeface="Arial" panose="020B0604020202090204"/>
                        </a:rPr>
                        <a:t>Setting</a:t>
                      </a:r>
                      <a:endParaRPr sz="1125" b="1">
                        <a:solidFill>
                          <a:srgbClr val="FFFFFF"/>
                        </a:solidFill>
                        <a:latin typeface="Arial" panose="020B0604020202090204"/>
                        <a:ea typeface="Arial" panose="020B0604020202090204"/>
                        <a:cs typeface="Arial" panose="020B0604020202090204"/>
                      </a:endParaRPr>
                    </a:p>
                  </a:txBody>
                  <a:tcPr marL="57150" marR="57150" marT="57150" marB="57150" anchor="ctr">
                    <a:lnL w="9525">
                      <a:solidFill>
                        <a:srgbClr val="D7DEDF"/>
                      </a:solidFill>
                      <a:prstDash val="solid"/>
                    </a:lnL>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c>
                  <a:txBody>
                    <a:bodyPr/>
                    <a:lstStyle/>
                    <a:p>
                      <a:r>
                        <a:rPr sz="1125" b="1">
                          <a:solidFill>
                            <a:srgbClr val="FFFFFF"/>
                          </a:solidFill>
                          <a:latin typeface="Arial" panose="020B0604020202090204"/>
                          <a:ea typeface="Arial" panose="020B0604020202090204"/>
                          <a:cs typeface="Arial" panose="020B0604020202090204"/>
                        </a:rPr>
                        <a:t>Fast-DetectGPT</a:t>
                      </a:r>
                      <a:endParaRPr sz="1125" b="1">
                        <a:solidFill>
                          <a:srgbClr val="FFFFFF"/>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c>
                  <a:txBody>
                    <a:bodyPr/>
                    <a:lstStyle/>
                    <a:p>
                      <a:r>
                        <a:rPr sz="1125" b="1">
                          <a:solidFill>
                            <a:srgbClr val="FFFFFF"/>
                          </a:solidFill>
                          <a:latin typeface="Arial" panose="020B0604020202090204"/>
                          <a:ea typeface="Arial" panose="020B0604020202090204"/>
                          <a:cs typeface="Arial" panose="020B0604020202090204"/>
                        </a:rPr>
                        <a:t>Lastde++</a:t>
                      </a:r>
                      <a:endParaRPr sz="1125" b="1">
                        <a:solidFill>
                          <a:srgbClr val="FFFFFF"/>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c>
                  <a:txBody>
                    <a:bodyPr/>
                    <a:lstStyle/>
                    <a:p>
                      <a:r>
                        <a:rPr sz="1125" b="1">
                          <a:solidFill>
                            <a:srgbClr val="FFFFFF"/>
                          </a:solidFill>
                          <a:latin typeface="Arial" panose="020B0604020202090204"/>
                          <a:ea typeface="Arial" panose="020B0604020202090204"/>
                          <a:cs typeface="Arial" panose="020B0604020202090204"/>
                        </a:rPr>
                        <a:t>Interpretation</a:t>
                      </a:r>
                      <a:endParaRPr sz="1125" b="1">
                        <a:solidFill>
                          <a:srgbClr val="FFFFFF"/>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T w="9525">
                      <a:solidFill>
                        <a:srgbClr val="D7DEDF"/>
                      </a:solidFill>
                      <a:prstDash val="solid"/>
                    </a:lnT>
                    <a:lnB w="9525">
                      <a:solidFill>
                        <a:srgbClr val="D7DEDF"/>
                      </a:solidFill>
                      <a:prstDash val="solid"/>
                    </a:lnB>
                    <a:solidFill>
                      <a:srgbClr val="101A1E"/>
                    </a:solidFill>
                  </a:tcPr>
                </a:tc>
              </a:tr>
              <a:tr h="600075">
                <a:tc>
                  <a:txBody>
                    <a:bodyPr/>
                    <a:lstStyle/>
                    <a:p>
                      <a:r>
                        <a:rPr sz="1125">
                          <a:solidFill>
                            <a:srgbClr val="182226"/>
                          </a:solidFill>
                          <a:latin typeface="Arial" panose="020B0604020202090204"/>
                          <a:ea typeface="Arial" panose="020B0604020202090204"/>
                          <a:cs typeface="Arial" panose="020B0604020202090204"/>
                        </a:rPr>
                        <a:t>White box, original</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L w="9525">
                      <a:solidFill>
                        <a:srgbClr val="D7DEDF"/>
                      </a:solidFill>
                      <a:prstDash val="solid"/>
                    </a:lnL>
                    <a:lnR w="9525">
                      <a:solidFill>
                        <a:srgbClr val="D7DEDF"/>
                      </a:solidFill>
                      <a:prstDash val="solid"/>
                    </a:lnR>
                    <a:lnB w="9525">
                      <a:solidFill>
                        <a:srgbClr val="D7DEDF"/>
                      </a:solidFill>
                      <a:prstDash val="solid"/>
                    </a:lnB>
                  </a:tcPr>
                </a:tc>
                <a:tc>
                  <a:txBody>
                    <a:bodyPr/>
                    <a:lstStyle/>
                    <a:p>
                      <a:r>
                        <a:rPr sz="1125">
                          <a:solidFill>
                            <a:srgbClr val="182226"/>
                          </a:solidFill>
                          <a:latin typeface="Arial" panose="020B0604020202090204"/>
                          <a:ea typeface="Arial" panose="020B0604020202090204"/>
                          <a:cs typeface="Arial" panose="020B0604020202090204"/>
                        </a:rPr>
                        <a:t>97.70</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tcPr>
                </a:tc>
                <a:tc>
                  <a:txBody>
                    <a:bodyPr/>
                    <a:lstStyle/>
                    <a:p>
                      <a:r>
                        <a:rPr sz="1125">
                          <a:solidFill>
                            <a:srgbClr val="182226"/>
                          </a:solidFill>
                          <a:latin typeface="Arial" panose="020B0604020202090204"/>
                          <a:ea typeface="Arial" panose="020B0604020202090204"/>
                          <a:cs typeface="Arial" panose="020B0604020202090204"/>
                        </a:rPr>
                        <a:t>98.81</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tcPr>
                </a:tc>
                <a:tc>
                  <a:txBody>
                    <a:bodyPr/>
                    <a:lstStyle/>
                    <a:p>
                      <a:r>
                        <a:rPr sz="1125">
                          <a:solidFill>
                            <a:srgbClr val="182226"/>
                          </a:solidFill>
                          <a:latin typeface="Arial" panose="020B0604020202090204"/>
                          <a:ea typeface="Arial" panose="020B0604020202090204"/>
                          <a:cs typeface="Arial" panose="020B0604020202090204"/>
                        </a:rPr>
                        <a:t>High</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tcPr>
                </a:tc>
              </a:tr>
              <a:tr h="600075">
                <a:tc>
                  <a:txBody>
                    <a:bodyPr/>
                    <a:lstStyle/>
                    <a:p>
                      <a:r>
                        <a:rPr sz="1125">
                          <a:solidFill>
                            <a:srgbClr val="182226"/>
                          </a:solidFill>
                          <a:latin typeface="Arial" panose="020B0604020202090204"/>
                          <a:ea typeface="Arial" panose="020B0604020202090204"/>
                          <a:cs typeface="Arial" panose="020B0604020202090204"/>
                        </a:rPr>
                        <a:t>White box, paraphrased</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L w="9525">
                      <a:solidFill>
                        <a:srgbClr val="D7DEDF"/>
                      </a:solidFill>
                      <a:prstDash val="solid"/>
                    </a:lnL>
                    <a:lnR w="9525">
                      <a:solidFill>
                        <a:srgbClr val="D7DEDF"/>
                      </a:solidFill>
                      <a:prstDash val="solid"/>
                    </a:lnR>
                    <a:lnB w="9525">
                      <a:solidFill>
                        <a:srgbClr val="D7DEDF"/>
                      </a:solidFill>
                      <a:prstDash val="solid"/>
                    </a:lnB>
                    <a:solidFill>
                      <a:srgbClr val="F8E0D9"/>
                    </a:solidFill>
                  </a:tcPr>
                </a:tc>
                <a:tc>
                  <a:txBody>
                    <a:bodyPr/>
                    <a:lstStyle/>
                    <a:p>
                      <a:r>
                        <a:rPr sz="1125">
                          <a:solidFill>
                            <a:srgbClr val="182226"/>
                          </a:solidFill>
                          <a:latin typeface="Arial" panose="020B0604020202090204"/>
                          <a:ea typeface="Arial" panose="020B0604020202090204"/>
                          <a:cs typeface="Arial" panose="020B0604020202090204"/>
                        </a:rPr>
                        <a:t>92.12</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solidFill>
                      <a:srgbClr val="F8E0D9"/>
                    </a:solidFill>
                  </a:tcPr>
                </a:tc>
                <a:tc>
                  <a:txBody>
                    <a:bodyPr/>
                    <a:lstStyle/>
                    <a:p>
                      <a:r>
                        <a:rPr sz="1125">
                          <a:solidFill>
                            <a:srgbClr val="182226"/>
                          </a:solidFill>
                          <a:latin typeface="Arial" panose="020B0604020202090204"/>
                          <a:ea typeface="Arial" panose="020B0604020202090204"/>
                          <a:cs typeface="Arial" panose="020B0604020202090204"/>
                        </a:rPr>
                        <a:t>94.70</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solidFill>
                      <a:srgbClr val="F8E0D9"/>
                    </a:solidFill>
                  </a:tcPr>
                </a:tc>
                <a:tc>
                  <a:txBody>
                    <a:bodyPr/>
                    <a:lstStyle/>
                    <a:p>
                      <a:r>
                        <a:rPr sz="1125">
                          <a:solidFill>
                            <a:srgbClr val="182226"/>
                          </a:solidFill>
                          <a:latin typeface="Arial" panose="020B0604020202090204"/>
                          <a:ea typeface="Arial" panose="020B0604020202090204"/>
                          <a:cs typeface="Arial" panose="020B0604020202090204"/>
                        </a:rPr>
                        <a:t>Both decrease</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solidFill>
                      <a:srgbClr val="F8E0D9"/>
                    </a:solidFill>
                  </a:tcPr>
                </a:tc>
              </a:tr>
              <a:tr h="600075">
                <a:tc>
                  <a:txBody>
                    <a:bodyPr/>
                    <a:lstStyle/>
                    <a:p>
                      <a:r>
                        <a:rPr sz="1125">
                          <a:solidFill>
                            <a:srgbClr val="182226"/>
                          </a:solidFill>
                          <a:latin typeface="Arial" panose="020B0604020202090204"/>
                          <a:ea typeface="Arial" panose="020B0604020202090204"/>
                          <a:cs typeface="Arial" panose="020B0604020202090204"/>
                        </a:rPr>
                        <a:t>Black box, original</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L w="9525">
                      <a:solidFill>
                        <a:srgbClr val="D7DEDF"/>
                      </a:solidFill>
                      <a:prstDash val="solid"/>
                    </a:lnL>
                    <a:lnR w="9525">
                      <a:solidFill>
                        <a:srgbClr val="D7DEDF"/>
                      </a:solidFill>
                      <a:prstDash val="solid"/>
                    </a:lnR>
                    <a:lnB w="9525">
                      <a:solidFill>
                        <a:srgbClr val="D7DEDF"/>
                      </a:solidFill>
                      <a:prstDash val="solid"/>
                    </a:lnB>
                  </a:tcPr>
                </a:tc>
                <a:tc>
                  <a:txBody>
                    <a:bodyPr/>
                    <a:lstStyle/>
                    <a:p>
                      <a:r>
                        <a:rPr sz="1125">
                          <a:solidFill>
                            <a:srgbClr val="182226"/>
                          </a:solidFill>
                          <a:latin typeface="Arial" panose="020B0604020202090204"/>
                          <a:ea typeface="Arial" panose="020B0604020202090204"/>
                          <a:cs typeface="Arial" panose="020B0604020202090204"/>
                        </a:rPr>
                        <a:t>83.97</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tcPr>
                </a:tc>
                <a:tc>
                  <a:txBody>
                    <a:bodyPr/>
                    <a:lstStyle/>
                    <a:p>
                      <a:r>
                        <a:rPr sz="1125">
                          <a:solidFill>
                            <a:srgbClr val="182226"/>
                          </a:solidFill>
                          <a:latin typeface="Arial" panose="020B0604020202090204"/>
                          <a:ea typeface="Arial" panose="020B0604020202090204"/>
                          <a:cs typeface="Arial" panose="020B0604020202090204"/>
                        </a:rPr>
                        <a:t>88.86</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tcPr>
                </a:tc>
                <a:tc>
                  <a:txBody>
                    <a:bodyPr/>
                    <a:lstStyle/>
                    <a:p>
                      <a:r>
                        <a:rPr sz="1125">
                          <a:solidFill>
                            <a:srgbClr val="182226"/>
                          </a:solidFill>
                          <a:latin typeface="Arial" panose="020B0604020202090204"/>
                          <a:ea typeface="Arial" panose="020B0604020202090204"/>
                          <a:cs typeface="Arial" panose="020B0604020202090204"/>
                        </a:rPr>
                        <a:t>Lastde++ leads</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tcPr>
                </a:tc>
              </a:tr>
              <a:tr h="600075">
                <a:tc>
                  <a:txBody>
                    <a:bodyPr/>
                    <a:lstStyle/>
                    <a:p>
                      <a:r>
                        <a:rPr sz="1125">
                          <a:solidFill>
                            <a:srgbClr val="182226"/>
                          </a:solidFill>
                          <a:latin typeface="Arial" panose="020B0604020202090204"/>
                          <a:ea typeface="Arial" panose="020B0604020202090204"/>
                          <a:cs typeface="Arial" panose="020B0604020202090204"/>
                        </a:rPr>
                        <a:t>Black box, paraphrased</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L w="9525">
                      <a:solidFill>
                        <a:srgbClr val="D7DEDF"/>
                      </a:solidFill>
                      <a:prstDash val="solid"/>
                    </a:lnL>
                    <a:lnR w="9525">
                      <a:solidFill>
                        <a:srgbClr val="D7DEDF"/>
                      </a:solidFill>
                      <a:prstDash val="solid"/>
                    </a:lnR>
                    <a:lnB w="9525">
                      <a:solidFill>
                        <a:srgbClr val="D7DEDF"/>
                      </a:solidFill>
                      <a:prstDash val="solid"/>
                    </a:lnB>
                    <a:solidFill>
                      <a:srgbClr val="F8E0D9"/>
                    </a:solidFill>
                  </a:tcPr>
                </a:tc>
                <a:tc>
                  <a:txBody>
                    <a:bodyPr/>
                    <a:lstStyle/>
                    <a:p>
                      <a:r>
                        <a:rPr sz="1125">
                          <a:solidFill>
                            <a:srgbClr val="182226"/>
                          </a:solidFill>
                          <a:latin typeface="Arial" panose="020B0604020202090204"/>
                          <a:ea typeface="Arial" panose="020B0604020202090204"/>
                          <a:cs typeface="Arial" panose="020B0604020202090204"/>
                        </a:rPr>
                        <a:t>78.01</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solidFill>
                      <a:srgbClr val="F8E0D9"/>
                    </a:solidFill>
                  </a:tcPr>
                </a:tc>
                <a:tc>
                  <a:txBody>
                    <a:bodyPr/>
                    <a:lstStyle/>
                    <a:p>
                      <a:r>
                        <a:rPr sz="1125">
                          <a:solidFill>
                            <a:srgbClr val="182226"/>
                          </a:solidFill>
                          <a:latin typeface="Arial" panose="020B0604020202090204"/>
                          <a:ea typeface="Arial" panose="020B0604020202090204"/>
                          <a:cs typeface="Arial" panose="020B0604020202090204"/>
                        </a:rPr>
                        <a:t>83.29</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solidFill>
                      <a:srgbClr val="F8E0D9"/>
                    </a:solidFill>
                  </a:tcPr>
                </a:tc>
                <a:tc>
                  <a:txBody>
                    <a:bodyPr/>
                    <a:lstStyle/>
                    <a:p>
                      <a:r>
                        <a:rPr sz="1125">
                          <a:solidFill>
                            <a:srgbClr val="182226"/>
                          </a:solidFill>
                          <a:latin typeface="Arial" panose="020B0604020202090204"/>
                          <a:ea typeface="Arial" panose="020B0604020202090204"/>
                          <a:cs typeface="Arial" panose="020B0604020202090204"/>
                        </a:rPr>
                        <a:t>Attack remains effective</a:t>
                      </a:r>
                      <a:endParaRPr sz="1125">
                        <a:solidFill>
                          <a:srgbClr val="182226"/>
                        </a:solidFill>
                        <a:latin typeface="Arial" panose="020B0604020202090204"/>
                        <a:ea typeface="Arial" panose="020B0604020202090204"/>
                        <a:cs typeface="Arial" panose="020B0604020202090204"/>
                      </a:endParaRPr>
                    </a:p>
                  </a:txBody>
                  <a:tcPr marL="57150" marR="57150" marT="57150" marB="57150" anchor="ctr">
                    <a:lnR w="9525">
                      <a:solidFill>
                        <a:srgbClr val="D7DEDF"/>
                      </a:solidFill>
                      <a:prstDash val="solid"/>
                    </a:lnR>
                    <a:lnB w="9525">
                      <a:solidFill>
                        <a:srgbClr val="D7DEDF"/>
                      </a:solidFill>
                      <a:prstDash val="solid"/>
                    </a:lnB>
                    <a:solidFill>
                      <a:srgbClr val="F8E0D9"/>
                    </a:solidFill>
                  </a:tcPr>
                </a:tc>
              </a:tr>
            </a:tbl>
          </a:graphicData>
        </a:graphic>
      </p:graphicFrame>
      <p:sp>
        <p:nvSpPr>
          <p:cNvPr id="6" name="矩形 5"/>
          <p:cNvSpPr>
            <a:spLocks noGrp="1"/>
          </p:cNvSpPr>
          <p:nvPr/>
        </p:nvSpPr>
        <p:spPr>
          <a:xfrm>
            <a:off x="1143000" y="5191125"/>
            <a:ext cx="9906000" cy="476250"/>
          </a:xfrm>
          <a:prstGeom prst="rect">
            <a:avLst/>
          </a:prstGeom>
          <a:noFill/>
          <a:ln w="0">
            <a:noFill/>
            <a:prstDash val="solid"/>
          </a:ln>
        </p:spPr>
        <p:txBody>
          <a:bodyPr wrap="square" lIns="0" tIns="0" rIns="0" bIns="0" anchor="t">
            <a:normAutofit/>
          </a:bodyPr>
          <a:lstStyle>
            <a:defPPr algn="ctr">
              <a:defRPr sz="1725" b="1">
                <a:solidFill>
                  <a:srgbClr val="E7684A"/>
                </a:solidFill>
                <a:latin typeface="Arial" panose="020B0604020202090204"/>
                <a:ea typeface="Arial" panose="020B0604020202090204"/>
                <a:cs typeface="Arial" panose="020B0604020202090204"/>
              </a:defRPr>
            </a:defPPr>
            <a:lvl1pPr algn="ctr">
              <a:defRPr sz="1725" b="1">
                <a:solidFill>
                  <a:srgbClr val="E7684A"/>
                </a:solidFill>
                <a:latin typeface="Arial" panose="020B0604020202090204"/>
                <a:ea typeface="Arial" panose="020B0604020202090204"/>
                <a:cs typeface="Arial" panose="020B0604020202090204"/>
              </a:defRPr>
            </a:lvl1pPr>
            <a:lvl2pPr algn="ctr">
              <a:defRPr sz="1725" b="1">
                <a:solidFill>
                  <a:srgbClr val="E7684A"/>
                </a:solidFill>
                <a:latin typeface="Arial" panose="020B0604020202090204"/>
                <a:ea typeface="Arial" panose="020B0604020202090204"/>
                <a:cs typeface="Arial" panose="020B0604020202090204"/>
              </a:defRPr>
            </a:lvl2pPr>
            <a:lvl3pPr algn="ctr">
              <a:defRPr sz="1725" b="1">
                <a:solidFill>
                  <a:srgbClr val="E7684A"/>
                </a:solidFill>
                <a:latin typeface="Arial" panose="020B0604020202090204"/>
                <a:ea typeface="Arial" panose="020B0604020202090204"/>
                <a:cs typeface="Arial" panose="020B0604020202090204"/>
              </a:defRPr>
            </a:lvl3pPr>
            <a:lvl4pPr algn="ctr">
              <a:defRPr sz="1725" b="1">
                <a:solidFill>
                  <a:srgbClr val="E7684A"/>
                </a:solidFill>
                <a:latin typeface="Arial" panose="020B0604020202090204"/>
                <a:ea typeface="Arial" panose="020B0604020202090204"/>
                <a:cs typeface="Arial" panose="020B0604020202090204"/>
              </a:defRPr>
            </a:lvl4pPr>
            <a:lvl5pPr algn="ctr">
              <a:defRPr sz="1725" b="1">
                <a:solidFill>
                  <a:srgbClr val="E7684A"/>
                </a:solidFill>
                <a:latin typeface="Arial" panose="020B0604020202090204"/>
                <a:ea typeface="Arial" panose="020B0604020202090204"/>
                <a:cs typeface="Arial" panose="020B0604020202090204"/>
              </a:defRPr>
            </a:lvl5pPr>
            <a:lvl6pPr algn="ctr">
              <a:defRPr sz="1725" b="1">
                <a:solidFill>
                  <a:srgbClr val="E7684A"/>
                </a:solidFill>
                <a:latin typeface="Arial" panose="020B0604020202090204"/>
                <a:ea typeface="Arial" panose="020B0604020202090204"/>
                <a:cs typeface="Arial" panose="020B0604020202090204"/>
              </a:defRPr>
            </a:lvl6pPr>
            <a:lvl7pPr algn="ctr">
              <a:defRPr sz="1725" b="1">
                <a:solidFill>
                  <a:srgbClr val="E7684A"/>
                </a:solidFill>
                <a:latin typeface="Arial" panose="020B0604020202090204"/>
                <a:ea typeface="Arial" panose="020B0604020202090204"/>
                <a:cs typeface="Arial" panose="020B0604020202090204"/>
              </a:defRPr>
            </a:lvl7pPr>
            <a:lvl8pPr algn="ctr">
              <a:defRPr sz="1725" b="1">
                <a:solidFill>
                  <a:srgbClr val="E7684A"/>
                </a:solidFill>
                <a:latin typeface="Arial" panose="020B0604020202090204"/>
                <a:ea typeface="Arial" panose="020B0604020202090204"/>
                <a:cs typeface="Arial" panose="020B0604020202090204"/>
              </a:defRPr>
            </a:lvl8pPr>
            <a:lvl9pPr algn="ctr">
              <a:defRPr sz="1725" b="1">
                <a:solidFill>
                  <a:srgbClr val="E7684A"/>
                </a:solidFill>
                <a:latin typeface="Arial" panose="020B0604020202090204"/>
                <a:ea typeface="Arial" panose="020B0604020202090204"/>
                <a:cs typeface="Arial" panose="020B0604020202090204"/>
              </a:defRPr>
            </a:lvl9pPr>
          </a:lstStyle>
          <a:p>
            <a:pPr algn="ctr">
              <a:lnSpc>
                <a:spcPct val="102000"/>
              </a:lnSpc>
              <a:buNone/>
              <a:defRPr sz="1725" b="1">
                <a:solidFill>
                  <a:srgbClr val="E7684A"/>
                </a:solidFill>
                <a:latin typeface="Arial" panose="020B0604020202090204"/>
                <a:ea typeface="Arial" panose="020B0604020202090204"/>
                <a:cs typeface="Arial" panose="020B0604020202090204"/>
              </a:defRPr>
            </a:pPr>
            <a:r>
              <a:rPr sz="1725" b="1">
                <a:solidFill>
                  <a:srgbClr val="E7684A"/>
                </a:solidFill>
                <a:latin typeface="Arial" panose="020B0604020202090204"/>
                <a:ea typeface="Arial" panose="020B0604020202090204"/>
                <a:cs typeface="Arial" panose="020B0604020202090204"/>
              </a:rPr>
              <a:t>Cross-language results remain strong. Paraphrasing still lowers AUROC.</a:t>
            </a:r>
            <a:endParaRPr sz="1725" b="1">
              <a:solidFill>
                <a:srgbClr val="E7684A"/>
              </a:solidFill>
              <a:latin typeface="Arial" panose="020B0604020202090204"/>
              <a:ea typeface="Arial" panose="020B0604020202090204"/>
              <a:cs typeface="Arial" panose="020B060402020209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17" name="矩形 16"/>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Ablation and proxy sensitivity</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1</a:t>
            </a:r>
            <a:r>
              <a:rPr lang="en-US" sz="1125" b="1">
                <a:solidFill>
                  <a:srgbClr val="637279"/>
                </a:solidFill>
                <a:latin typeface="Arial" panose="020B0604020202090204"/>
                <a:ea typeface="Arial" panose="020B0604020202090204"/>
                <a:cs typeface="Arial" panose="020B0604020202090204"/>
              </a:rPr>
              <a:t>4</a:t>
            </a:r>
            <a:endParaRPr lang="en-US" sz="1125" b="1">
              <a:solidFill>
                <a:srgbClr val="637279"/>
              </a:solidFill>
              <a:latin typeface="Arial" panose="020B0604020202090204"/>
              <a:ea typeface="Arial" panose="020B0604020202090204"/>
              <a:cs typeface="Arial" panose="020B0604020202090204"/>
            </a:endParaRPr>
          </a:p>
        </p:txBody>
      </p:sp>
      <p:pic>
        <p:nvPicPr>
          <p:cNvPr id="4" name="图片 3"/>
          <p:cNvPicPr>
            <a:picLocks noChangeAspect="1"/>
          </p:cNvPicPr>
          <p:nvPr/>
        </p:nvPicPr>
        <p:blipFill>
          <a:blip r:embed="rId1"/>
          <a:stretch>
            <a:fillRect/>
          </a:stretch>
        </p:blipFill>
        <p:spPr>
          <a:xfrm>
            <a:off x="751582" y="1219200"/>
            <a:ext cx="10688836" cy="2571750"/>
          </a:xfrm>
          <a:prstGeom prst="rect">
            <a:avLst/>
          </a:prstGeom>
        </p:spPr>
      </p:pic>
      <p:sp>
        <p:nvSpPr>
          <p:cNvPr id="5" name="矩形 4"/>
          <p:cNvSpPr>
            <a:spLocks noGrp="1"/>
          </p:cNvSpPr>
          <p:nvPr/>
        </p:nvSpPr>
        <p:spPr>
          <a:xfrm>
            <a:off x="742950" y="3790950"/>
            <a:ext cx="10715625" cy="238125"/>
          </a:xfrm>
          <a:prstGeom prst="rect">
            <a:avLst/>
          </a:prstGeom>
          <a:noFill/>
          <a:ln w="0">
            <a:noFill/>
            <a:prstDash val="solid"/>
          </a:ln>
        </p:spPr>
        <p:txBody>
          <a:bodyPr wrap="square" lIns="0" tIns="0" rIns="0" bIns="0" anchor="t">
            <a:normAutofit/>
          </a:bodyPr>
          <a:lstStyle>
            <a:defPPr algn="ctr">
              <a:defRPr sz="825" b="0">
                <a:solidFill>
                  <a:srgbClr val="637279"/>
                </a:solidFill>
                <a:latin typeface="Arial" panose="020B0604020202090204"/>
                <a:ea typeface="Arial" panose="020B0604020202090204"/>
                <a:cs typeface="Arial" panose="020B0604020202090204"/>
              </a:defRPr>
            </a:defPPr>
            <a:lvl1pPr algn="ctr">
              <a:defRPr sz="825" b="0">
                <a:solidFill>
                  <a:srgbClr val="637279"/>
                </a:solidFill>
                <a:latin typeface="Arial" panose="020B0604020202090204"/>
                <a:ea typeface="Arial" panose="020B0604020202090204"/>
                <a:cs typeface="Arial" panose="020B0604020202090204"/>
              </a:defRPr>
            </a:lvl1pPr>
            <a:lvl2pPr algn="ctr">
              <a:defRPr sz="825" b="0">
                <a:solidFill>
                  <a:srgbClr val="637279"/>
                </a:solidFill>
                <a:latin typeface="Arial" panose="020B0604020202090204"/>
                <a:ea typeface="Arial" panose="020B0604020202090204"/>
                <a:cs typeface="Arial" panose="020B0604020202090204"/>
              </a:defRPr>
            </a:lvl2pPr>
            <a:lvl3pPr algn="ctr">
              <a:defRPr sz="825" b="0">
                <a:solidFill>
                  <a:srgbClr val="637279"/>
                </a:solidFill>
                <a:latin typeface="Arial" panose="020B0604020202090204"/>
                <a:ea typeface="Arial" panose="020B0604020202090204"/>
                <a:cs typeface="Arial" panose="020B0604020202090204"/>
              </a:defRPr>
            </a:lvl3pPr>
            <a:lvl4pPr algn="ctr">
              <a:defRPr sz="825" b="0">
                <a:solidFill>
                  <a:srgbClr val="637279"/>
                </a:solidFill>
                <a:latin typeface="Arial" panose="020B0604020202090204"/>
                <a:ea typeface="Arial" panose="020B0604020202090204"/>
                <a:cs typeface="Arial" panose="020B0604020202090204"/>
              </a:defRPr>
            </a:lvl4pPr>
            <a:lvl5pPr algn="ctr">
              <a:defRPr sz="825" b="0">
                <a:solidFill>
                  <a:srgbClr val="637279"/>
                </a:solidFill>
                <a:latin typeface="Arial" panose="020B0604020202090204"/>
                <a:ea typeface="Arial" panose="020B0604020202090204"/>
                <a:cs typeface="Arial" panose="020B0604020202090204"/>
              </a:defRPr>
            </a:lvl5pPr>
            <a:lvl6pPr algn="ctr">
              <a:defRPr sz="825" b="0">
                <a:solidFill>
                  <a:srgbClr val="637279"/>
                </a:solidFill>
                <a:latin typeface="Arial" panose="020B0604020202090204"/>
                <a:ea typeface="Arial" panose="020B0604020202090204"/>
                <a:cs typeface="Arial" panose="020B0604020202090204"/>
              </a:defRPr>
            </a:lvl6pPr>
            <a:lvl7pPr algn="ctr">
              <a:defRPr sz="825" b="0">
                <a:solidFill>
                  <a:srgbClr val="637279"/>
                </a:solidFill>
                <a:latin typeface="Arial" panose="020B0604020202090204"/>
                <a:ea typeface="Arial" panose="020B0604020202090204"/>
                <a:cs typeface="Arial" panose="020B0604020202090204"/>
              </a:defRPr>
            </a:lvl7pPr>
            <a:lvl8pPr algn="ctr">
              <a:defRPr sz="825" b="0">
                <a:solidFill>
                  <a:srgbClr val="637279"/>
                </a:solidFill>
                <a:latin typeface="Arial" panose="020B0604020202090204"/>
                <a:ea typeface="Arial" panose="020B0604020202090204"/>
                <a:cs typeface="Arial" panose="020B0604020202090204"/>
              </a:defRPr>
            </a:lvl8pPr>
            <a:lvl9pPr algn="ctr">
              <a:defRPr sz="825" b="0">
                <a:solidFill>
                  <a:srgbClr val="637279"/>
                </a:solidFill>
                <a:latin typeface="Arial" panose="020B0604020202090204"/>
                <a:ea typeface="Arial" panose="020B0604020202090204"/>
                <a:cs typeface="Arial" panose="020B0604020202090204"/>
              </a:defRPr>
            </a:lvl9pPr>
          </a:lstStyle>
          <a:p>
            <a:pPr algn="ctr">
              <a:lnSpc>
                <a:spcPct val="102000"/>
              </a:lnSpc>
              <a:buNone/>
              <a:defRPr sz="825" b="0">
                <a:solidFill>
                  <a:srgbClr val="637279"/>
                </a:solidFill>
                <a:latin typeface="Arial" panose="020B0604020202090204"/>
                <a:ea typeface="Arial" panose="020B0604020202090204"/>
                <a:cs typeface="Arial" panose="020B0604020202090204"/>
              </a:defRPr>
            </a:pPr>
            <a:r>
              <a:rPr sz="825" b="0">
                <a:solidFill>
                  <a:srgbClr val="637279"/>
                </a:solidFill>
                <a:latin typeface="Arial" panose="020B0604020202090204"/>
                <a:ea typeface="Arial" panose="020B0604020202090204"/>
                <a:cs typeface="Arial" panose="020B0604020202090204"/>
              </a:rPr>
              <a:t>Pairs, left to right: GPT-J(Neo-2.7) | OPT-2.7(OPT-13) | Gemma-7(GPT-2) | GPT-4-Turbo(Llama-13) | GPT-4-Turbo(Llama3-8)</a:t>
            </a:r>
            <a:endParaRPr sz="825" b="0">
              <a:solidFill>
                <a:srgbClr val="637279"/>
              </a:solidFill>
              <a:latin typeface="Arial" panose="020B0604020202090204"/>
              <a:ea typeface="Arial" panose="020B0604020202090204"/>
              <a:cs typeface="Arial" panose="020B0604020202090204"/>
            </a:endParaRPr>
          </a:p>
        </p:txBody>
      </p:sp>
      <p:sp>
        <p:nvSpPr>
          <p:cNvPr id="6" name="矩形 5"/>
          <p:cNvSpPr>
            <a:spLocks noGrp="1"/>
          </p:cNvSpPr>
          <p:nvPr/>
        </p:nvSpPr>
        <p:spPr>
          <a:xfrm>
            <a:off x="1333500" y="4038600"/>
            <a:ext cx="9525000" cy="238125"/>
          </a:xfrm>
          <a:prstGeom prst="rect">
            <a:avLst/>
          </a:prstGeom>
          <a:noFill/>
          <a:ln w="0">
            <a:noFill/>
            <a:prstDash val="solid"/>
          </a:ln>
        </p:spPr>
        <p:txBody>
          <a:bodyPr wrap="square" lIns="0" tIns="0" rIns="0" bIns="0" anchor="t">
            <a:normAutofit/>
          </a:bodyPr>
          <a:lstStyle>
            <a:defPPr algn="ctr">
              <a:defRPr sz="900" b="1">
                <a:solidFill>
                  <a:srgbClr val="182226"/>
                </a:solidFill>
                <a:latin typeface="Arial" panose="020B0604020202090204"/>
                <a:ea typeface="Arial" panose="020B0604020202090204"/>
                <a:cs typeface="Arial" panose="020B0604020202090204"/>
              </a:defRPr>
            </a:defPPr>
            <a:lvl1pPr algn="ctr">
              <a:defRPr sz="900" b="1">
                <a:solidFill>
                  <a:srgbClr val="182226"/>
                </a:solidFill>
                <a:latin typeface="Arial" panose="020B0604020202090204"/>
                <a:ea typeface="Arial" panose="020B0604020202090204"/>
                <a:cs typeface="Arial" panose="020B0604020202090204"/>
              </a:defRPr>
            </a:lvl1pPr>
            <a:lvl2pPr algn="ctr">
              <a:defRPr sz="900" b="1">
                <a:solidFill>
                  <a:srgbClr val="182226"/>
                </a:solidFill>
                <a:latin typeface="Arial" panose="020B0604020202090204"/>
                <a:ea typeface="Arial" panose="020B0604020202090204"/>
                <a:cs typeface="Arial" panose="020B0604020202090204"/>
              </a:defRPr>
            </a:lvl2pPr>
            <a:lvl3pPr algn="ctr">
              <a:defRPr sz="900" b="1">
                <a:solidFill>
                  <a:srgbClr val="182226"/>
                </a:solidFill>
                <a:latin typeface="Arial" panose="020B0604020202090204"/>
                <a:ea typeface="Arial" panose="020B0604020202090204"/>
                <a:cs typeface="Arial" panose="020B0604020202090204"/>
              </a:defRPr>
            </a:lvl3pPr>
            <a:lvl4pPr algn="ctr">
              <a:defRPr sz="900" b="1">
                <a:solidFill>
                  <a:srgbClr val="182226"/>
                </a:solidFill>
                <a:latin typeface="Arial" panose="020B0604020202090204"/>
                <a:ea typeface="Arial" panose="020B0604020202090204"/>
                <a:cs typeface="Arial" panose="020B0604020202090204"/>
              </a:defRPr>
            </a:lvl4pPr>
            <a:lvl5pPr algn="ctr">
              <a:defRPr sz="900" b="1">
                <a:solidFill>
                  <a:srgbClr val="182226"/>
                </a:solidFill>
                <a:latin typeface="Arial" panose="020B0604020202090204"/>
                <a:ea typeface="Arial" panose="020B0604020202090204"/>
                <a:cs typeface="Arial" panose="020B0604020202090204"/>
              </a:defRPr>
            </a:lvl5pPr>
            <a:lvl6pPr algn="ctr">
              <a:defRPr sz="900" b="1">
                <a:solidFill>
                  <a:srgbClr val="182226"/>
                </a:solidFill>
                <a:latin typeface="Arial" panose="020B0604020202090204"/>
                <a:ea typeface="Arial" panose="020B0604020202090204"/>
                <a:cs typeface="Arial" panose="020B0604020202090204"/>
              </a:defRPr>
            </a:lvl6pPr>
            <a:lvl7pPr algn="ctr">
              <a:defRPr sz="900" b="1">
                <a:solidFill>
                  <a:srgbClr val="182226"/>
                </a:solidFill>
                <a:latin typeface="Arial" panose="020B0604020202090204"/>
                <a:ea typeface="Arial" panose="020B0604020202090204"/>
                <a:cs typeface="Arial" panose="020B0604020202090204"/>
              </a:defRPr>
            </a:lvl7pPr>
            <a:lvl8pPr algn="ctr">
              <a:defRPr sz="900" b="1">
                <a:solidFill>
                  <a:srgbClr val="182226"/>
                </a:solidFill>
                <a:latin typeface="Arial" panose="020B0604020202090204"/>
                <a:ea typeface="Arial" panose="020B0604020202090204"/>
                <a:cs typeface="Arial" panose="020B0604020202090204"/>
              </a:defRPr>
            </a:lvl8pPr>
            <a:lvl9pPr algn="ctr">
              <a:defRPr sz="900" b="1">
                <a:solidFill>
                  <a:srgbClr val="182226"/>
                </a:solidFill>
                <a:latin typeface="Arial" panose="020B0604020202090204"/>
                <a:ea typeface="Arial" panose="020B0604020202090204"/>
                <a:cs typeface="Arial" panose="020B0604020202090204"/>
              </a:defRPr>
            </a:lvl9pPr>
          </a:lstStyle>
          <a:p>
            <a:pPr algn="ctr">
              <a:lnSpc>
                <a:spcPct val="102000"/>
              </a:lnSpc>
              <a:buNone/>
              <a:defRPr sz="900" b="1">
                <a:solidFill>
                  <a:srgbClr val="182226"/>
                </a:solidFill>
                <a:latin typeface="Arial" panose="020B0604020202090204"/>
                <a:ea typeface="Arial" panose="020B0604020202090204"/>
                <a:cs typeface="Arial" panose="020B0604020202090204"/>
              </a:defRPr>
            </a:pPr>
            <a:r>
              <a:rPr sz="900" b="1">
                <a:solidFill>
                  <a:srgbClr val="182226"/>
                </a:solidFill>
                <a:latin typeface="Arial" panose="020B0604020202090204"/>
                <a:ea typeface="Arial" panose="020B0604020202090204"/>
                <a:cs typeface="Arial" panose="020B0604020202090204"/>
              </a:rPr>
              <a:t>Bars, left to right: Likelihood | Lastde | DNA-GPT | Fast-DetectGPT | Lastde++</a:t>
            </a:r>
            <a:endParaRPr sz="900" b="1">
              <a:solidFill>
                <a:srgbClr val="182226"/>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14375" y="4476750"/>
            <a:ext cx="66675" cy="1381125"/>
          </a:xfrm>
          <a:prstGeom prst="rect">
            <a:avLst/>
          </a:prstGeom>
          <a:solidFill>
            <a:srgbClr val="147A78"/>
          </a:solidFill>
          <a:ln w="0">
            <a:solidFill>
              <a:srgbClr val="147A78"/>
            </a:solidFill>
            <a:prstDash val="solid"/>
          </a:ln>
        </p:spPr>
      </p:sp>
      <p:sp>
        <p:nvSpPr>
          <p:cNvPr id="8" name="矩形 7"/>
          <p:cNvSpPr>
            <a:spLocks noGrp="1"/>
          </p:cNvSpPr>
          <p:nvPr/>
        </p:nvSpPr>
        <p:spPr>
          <a:xfrm>
            <a:off x="923925" y="4591050"/>
            <a:ext cx="3067050" cy="323850"/>
          </a:xfrm>
          <a:prstGeom prst="rect">
            <a:avLst/>
          </a:prstGeom>
          <a:noFill/>
          <a:ln w="0">
            <a:noFill/>
            <a:prstDash val="solid"/>
          </a:ln>
        </p:spPr>
        <p:txBody>
          <a:bodyPr wrap="square" lIns="0" tIns="0" rIns="0" bIns="0" anchor="t">
            <a:normAutofit/>
          </a:bodyPr>
          <a:lstStyle>
            <a:defPPr algn="l">
              <a:defRPr sz="1575" b="1">
                <a:solidFill>
                  <a:srgbClr val="147A78"/>
                </a:solidFill>
                <a:latin typeface="Arial" panose="020B0604020202090204"/>
                <a:ea typeface="Arial" panose="020B0604020202090204"/>
                <a:cs typeface="Arial" panose="020B0604020202090204"/>
              </a:defRPr>
            </a:defPPr>
            <a:lvl1pPr algn="l">
              <a:defRPr sz="1575" b="1">
                <a:solidFill>
                  <a:srgbClr val="147A78"/>
                </a:solidFill>
                <a:latin typeface="Arial" panose="020B0604020202090204"/>
                <a:ea typeface="Arial" panose="020B0604020202090204"/>
                <a:cs typeface="Arial" panose="020B0604020202090204"/>
              </a:defRPr>
            </a:lvl1pPr>
            <a:lvl2pPr algn="l">
              <a:defRPr sz="1575" b="1">
                <a:solidFill>
                  <a:srgbClr val="147A78"/>
                </a:solidFill>
                <a:latin typeface="Arial" panose="020B0604020202090204"/>
                <a:ea typeface="Arial" panose="020B0604020202090204"/>
                <a:cs typeface="Arial" panose="020B0604020202090204"/>
              </a:defRPr>
            </a:lvl2pPr>
            <a:lvl3pPr algn="l">
              <a:defRPr sz="1575" b="1">
                <a:solidFill>
                  <a:srgbClr val="147A78"/>
                </a:solidFill>
                <a:latin typeface="Arial" panose="020B0604020202090204"/>
                <a:ea typeface="Arial" panose="020B0604020202090204"/>
                <a:cs typeface="Arial" panose="020B0604020202090204"/>
              </a:defRPr>
            </a:lvl3pPr>
            <a:lvl4pPr algn="l">
              <a:defRPr sz="1575" b="1">
                <a:solidFill>
                  <a:srgbClr val="147A78"/>
                </a:solidFill>
                <a:latin typeface="Arial" panose="020B0604020202090204"/>
                <a:ea typeface="Arial" panose="020B0604020202090204"/>
                <a:cs typeface="Arial" panose="020B0604020202090204"/>
              </a:defRPr>
            </a:lvl4pPr>
            <a:lvl5pPr algn="l">
              <a:defRPr sz="1575" b="1">
                <a:solidFill>
                  <a:srgbClr val="147A78"/>
                </a:solidFill>
                <a:latin typeface="Arial" panose="020B0604020202090204"/>
                <a:ea typeface="Arial" panose="020B0604020202090204"/>
                <a:cs typeface="Arial" panose="020B0604020202090204"/>
              </a:defRPr>
            </a:lvl5pPr>
            <a:lvl6pPr algn="l">
              <a:defRPr sz="1575" b="1">
                <a:solidFill>
                  <a:srgbClr val="147A78"/>
                </a:solidFill>
                <a:latin typeface="Arial" panose="020B0604020202090204"/>
                <a:ea typeface="Arial" panose="020B0604020202090204"/>
                <a:cs typeface="Arial" panose="020B0604020202090204"/>
              </a:defRPr>
            </a:lvl6pPr>
            <a:lvl7pPr algn="l">
              <a:defRPr sz="1575" b="1">
                <a:solidFill>
                  <a:srgbClr val="147A78"/>
                </a:solidFill>
                <a:latin typeface="Arial" panose="020B0604020202090204"/>
                <a:ea typeface="Arial" panose="020B0604020202090204"/>
                <a:cs typeface="Arial" panose="020B0604020202090204"/>
              </a:defRPr>
            </a:lvl7pPr>
            <a:lvl8pPr algn="l">
              <a:defRPr sz="1575" b="1">
                <a:solidFill>
                  <a:srgbClr val="147A78"/>
                </a:solidFill>
                <a:latin typeface="Arial" panose="020B0604020202090204"/>
                <a:ea typeface="Arial" panose="020B0604020202090204"/>
                <a:cs typeface="Arial" panose="020B0604020202090204"/>
              </a:defRPr>
            </a:lvl8pPr>
            <a:lvl9pPr algn="l">
              <a:defRPr sz="1575" b="1">
                <a:solidFill>
                  <a:srgbClr val="147A78"/>
                </a:solidFill>
                <a:latin typeface="Arial" panose="020B0604020202090204"/>
                <a:ea typeface="Arial" panose="020B0604020202090204"/>
                <a:cs typeface="Arial" panose="020B0604020202090204"/>
              </a:defRPr>
            </a:lvl9pPr>
          </a:lstStyle>
          <a:p>
            <a:pPr algn="l">
              <a:lnSpc>
                <a:spcPct val="102000"/>
              </a:lnSpc>
              <a:buNone/>
              <a:defRPr sz="1575" b="1">
                <a:solidFill>
                  <a:srgbClr val="147A78"/>
                </a:solidFill>
                <a:latin typeface="Arial" panose="020B0604020202090204"/>
                <a:ea typeface="Arial" panose="020B0604020202090204"/>
                <a:cs typeface="Arial" panose="020B0604020202090204"/>
              </a:defRPr>
            </a:pPr>
            <a:r>
              <a:rPr sz="1575" b="1">
                <a:solidFill>
                  <a:srgbClr val="147A78"/>
                </a:solidFill>
                <a:latin typeface="Arial" panose="020B0604020202090204"/>
                <a:ea typeface="Arial" panose="020B0604020202090204"/>
                <a:cs typeface="Arial" panose="020B0604020202090204"/>
              </a:rPr>
              <a:t>Complementary components</a:t>
            </a:r>
            <a:endParaRPr sz="1575" b="1">
              <a:solidFill>
                <a:srgbClr val="147A78"/>
              </a:solidFill>
              <a:latin typeface="Arial" panose="020B0604020202090204"/>
              <a:ea typeface="Arial" panose="020B0604020202090204"/>
              <a:cs typeface="Arial" panose="020B0604020202090204"/>
            </a:endParaRPr>
          </a:p>
        </p:txBody>
      </p:sp>
      <p:sp>
        <p:nvSpPr>
          <p:cNvPr id="9" name="矩形 8"/>
          <p:cNvSpPr>
            <a:spLocks noGrp="1"/>
          </p:cNvSpPr>
          <p:nvPr/>
        </p:nvSpPr>
        <p:spPr>
          <a:xfrm>
            <a:off x="923925" y="4991100"/>
            <a:ext cx="3048000" cy="771525"/>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Table 11 and Figure 10 show that likelihood and Agg-MDE work better together than either component alone.</a:t>
            </a:r>
            <a:endParaRPr sz="1275" b="0">
              <a:solidFill>
                <a:srgbClr val="637279"/>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4429125" y="4476750"/>
            <a:ext cx="66675" cy="1381125"/>
          </a:xfrm>
          <a:prstGeom prst="rect">
            <a:avLst/>
          </a:prstGeom>
          <a:solidFill>
            <a:srgbClr val="E7684A"/>
          </a:solidFill>
          <a:ln w="0">
            <a:solidFill>
              <a:srgbClr val="E7684A"/>
            </a:solidFill>
            <a:prstDash val="solid"/>
          </a:ln>
        </p:spPr>
      </p:sp>
      <p:sp>
        <p:nvSpPr>
          <p:cNvPr id="11" name="矩形 10"/>
          <p:cNvSpPr>
            <a:spLocks noGrp="1"/>
          </p:cNvSpPr>
          <p:nvPr/>
        </p:nvSpPr>
        <p:spPr>
          <a:xfrm>
            <a:off x="4638675" y="4591050"/>
            <a:ext cx="3067050" cy="323850"/>
          </a:xfrm>
          <a:prstGeom prst="rect">
            <a:avLst/>
          </a:prstGeom>
          <a:noFill/>
          <a:ln w="0">
            <a:noFill/>
            <a:prstDash val="solid"/>
          </a:ln>
        </p:spPr>
        <p:txBody>
          <a:bodyPr wrap="square" lIns="0" tIns="0" rIns="0" bIns="0" anchor="t">
            <a:normAutofit/>
          </a:bodyPr>
          <a:lstStyle>
            <a:defPPr algn="l">
              <a:defRPr sz="1575" b="1">
                <a:solidFill>
                  <a:srgbClr val="E7684A"/>
                </a:solidFill>
                <a:latin typeface="Arial" panose="020B0604020202090204"/>
                <a:ea typeface="Arial" panose="020B0604020202090204"/>
                <a:cs typeface="Arial" panose="020B0604020202090204"/>
              </a:defRPr>
            </a:defPPr>
            <a:lvl1pPr algn="l">
              <a:defRPr sz="1575" b="1">
                <a:solidFill>
                  <a:srgbClr val="E7684A"/>
                </a:solidFill>
                <a:latin typeface="Arial" panose="020B0604020202090204"/>
                <a:ea typeface="Arial" panose="020B0604020202090204"/>
                <a:cs typeface="Arial" panose="020B0604020202090204"/>
              </a:defRPr>
            </a:lvl1pPr>
            <a:lvl2pPr algn="l">
              <a:defRPr sz="1575" b="1">
                <a:solidFill>
                  <a:srgbClr val="E7684A"/>
                </a:solidFill>
                <a:latin typeface="Arial" panose="020B0604020202090204"/>
                <a:ea typeface="Arial" panose="020B0604020202090204"/>
                <a:cs typeface="Arial" panose="020B0604020202090204"/>
              </a:defRPr>
            </a:lvl2pPr>
            <a:lvl3pPr algn="l">
              <a:defRPr sz="1575" b="1">
                <a:solidFill>
                  <a:srgbClr val="E7684A"/>
                </a:solidFill>
                <a:latin typeface="Arial" panose="020B0604020202090204"/>
                <a:ea typeface="Arial" panose="020B0604020202090204"/>
                <a:cs typeface="Arial" panose="020B0604020202090204"/>
              </a:defRPr>
            </a:lvl3pPr>
            <a:lvl4pPr algn="l">
              <a:defRPr sz="1575" b="1">
                <a:solidFill>
                  <a:srgbClr val="E7684A"/>
                </a:solidFill>
                <a:latin typeface="Arial" panose="020B0604020202090204"/>
                <a:ea typeface="Arial" panose="020B0604020202090204"/>
                <a:cs typeface="Arial" panose="020B0604020202090204"/>
              </a:defRPr>
            </a:lvl4pPr>
            <a:lvl5pPr algn="l">
              <a:defRPr sz="1575" b="1">
                <a:solidFill>
                  <a:srgbClr val="E7684A"/>
                </a:solidFill>
                <a:latin typeface="Arial" panose="020B0604020202090204"/>
                <a:ea typeface="Arial" panose="020B0604020202090204"/>
                <a:cs typeface="Arial" panose="020B0604020202090204"/>
              </a:defRPr>
            </a:lvl5pPr>
            <a:lvl6pPr algn="l">
              <a:defRPr sz="1575" b="1">
                <a:solidFill>
                  <a:srgbClr val="E7684A"/>
                </a:solidFill>
                <a:latin typeface="Arial" panose="020B0604020202090204"/>
                <a:ea typeface="Arial" panose="020B0604020202090204"/>
                <a:cs typeface="Arial" panose="020B0604020202090204"/>
              </a:defRPr>
            </a:lvl6pPr>
            <a:lvl7pPr algn="l">
              <a:defRPr sz="1575" b="1">
                <a:solidFill>
                  <a:srgbClr val="E7684A"/>
                </a:solidFill>
                <a:latin typeface="Arial" panose="020B0604020202090204"/>
                <a:ea typeface="Arial" panose="020B0604020202090204"/>
                <a:cs typeface="Arial" panose="020B0604020202090204"/>
              </a:defRPr>
            </a:lvl7pPr>
            <a:lvl8pPr algn="l">
              <a:defRPr sz="1575" b="1">
                <a:solidFill>
                  <a:srgbClr val="E7684A"/>
                </a:solidFill>
                <a:latin typeface="Arial" panose="020B0604020202090204"/>
                <a:ea typeface="Arial" panose="020B0604020202090204"/>
                <a:cs typeface="Arial" panose="020B0604020202090204"/>
              </a:defRPr>
            </a:lvl8pPr>
            <a:lvl9pPr algn="l">
              <a:defRPr sz="1575" b="1">
                <a:solidFill>
                  <a:srgbClr val="E7684A"/>
                </a:solidFill>
                <a:latin typeface="Arial" panose="020B0604020202090204"/>
                <a:ea typeface="Arial" panose="020B0604020202090204"/>
                <a:cs typeface="Arial" panose="020B0604020202090204"/>
              </a:defRPr>
            </a:lvl9pPr>
          </a:lstStyle>
          <a:p>
            <a:pPr algn="l">
              <a:lnSpc>
                <a:spcPct val="102000"/>
              </a:lnSpc>
              <a:buNone/>
              <a:defRPr sz="1575" b="1">
                <a:solidFill>
                  <a:srgbClr val="E7684A"/>
                </a:solidFill>
                <a:latin typeface="Arial" panose="020B0604020202090204"/>
                <a:ea typeface="Arial" panose="020B0604020202090204"/>
                <a:cs typeface="Arial" panose="020B0604020202090204"/>
              </a:defRPr>
            </a:pPr>
            <a:r>
              <a:rPr sz="1575" b="1">
                <a:solidFill>
                  <a:srgbClr val="E7684A"/>
                </a:solidFill>
                <a:latin typeface="Arial" panose="020B0604020202090204"/>
                <a:ea typeface="Arial" panose="020B0604020202090204"/>
                <a:cs typeface="Arial" panose="020B0604020202090204"/>
              </a:rPr>
              <a:t>Proxy sensitivity</a:t>
            </a:r>
            <a:endParaRPr sz="1575" b="1">
              <a:solidFill>
                <a:srgbClr val="E7684A"/>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4638675" y="4991100"/>
            <a:ext cx="3048000" cy="771525"/>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Figure 8 shows large AUROC differences across source and proxy model pairs.</a:t>
            </a:r>
            <a:endParaRPr sz="1275" b="0">
              <a:solidFill>
                <a:srgbClr val="637279"/>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8143875" y="4476750"/>
            <a:ext cx="66675" cy="1381125"/>
          </a:xfrm>
          <a:prstGeom prst="rect">
            <a:avLst/>
          </a:prstGeom>
          <a:solidFill>
            <a:srgbClr val="C99B27"/>
          </a:solidFill>
          <a:ln w="0">
            <a:solidFill>
              <a:srgbClr val="C99B27"/>
            </a:solidFill>
            <a:prstDash val="solid"/>
          </a:ln>
        </p:spPr>
      </p:sp>
      <p:sp>
        <p:nvSpPr>
          <p:cNvPr id="14" name="矩形 13"/>
          <p:cNvSpPr>
            <a:spLocks noGrp="1"/>
          </p:cNvSpPr>
          <p:nvPr/>
        </p:nvSpPr>
        <p:spPr>
          <a:xfrm>
            <a:off x="8353425" y="4591050"/>
            <a:ext cx="3067050" cy="323850"/>
          </a:xfrm>
          <a:prstGeom prst="rect">
            <a:avLst/>
          </a:prstGeom>
          <a:noFill/>
          <a:ln w="0">
            <a:noFill/>
            <a:prstDash val="solid"/>
          </a:ln>
        </p:spPr>
        <p:txBody>
          <a:bodyPr wrap="square" lIns="0" tIns="0" rIns="0" bIns="0" anchor="t">
            <a:normAutofit/>
          </a:bodyPr>
          <a:lstStyle>
            <a:defPPr algn="l">
              <a:defRPr sz="1575" b="1">
                <a:solidFill>
                  <a:srgbClr val="C99B27"/>
                </a:solidFill>
                <a:latin typeface="Arial" panose="020B0604020202090204"/>
                <a:ea typeface="Arial" panose="020B0604020202090204"/>
                <a:cs typeface="Arial" panose="020B0604020202090204"/>
              </a:defRPr>
            </a:defPPr>
            <a:lvl1pPr algn="l">
              <a:defRPr sz="1575" b="1">
                <a:solidFill>
                  <a:srgbClr val="C99B27"/>
                </a:solidFill>
                <a:latin typeface="Arial" panose="020B0604020202090204"/>
                <a:ea typeface="Arial" panose="020B0604020202090204"/>
                <a:cs typeface="Arial" panose="020B0604020202090204"/>
              </a:defRPr>
            </a:lvl1pPr>
            <a:lvl2pPr algn="l">
              <a:defRPr sz="1575" b="1">
                <a:solidFill>
                  <a:srgbClr val="C99B27"/>
                </a:solidFill>
                <a:latin typeface="Arial" panose="020B0604020202090204"/>
                <a:ea typeface="Arial" panose="020B0604020202090204"/>
                <a:cs typeface="Arial" panose="020B0604020202090204"/>
              </a:defRPr>
            </a:lvl2pPr>
            <a:lvl3pPr algn="l">
              <a:defRPr sz="1575" b="1">
                <a:solidFill>
                  <a:srgbClr val="C99B27"/>
                </a:solidFill>
                <a:latin typeface="Arial" panose="020B0604020202090204"/>
                <a:ea typeface="Arial" panose="020B0604020202090204"/>
                <a:cs typeface="Arial" panose="020B0604020202090204"/>
              </a:defRPr>
            </a:lvl3pPr>
            <a:lvl4pPr algn="l">
              <a:defRPr sz="1575" b="1">
                <a:solidFill>
                  <a:srgbClr val="C99B27"/>
                </a:solidFill>
                <a:latin typeface="Arial" panose="020B0604020202090204"/>
                <a:ea typeface="Arial" panose="020B0604020202090204"/>
                <a:cs typeface="Arial" panose="020B0604020202090204"/>
              </a:defRPr>
            </a:lvl4pPr>
            <a:lvl5pPr algn="l">
              <a:defRPr sz="1575" b="1">
                <a:solidFill>
                  <a:srgbClr val="C99B27"/>
                </a:solidFill>
                <a:latin typeface="Arial" panose="020B0604020202090204"/>
                <a:ea typeface="Arial" panose="020B0604020202090204"/>
                <a:cs typeface="Arial" panose="020B0604020202090204"/>
              </a:defRPr>
            </a:lvl5pPr>
            <a:lvl6pPr algn="l">
              <a:defRPr sz="1575" b="1">
                <a:solidFill>
                  <a:srgbClr val="C99B27"/>
                </a:solidFill>
                <a:latin typeface="Arial" panose="020B0604020202090204"/>
                <a:ea typeface="Arial" panose="020B0604020202090204"/>
                <a:cs typeface="Arial" panose="020B0604020202090204"/>
              </a:defRPr>
            </a:lvl6pPr>
            <a:lvl7pPr algn="l">
              <a:defRPr sz="1575" b="1">
                <a:solidFill>
                  <a:srgbClr val="C99B27"/>
                </a:solidFill>
                <a:latin typeface="Arial" panose="020B0604020202090204"/>
                <a:ea typeface="Arial" panose="020B0604020202090204"/>
                <a:cs typeface="Arial" panose="020B0604020202090204"/>
              </a:defRPr>
            </a:lvl7pPr>
            <a:lvl8pPr algn="l">
              <a:defRPr sz="1575" b="1">
                <a:solidFill>
                  <a:srgbClr val="C99B27"/>
                </a:solidFill>
                <a:latin typeface="Arial" panose="020B0604020202090204"/>
                <a:ea typeface="Arial" panose="020B0604020202090204"/>
                <a:cs typeface="Arial" panose="020B0604020202090204"/>
              </a:defRPr>
            </a:lvl8pPr>
            <a:lvl9pPr algn="l">
              <a:defRPr sz="1575" b="1">
                <a:solidFill>
                  <a:srgbClr val="C99B27"/>
                </a:solidFill>
                <a:latin typeface="Arial" panose="020B0604020202090204"/>
                <a:ea typeface="Arial" panose="020B0604020202090204"/>
                <a:cs typeface="Arial" panose="020B0604020202090204"/>
              </a:defRPr>
            </a:lvl9pPr>
          </a:lstStyle>
          <a:p>
            <a:pPr algn="l">
              <a:lnSpc>
                <a:spcPct val="102000"/>
              </a:lnSpc>
              <a:buNone/>
              <a:defRPr sz="1575" b="1">
                <a:solidFill>
                  <a:srgbClr val="C99B27"/>
                </a:solidFill>
                <a:latin typeface="Arial" panose="020B0604020202090204"/>
                <a:ea typeface="Arial" panose="020B0604020202090204"/>
                <a:cs typeface="Arial" panose="020B0604020202090204"/>
              </a:defRPr>
            </a:pPr>
            <a:r>
              <a:rPr sz="1575" b="1">
                <a:solidFill>
                  <a:srgbClr val="C99B27"/>
                </a:solidFill>
                <a:latin typeface="Arial" panose="020B0604020202090204"/>
                <a:ea typeface="Arial" panose="020B0604020202090204"/>
                <a:cs typeface="Arial" panose="020B0604020202090204"/>
              </a:rPr>
              <a:t>Interpretation</a:t>
            </a:r>
            <a:endParaRPr sz="1575" b="1">
              <a:solidFill>
                <a:srgbClr val="C99B27"/>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8353425" y="4991100"/>
            <a:ext cx="3048000" cy="771525"/>
          </a:xfrm>
          <a:prstGeom prst="rect">
            <a:avLst/>
          </a:prstGeom>
          <a:solidFill>
            <a:srgbClr val="FFFFFF"/>
          </a:solidFill>
          <a:ln w="0">
            <a:noFill/>
            <a:prstDash val="solid"/>
          </a:ln>
        </p:spPr>
        <p:txBody>
          <a:bodyPr wrap="square" lIns="0" tIns="0" rIns="0" bIns="0" anchor="t">
            <a:normAutofit/>
          </a:bodyPr>
          <a:lstStyle>
            <a:defPPr algn="l">
              <a:defRPr sz="1275" b="0">
                <a:solidFill>
                  <a:srgbClr val="637279"/>
                </a:solidFill>
                <a:latin typeface="Arial" panose="020B0604020202090204"/>
                <a:ea typeface="Arial" panose="020B0604020202090204"/>
                <a:cs typeface="Arial" panose="020B0604020202090204"/>
              </a:defRPr>
            </a:defPPr>
            <a:lvl1pPr algn="l">
              <a:defRPr sz="1275" b="0">
                <a:solidFill>
                  <a:srgbClr val="637279"/>
                </a:solidFill>
                <a:latin typeface="Arial" panose="020B0604020202090204"/>
                <a:ea typeface="Arial" panose="020B0604020202090204"/>
                <a:cs typeface="Arial" panose="020B0604020202090204"/>
              </a:defRPr>
            </a:lvl1pPr>
            <a:lvl2pPr algn="l">
              <a:defRPr sz="1275" b="0">
                <a:solidFill>
                  <a:srgbClr val="637279"/>
                </a:solidFill>
                <a:latin typeface="Arial" panose="020B0604020202090204"/>
                <a:ea typeface="Arial" panose="020B0604020202090204"/>
                <a:cs typeface="Arial" panose="020B0604020202090204"/>
              </a:defRPr>
            </a:lvl2pPr>
            <a:lvl3pPr algn="l">
              <a:defRPr sz="1275" b="0">
                <a:solidFill>
                  <a:srgbClr val="637279"/>
                </a:solidFill>
                <a:latin typeface="Arial" panose="020B0604020202090204"/>
                <a:ea typeface="Arial" panose="020B0604020202090204"/>
                <a:cs typeface="Arial" panose="020B0604020202090204"/>
              </a:defRPr>
            </a:lvl3pPr>
            <a:lvl4pPr algn="l">
              <a:defRPr sz="1275" b="0">
                <a:solidFill>
                  <a:srgbClr val="637279"/>
                </a:solidFill>
                <a:latin typeface="Arial" panose="020B0604020202090204"/>
                <a:ea typeface="Arial" panose="020B0604020202090204"/>
                <a:cs typeface="Arial" panose="020B0604020202090204"/>
              </a:defRPr>
            </a:lvl4pPr>
            <a:lvl5pPr algn="l">
              <a:defRPr sz="1275" b="0">
                <a:solidFill>
                  <a:srgbClr val="637279"/>
                </a:solidFill>
                <a:latin typeface="Arial" panose="020B0604020202090204"/>
                <a:ea typeface="Arial" panose="020B0604020202090204"/>
                <a:cs typeface="Arial" panose="020B0604020202090204"/>
              </a:defRPr>
            </a:lvl5pPr>
            <a:lvl6pPr algn="l">
              <a:defRPr sz="1275" b="0">
                <a:solidFill>
                  <a:srgbClr val="637279"/>
                </a:solidFill>
                <a:latin typeface="Arial" panose="020B0604020202090204"/>
                <a:ea typeface="Arial" panose="020B0604020202090204"/>
                <a:cs typeface="Arial" panose="020B0604020202090204"/>
              </a:defRPr>
            </a:lvl6pPr>
            <a:lvl7pPr algn="l">
              <a:defRPr sz="1275" b="0">
                <a:solidFill>
                  <a:srgbClr val="637279"/>
                </a:solidFill>
                <a:latin typeface="Arial" panose="020B0604020202090204"/>
                <a:ea typeface="Arial" panose="020B0604020202090204"/>
                <a:cs typeface="Arial" panose="020B0604020202090204"/>
              </a:defRPr>
            </a:lvl7pPr>
            <a:lvl8pPr algn="l">
              <a:defRPr sz="1275" b="0">
                <a:solidFill>
                  <a:srgbClr val="637279"/>
                </a:solidFill>
                <a:latin typeface="Arial" panose="020B0604020202090204"/>
                <a:ea typeface="Arial" panose="020B0604020202090204"/>
                <a:cs typeface="Arial" panose="020B0604020202090204"/>
              </a:defRPr>
            </a:lvl8pPr>
            <a:lvl9pPr algn="l">
              <a:defRPr sz="1275" b="0">
                <a:solidFill>
                  <a:srgbClr val="637279"/>
                </a:solidFill>
                <a:latin typeface="Arial" panose="020B0604020202090204"/>
                <a:ea typeface="Arial" panose="020B0604020202090204"/>
                <a:cs typeface="Arial" panose="020B0604020202090204"/>
              </a:defRPr>
            </a:lvl9pPr>
          </a:lstStyle>
          <a:p>
            <a:pPr algn="l">
              <a:lnSpc>
                <a:spcPct val="102000"/>
              </a:lnSpc>
              <a:buNone/>
              <a:defRPr sz="1275" b="0">
                <a:solidFill>
                  <a:srgbClr val="637279"/>
                </a:solidFill>
                <a:latin typeface="Arial" panose="020B0604020202090204"/>
                <a:ea typeface="Arial" panose="020B0604020202090204"/>
                <a:cs typeface="Arial" panose="020B0604020202090204"/>
              </a:defRPr>
            </a:pPr>
            <a:r>
              <a:rPr sz="1275" b="0">
                <a:solidFill>
                  <a:srgbClr val="637279"/>
                </a:solidFill>
                <a:latin typeface="Arial" panose="020B0604020202090204"/>
                <a:ea typeface="Arial" panose="020B0604020202090204"/>
                <a:cs typeface="Arial" panose="020B0604020202090204"/>
              </a:rPr>
              <a:t>Tokenizer choice, model coverage and probability geometry can shift TPS statistics.</a:t>
            </a:r>
            <a:endParaRPr sz="1275" b="0">
              <a:solidFill>
                <a:srgbClr val="637279"/>
              </a:solidFill>
              <a:latin typeface="Arial" panose="020B0604020202090204"/>
              <a:ea typeface="Arial" panose="020B0604020202090204"/>
              <a:cs typeface="Arial" panose="020B060402020209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p:sp>
        <p:nvSpPr>
          <p:cNvPr id="20" name="矩形 19"/>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182226"/>
                </a:solidFill>
                <a:latin typeface="Arial" panose="020B0604020202090204"/>
                <a:ea typeface="Arial" panose="020B0604020202090204"/>
                <a:cs typeface="Arial" panose="020B0604020202090204"/>
              </a:defRPr>
            </a:defPPr>
            <a:lvl1pPr algn="l">
              <a:defRPr sz="2400" b="1">
                <a:solidFill>
                  <a:srgbClr val="182226"/>
                </a:solidFill>
                <a:latin typeface="Arial" panose="020B0604020202090204"/>
                <a:ea typeface="Arial" panose="020B0604020202090204"/>
                <a:cs typeface="Arial" panose="020B0604020202090204"/>
              </a:defRPr>
            </a:lvl1pPr>
            <a:lvl2pPr algn="l">
              <a:defRPr sz="2400" b="1">
                <a:solidFill>
                  <a:srgbClr val="182226"/>
                </a:solidFill>
                <a:latin typeface="Arial" panose="020B0604020202090204"/>
                <a:ea typeface="Arial" panose="020B0604020202090204"/>
                <a:cs typeface="Arial" panose="020B0604020202090204"/>
              </a:defRPr>
            </a:lvl2pPr>
            <a:lvl3pPr algn="l">
              <a:defRPr sz="2400" b="1">
                <a:solidFill>
                  <a:srgbClr val="182226"/>
                </a:solidFill>
                <a:latin typeface="Arial" panose="020B0604020202090204"/>
                <a:ea typeface="Arial" panose="020B0604020202090204"/>
                <a:cs typeface="Arial" panose="020B0604020202090204"/>
              </a:defRPr>
            </a:lvl3pPr>
            <a:lvl4pPr algn="l">
              <a:defRPr sz="2400" b="1">
                <a:solidFill>
                  <a:srgbClr val="182226"/>
                </a:solidFill>
                <a:latin typeface="Arial" panose="020B0604020202090204"/>
                <a:ea typeface="Arial" panose="020B0604020202090204"/>
                <a:cs typeface="Arial" panose="020B0604020202090204"/>
              </a:defRPr>
            </a:lvl4pPr>
            <a:lvl5pPr algn="l">
              <a:defRPr sz="2400" b="1">
                <a:solidFill>
                  <a:srgbClr val="182226"/>
                </a:solidFill>
                <a:latin typeface="Arial" panose="020B0604020202090204"/>
                <a:ea typeface="Arial" panose="020B0604020202090204"/>
                <a:cs typeface="Arial" panose="020B0604020202090204"/>
              </a:defRPr>
            </a:lvl5pPr>
            <a:lvl6pPr algn="l">
              <a:defRPr sz="2400" b="1">
                <a:solidFill>
                  <a:srgbClr val="182226"/>
                </a:solidFill>
                <a:latin typeface="Arial" panose="020B0604020202090204"/>
                <a:ea typeface="Arial" panose="020B0604020202090204"/>
                <a:cs typeface="Arial" panose="020B0604020202090204"/>
              </a:defRPr>
            </a:lvl6pPr>
            <a:lvl7pPr algn="l">
              <a:defRPr sz="2400" b="1">
                <a:solidFill>
                  <a:srgbClr val="182226"/>
                </a:solidFill>
                <a:latin typeface="Arial" panose="020B0604020202090204"/>
                <a:ea typeface="Arial" panose="020B0604020202090204"/>
                <a:cs typeface="Arial" panose="020B0604020202090204"/>
              </a:defRPr>
            </a:lvl7pPr>
            <a:lvl8pPr algn="l">
              <a:defRPr sz="2400" b="1">
                <a:solidFill>
                  <a:srgbClr val="182226"/>
                </a:solidFill>
                <a:latin typeface="Arial" panose="020B0604020202090204"/>
                <a:ea typeface="Arial" panose="020B0604020202090204"/>
                <a:cs typeface="Arial" panose="020B0604020202090204"/>
              </a:defRPr>
            </a:lvl8pPr>
            <a:lvl9pPr algn="l">
              <a:defRPr sz="2400" b="1">
                <a:solidFill>
                  <a:srgbClr val="182226"/>
                </a:solidFill>
                <a:latin typeface="Arial" panose="020B0604020202090204"/>
                <a:ea typeface="Arial" panose="020B0604020202090204"/>
                <a:cs typeface="Arial" panose="020B0604020202090204"/>
              </a:defRPr>
            </a:lvl9pPr>
          </a:lstStyle>
          <a:p>
            <a:pPr algn="l">
              <a:lnSpc>
                <a:spcPct val="102000"/>
              </a:lnSpc>
              <a:buNone/>
              <a:defRPr sz="2400" b="1">
                <a:solidFill>
                  <a:srgbClr val="182226"/>
                </a:solidFill>
                <a:latin typeface="Arial" panose="020B0604020202090204"/>
                <a:ea typeface="Arial" panose="020B0604020202090204"/>
                <a:cs typeface="Arial" panose="020B0604020202090204"/>
              </a:defRPr>
            </a:pPr>
            <a:r>
              <a:rPr sz="2400" b="1">
                <a:solidFill>
                  <a:srgbClr val="182226"/>
                </a:solidFill>
                <a:latin typeface="Arial" panose="020B0604020202090204"/>
                <a:ea typeface="Arial" panose="020B0604020202090204"/>
                <a:cs typeface="Arial" panose="020B0604020202090204"/>
              </a:rPr>
              <a:t>Limitations and responsible use</a:t>
            </a:r>
            <a:endParaRPr sz="2400" b="1">
              <a:solidFill>
                <a:srgbClr val="182226"/>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D7DEDF"/>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637279"/>
                </a:solidFill>
                <a:latin typeface="Arial" panose="020B0604020202090204"/>
                <a:ea typeface="Arial" panose="020B0604020202090204"/>
                <a:cs typeface="Arial" panose="020B0604020202090204"/>
              </a:defRPr>
            </a:defPPr>
            <a:lvl1pPr algn="r">
              <a:defRPr sz="1125" b="1">
                <a:solidFill>
                  <a:srgbClr val="637279"/>
                </a:solidFill>
                <a:latin typeface="Arial" panose="020B0604020202090204"/>
                <a:ea typeface="Arial" panose="020B0604020202090204"/>
                <a:cs typeface="Arial" panose="020B0604020202090204"/>
              </a:defRPr>
            </a:lvl1pPr>
            <a:lvl2pPr algn="r">
              <a:defRPr sz="1125" b="1">
                <a:solidFill>
                  <a:srgbClr val="637279"/>
                </a:solidFill>
                <a:latin typeface="Arial" panose="020B0604020202090204"/>
                <a:ea typeface="Arial" panose="020B0604020202090204"/>
                <a:cs typeface="Arial" panose="020B0604020202090204"/>
              </a:defRPr>
            </a:lvl2pPr>
            <a:lvl3pPr algn="r">
              <a:defRPr sz="1125" b="1">
                <a:solidFill>
                  <a:srgbClr val="637279"/>
                </a:solidFill>
                <a:latin typeface="Arial" panose="020B0604020202090204"/>
                <a:ea typeface="Arial" panose="020B0604020202090204"/>
                <a:cs typeface="Arial" panose="020B0604020202090204"/>
              </a:defRPr>
            </a:lvl3pPr>
            <a:lvl4pPr algn="r">
              <a:defRPr sz="1125" b="1">
                <a:solidFill>
                  <a:srgbClr val="637279"/>
                </a:solidFill>
                <a:latin typeface="Arial" panose="020B0604020202090204"/>
                <a:ea typeface="Arial" panose="020B0604020202090204"/>
                <a:cs typeface="Arial" panose="020B0604020202090204"/>
              </a:defRPr>
            </a:lvl4pPr>
            <a:lvl5pPr algn="r">
              <a:defRPr sz="1125" b="1">
                <a:solidFill>
                  <a:srgbClr val="637279"/>
                </a:solidFill>
                <a:latin typeface="Arial" panose="020B0604020202090204"/>
                <a:ea typeface="Arial" panose="020B0604020202090204"/>
                <a:cs typeface="Arial" panose="020B0604020202090204"/>
              </a:defRPr>
            </a:lvl5pPr>
            <a:lvl6pPr algn="r">
              <a:defRPr sz="1125" b="1">
                <a:solidFill>
                  <a:srgbClr val="637279"/>
                </a:solidFill>
                <a:latin typeface="Arial" panose="020B0604020202090204"/>
                <a:ea typeface="Arial" panose="020B0604020202090204"/>
                <a:cs typeface="Arial" panose="020B0604020202090204"/>
              </a:defRPr>
            </a:lvl6pPr>
            <a:lvl7pPr algn="r">
              <a:defRPr sz="1125" b="1">
                <a:solidFill>
                  <a:srgbClr val="637279"/>
                </a:solidFill>
                <a:latin typeface="Arial" panose="020B0604020202090204"/>
                <a:ea typeface="Arial" panose="020B0604020202090204"/>
                <a:cs typeface="Arial" panose="020B0604020202090204"/>
              </a:defRPr>
            </a:lvl7pPr>
            <a:lvl8pPr algn="r">
              <a:defRPr sz="1125" b="1">
                <a:solidFill>
                  <a:srgbClr val="637279"/>
                </a:solidFill>
                <a:latin typeface="Arial" panose="020B0604020202090204"/>
                <a:ea typeface="Arial" panose="020B0604020202090204"/>
                <a:cs typeface="Arial" panose="020B0604020202090204"/>
              </a:defRPr>
            </a:lvl8pPr>
            <a:lvl9pPr algn="r">
              <a:defRPr sz="1125" b="1">
                <a:solidFill>
                  <a:srgbClr val="637279"/>
                </a:solidFill>
                <a:latin typeface="Arial" panose="020B0604020202090204"/>
                <a:ea typeface="Arial" panose="020B0604020202090204"/>
                <a:cs typeface="Arial" panose="020B0604020202090204"/>
              </a:defRPr>
            </a:lvl9pPr>
          </a:lstStyle>
          <a:p>
            <a:pPr algn="r">
              <a:lnSpc>
                <a:spcPct val="102000"/>
              </a:lnSpc>
              <a:buNone/>
              <a:defRPr sz="1125" b="1">
                <a:solidFill>
                  <a:srgbClr val="637279"/>
                </a:solidFill>
                <a:latin typeface="Arial" panose="020B0604020202090204"/>
                <a:ea typeface="Arial" panose="020B0604020202090204"/>
                <a:cs typeface="Arial" panose="020B0604020202090204"/>
              </a:defRPr>
            </a:pPr>
            <a:r>
              <a:rPr sz="1125" b="1">
                <a:solidFill>
                  <a:srgbClr val="637279"/>
                </a:solidFill>
                <a:latin typeface="Arial" panose="020B0604020202090204"/>
                <a:ea typeface="Arial" panose="020B0604020202090204"/>
                <a:cs typeface="Arial" panose="020B0604020202090204"/>
              </a:rPr>
              <a:t>1</a:t>
            </a:r>
            <a:r>
              <a:rPr lang="en-US" sz="1125" b="1">
                <a:solidFill>
                  <a:srgbClr val="637279"/>
                </a:solidFill>
                <a:latin typeface="Arial" panose="020B0604020202090204"/>
                <a:ea typeface="Arial" panose="020B0604020202090204"/>
                <a:cs typeface="Arial" panose="020B0604020202090204"/>
              </a:rPr>
              <a:t>5</a:t>
            </a:r>
            <a:endParaRPr lang="en-US" sz="1125" b="1">
              <a:solidFill>
                <a:srgbClr val="637279"/>
              </a:solidFill>
              <a:latin typeface="Arial" panose="020B0604020202090204"/>
              <a:ea typeface="Arial" panose="020B0604020202090204"/>
              <a:cs typeface="Arial" panose="020B0604020202090204"/>
            </a:endParaRPr>
          </a:p>
        </p:txBody>
      </p:sp>
      <p:sp>
        <p:nvSpPr>
          <p:cNvPr id="4" name="矩形 3"/>
          <p:cNvSpPr>
            <a:spLocks noGrp="1"/>
          </p:cNvSpPr>
          <p:nvPr/>
        </p:nvSpPr>
        <p:spPr>
          <a:xfrm>
            <a:off x="762000" y="1276350"/>
            <a:ext cx="523875" cy="400050"/>
          </a:xfrm>
          <a:prstGeom prst="rect">
            <a:avLst/>
          </a:prstGeom>
          <a:noFill/>
          <a:ln w="0">
            <a:noFill/>
            <a:prstDash val="solid"/>
          </a:ln>
        </p:spPr>
        <p:txBody>
          <a:bodyPr wrap="square" lIns="0" tIns="0" rIns="0" bIns="0" anchor="t">
            <a:normAutofit/>
          </a:bodyPr>
          <a:lstStyle>
            <a:defPPr algn="ctr">
              <a:defRPr sz="1650" b="1">
                <a:solidFill>
                  <a:srgbClr val="147A78"/>
                </a:solidFill>
                <a:latin typeface="Arial" panose="020B0604020202090204"/>
                <a:ea typeface="Arial" panose="020B0604020202090204"/>
                <a:cs typeface="Arial" panose="020B0604020202090204"/>
              </a:defRPr>
            </a:defPPr>
            <a:lvl1pPr algn="ctr">
              <a:defRPr sz="1650" b="1">
                <a:solidFill>
                  <a:srgbClr val="147A78"/>
                </a:solidFill>
                <a:latin typeface="Arial" panose="020B0604020202090204"/>
                <a:ea typeface="Arial" panose="020B0604020202090204"/>
                <a:cs typeface="Arial" panose="020B0604020202090204"/>
              </a:defRPr>
            </a:lvl1pPr>
            <a:lvl2pPr algn="ctr">
              <a:defRPr sz="1650" b="1">
                <a:solidFill>
                  <a:srgbClr val="147A78"/>
                </a:solidFill>
                <a:latin typeface="Arial" panose="020B0604020202090204"/>
                <a:ea typeface="Arial" panose="020B0604020202090204"/>
                <a:cs typeface="Arial" panose="020B0604020202090204"/>
              </a:defRPr>
            </a:lvl2pPr>
            <a:lvl3pPr algn="ctr">
              <a:defRPr sz="1650" b="1">
                <a:solidFill>
                  <a:srgbClr val="147A78"/>
                </a:solidFill>
                <a:latin typeface="Arial" panose="020B0604020202090204"/>
                <a:ea typeface="Arial" panose="020B0604020202090204"/>
                <a:cs typeface="Arial" panose="020B0604020202090204"/>
              </a:defRPr>
            </a:lvl3pPr>
            <a:lvl4pPr algn="ctr">
              <a:defRPr sz="1650" b="1">
                <a:solidFill>
                  <a:srgbClr val="147A78"/>
                </a:solidFill>
                <a:latin typeface="Arial" panose="020B0604020202090204"/>
                <a:ea typeface="Arial" panose="020B0604020202090204"/>
                <a:cs typeface="Arial" panose="020B0604020202090204"/>
              </a:defRPr>
            </a:lvl4pPr>
            <a:lvl5pPr algn="ctr">
              <a:defRPr sz="1650" b="1">
                <a:solidFill>
                  <a:srgbClr val="147A78"/>
                </a:solidFill>
                <a:latin typeface="Arial" panose="020B0604020202090204"/>
                <a:ea typeface="Arial" panose="020B0604020202090204"/>
                <a:cs typeface="Arial" panose="020B0604020202090204"/>
              </a:defRPr>
            </a:lvl5pPr>
            <a:lvl6pPr algn="ctr">
              <a:defRPr sz="1650" b="1">
                <a:solidFill>
                  <a:srgbClr val="147A78"/>
                </a:solidFill>
                <a:latin typeface="Arial" panose="020B0604020202090204"/>
                <a:ea typeface="Arial" panose="020B0604020202090204"/>
                <a:cs typeface="Arial" panose="020B0604020202090204"/>
              </a:defRPr>
            </a:lvl6pPr>
            <a:lvl7pPr algn="ctr">
              <a:defRPr sz="1650" b="1">
                <a:solidFill>
                  <a:srgbClr val="147A78"/>
                </a:solidFill>
                <a:latin typeface="Arial" panose="020B0604020202090204"/>
                <a:ea typeface="Arial" panose="020B0604020202090204"/>
                <a:cs typeface="Arial" panose="020B0604020202090204"/>
              </a:defRPr>
            </a:lvl7pPr>
            <a:lvl8pPr algn="ctr">
              <a:defRPr sz="1650" b="1">
                <a:solidFill>
                  <a:srgbClr val="147A78"/>
                </a:solidFill>
                <a:latin typeface="Arial" panose="020B0604020202090204"/>
                <a:ea typeface="Arial" panose="020B0604020202090204"/>
                <a:cs typeface="Arial" panose="020B0604020202090204"/>
              </a:defRPr>
            </a:lvl8pPr>
            <a:lvl9pPr algn="ctr">
              <a:defRPr sz="1650" b="1">
                <a:solidFill>
                  <a:srgbClr val="147A78"/>
                </a:solidFill>
                <a:latin typeface="Arial" panose="020B0604020202090204"/>
                <a:ea typeface="Arial" panose="020B0604020202090204"/>
                <a:cs typeface="Arial" panose="020B0604020202090204"/>
              </a:defRPr>
            </a:lvl9pPr>
          </a:lstStyle>
          <a:p>
            <a:pPr algn="ctr">
              <a:lnSpc>
                <a:spcPct val="102000"/>
              </a:lnSpc>
              <a:buNone/>
              <a:defRPr sz="1650" b="1">
                <a:solidFill>
                  <a:srgbClr val="147A78"/>
                </a:solidFill>
                <a:latin typeface="Arial" panose="020B0604020202090204"/>
                <a:ea typeface="Arial" panose="020B0604020202090204"/>
                <a:cs typeface="Arial" panose="020B0604020202090204"/>
              </a:defRPr>
            </a:pPr>
            <a:r>
              <a:rPr sz="1650" b="1">
                <a:solidFill>
                  <a:srgbClr val="147A78"/>
                </a:solidFill>
                <a:latin typeface="Arial" panose="020B0604020202090204"/>
                <a:ea typeface="Arial" panose="020B0604020202090204"/>
                <a:cs typeface="Arial" panose="020B0604020202090204"/>
              </a:rPr>
              <a:t>01</a:t>
            </a:r>
            <a:endParaRPr sz="1650" b="1">
              <a:solidFill>
                <a:srgbClr val="147A78"/>
              </a:solidFill>
              <a:latin typeface="Arial" panose="020B0604020202090204"/>
              <a:ea typeface="Arial" panose="020B0604020202090204"/>
              <a:cs typeface="Arial" panose="020B0604020202090204"/>
            </a:endParaRPr>
          </a:p>
        </p:txBody>
      </p:sp>
      <p:sp>
        <p:nvSpPr>
          <p:cNvPr id="5" name="矩形 4"/>
          <p:cNvSpPr>
            <a:spLocks noGrp="1"/>
          </p:cNvSpPr>
          <p:nvPr/>
        </p:nvSpPr>
        <p:spPr>
          <a:xfrm>
            <a:off x="1524000" y="1219200"/>
            <a:ext cx="2476500" cy="342900"/>
          </a:xfrm>
          <a:prstGeom prst="rect">
            <a:avLst/>
          </a:prstGeom>
          <a:noFill/>
          <a:ln w="0">
            <a:noFill/>
            <a:prstDash val="solid"/>
          </a:ln>
        </p:spPr>
        <p:txBody>
          <a:bodyPr wrap="square" lIns="0" tIns="0" rIns="0" bIns="0" anchor="t">
            <a:normAutofit/>
          </a:bodyPr>
          <a:lstStyle>
            <a:defPPr algn="l">
              <a:defRPr sz="1650" b="1">
                <a:solidFill>
                  <a:srgbClr val="182226"/>
                </a:solidFill>
                <a:latin typeface="Arial" panose="020B0604020202090204"/>
                <a:ea typeface="Arial" panose="020B0604020202090204"/>
                <a:cs typeface="Arial" panose="020B0604020202090204"/>
              </a:defRPr>
            </a:defPPr>
            <a:lvl1pPr algn="l">
              <a:defRPr sz="1650" b="1">
                <a:solidFill>
                  <a:srgbClr val="182226"/>
                </a:solidFill>
                <a:latin typeface="Arial" panose="020B0604020202090204"/>
                <a:ea typeface="Arial" panose="020B0604020202090204"/>
                <a:cs typeface="Arial" panose="020B0604020202090204"/>
              </a:defRPr>
            </a:lvl1pPr>
            <a:lvl2pPr algn="l">
              <a:defRPr sz="1650" b="1">
                <a:solidFill>
                  <a:srgbClr val="182226"/>
                </a:solidFill>
                <a:latin typeface="Arial" panose="020B0604020202090204"/>
                <a:ea typeface="Arial" panose="020B0604020202090204"/>
                <a:cs typeface="Arial" panose="020B0604020202090204"/>
              </a:defRPr>
            </a:lvl2pPr>
            <a:lvl3pPr algn="l">
              <a:defRPr sz="1650" b="1">
                <a:solidFill>
                  <a:srgbClr val="182226"/>
                </a:solidFill>
                <a:latin typeface="Arial" panose="020B0604020202090204"/>
                <a:ea typeface="Arial" panose="020B0604020202090204"/>
                <a:cs typeface="Arial" panose="020B0604020202090204"/>
              </a:defRPr>
            </a:lvl3pPr>
            <a:lvl4pPr algn="l">
              <a:defRPr sz="1650" b="1">
                <a:solidFill>
                  <a:srgbClr val="182226"/>
                </a:solidFill>
                <a:latin typeface="Arial" panose="020B0604020202090204"/>
                <a:ea typeface="Arial" panose="020B0604020202090204"/>
                <a:cs typeface="Arial" panose="020B0604020202090204"/>
              </a:defRPr>
            </a:lvl4pPr>
            <a:lvl5pPr algn="l">
              <a:defRPr sz="1650" b="1">
                <a:solidFill>
                  <a:srgbClr val="182226"/>
                </a:solidFill>
                <a:latin typeface="Arial" panose="020B0604020202090204"/>
                <a:ea typeface="Arial" panose="020B0604020202090204"/>
                <a:cs typeface="Arial" panose="020B0604020202090204"/>
              </a:defRPr>
            </a:lvl5pPr>
            <a:lvl6pPr algn="l">
              <a:defRPr sz="1650" b="1">
                <a:solidFill>
                  <a:srgbClr val="182226"/>
                </a:solidFill>
                <a:latin typeface="Arial" panose="020B0604020202090204"/>
                <a:ea typeface="Arial" panose="020B0604020202090204"/>
                <a:cs typeface="Arial" panose="020B0604020202090204"/>
              </a:defRPr>
            </a:lvl6pPr>
            <a:lvl7pPr algn="l">
              <a:defRPr sz="1650" b="1">
                <a:solidFill>
                  <a:srgbClr val="182226"/>
                </a:solidFill>
                <a:latin typeface="Arial" panose="020B0604020202090204"/>
                <a:ea typeface="Arial" panose="020B0604020202090204"/>
                <a:cs typeface="Arial" panose="020B0604020202090204"/>
              </a:defRPr>
            </a:lvl7pPr>
            <a:lvl8pPr algn="l">
              <a:defRPr sz="1650" b="1">
                <a:solidFill>
                  <a:srgbClr val="182226"/>
                </a:solidFill>
                <a:latin typeface="Arial" panose="020B0604020202090204"/>
                <a:ea typeface="Arial" panose="020B0604020202090204"/>
                <a:cs typeface="Arial" panose="020B0604020202090204"/>
              </a:defRPr>
            </a:lvl8pPr>
            <a:lvl9pPr algn="l">
              <a:defRPr sz="1650" b="1">
                <a:solidFill>
                  <a:srgbClr val="182226"/>
                </a:solidFill>
                <a:latin typeface="Arial" panose="020B0604020202090204"/>
                <a:ea typeface="Arial" panose="020B0604020202090204"/>
                <a:cs typeface="Arial" panose="020B0604020202090204"/>
              </a:defRPr>
            </a:lvl9pPr>
          </a:lstStyle>
          <a:p>
            <a:pPr algn="l">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Short text</a:t>
            </a:r>
            <a:endParaRPr sz="1650" b="1">
              <a:solidFill>
                <a:srgbClr val="182226"/>
              </a:solidFill>
              <a:latin typeface="Arial" panose="020B0604020202090204"/>
              <a:ea typeface="Arial" panose="020B0604020202090204"/>
              <a:cs typeface="Arial" panose="020B0604020202090204"/>
            </a:endParaRPr>
          </a:p>
        </p:txBody>
      </p:sp>
      <p:sp>
        <p:nvSpPr>
          <p:cNvPr id="6" name="矩形 5"/>
          <p:cNvSpPr>
            <a:spLocks noGrp="1"/>
          </p:cNvSpPr>
          <p:nvPr/>
        </p:nvSpPr>
        <p:spPr>
          <a:xfrm>
            <a:off x="4191000" y="1219200"/>
            <a:ext cx="6858000" cy="495300"/>
          </a:xfrm>
          <a:prstGeom prst="rect">
            <a:avLst/>
          </a:prstGeom>
          <a:noFill/>
          <a:ln w="0">
            <a:noFill/>
            <a:prstDash val="solid"/>
          </a:ln>
        </p:spPr>
        <p:txBody>
          <a:bodyPr wrap="square" lIns="0" tIns="0" rIns="0" bIns="0" anchor="t">
            <a:normAutofit/>
          </a:bodyPr>
          <a:lstStyle>
            <a:defPPr algn="l">
              <a:defRPr sz="1350" b="0">
                <a:solidFill>
                  <a:srgbClr val="637279"/>
                </a:solidFill>
                <a:latin typeface="Arial" panose="020B0604020202090204"/>
                <a:ea typeface="Arial" panose="020B0604020202090204"/>
                <a:cs typeface="Arial" panose="020B0604020202090204"/>
              </a:defRPr>
            </a:defPPr>
            <a:lvl1pPr algn="l">
              <a:defRPr sz="1350" b="0">
                <a:solidFill>
                  <a:srgbClr val="637279"/>
                </a:solidFill>
                <a:latin typeface="Arial" panose="020B0604020202090204"/>
                <a:ea typeface="Arial" panose="020B0604020202090204"/>
                <a:cs typeface="Arial" panose="020B0604020202090204"/>
              </a:defRPr>
            </a:lvl1pPr>
            <a:lvl2pPr algn="l">
              <a:defRPr sz="1350" b="0">
                <a:solidFill>
                  <a:srgbClr val="637279"/>
                </a:solidFill>
                <a:latin typeface="Arial" panose="020B0604020202090204"/>
                <a:ea typeface="Arial" panose="020B0604020202090204"/>
                <a:cs typeface="Arial" panose="020B0604020202090204"/>
              </a:defRPr>
            </a:lvl2pPr>
            <a:lvl3pPr algn="l">
              <a:defRPr sz="1350" b="0">
                <a:solidFill>
                  <a:srgbClr val="637279"/>
                </a:solidFill>
                <a:latin typeface="Arial" panose="020B0604020202090204"/>
                <a:ea typeface="Arial" panose="020B0604020202090204"/>
                <a:cs typeface="Arial" panose="020B0604020202090204"/>
              </a:defRPr>
            </a:lvl3pPr>
            <a:lvl4pPr algn="l">
              <a:defRPr sz="1350" b="0">
                <a:solidFill>
                  <a:srgbClr val="637279"/>
                </a:solidFill>
                <a:latin typeface="Arial" panose="020B0604020202090204"/>
                <a:ea typeface="Arial" panose="020B0604020202090204"/>
                <a:cs typeface="Arial" panose="020B0604020202090204"/>
              </a:defRPr>
            </a:lvl4pPr>
            <a:lvl5pPr algn="l">
              <a:defRPr sz="1350" b="0">
                <a:solidFill>
                  <a:srgbClr val="637279"/>
                </a:solidFill>
                <a:latin typeface="Arial" panose="020B0604020202090204"/>
                <a:ea typeface="Arial" panose="020B0604020202090204"/>
                <a:cs typeface="Arial" panose="020B0604020202090204"/>
              </a:defRPr>
            </a:lvl5pPr>
            <a:lvl6pPr algn="l">
              <a:defRPr sz="1350" b="0">
                <a:solidFill>
                  <a:srgbClr val="637279"/>
                </a:solidFill>
                <a:latin typeface="Arial" panose="020B0604020202090204"/>
                <a:ea typeface="Arial" panose="020B0604020202090204"/>
                <a:cs typeface="Arial" panose="020B0604020202090204"/>
              </a:defRPr>
            </a:lvl6pPr>
            <a:lvl7pPr algn="l">
              <a:defRPr sz="1350" b="0">
                <a:solidFill>
                  <a:srgbClr val="637279"/>
                </a:solidFill>
                <a:latin typeface="Arial" panose="020B0604020202090204"/>
                <a:ea typeface="Arial" panose="020B0604020202090204"/>
                <a:cs typeface="Arial" panose="020B0604020202090204"/>
              </a:defRPr>
            </a:lvl7pPr>
            <a:lvl8pPr algn="l">
              <a:defRPr sz="1350" b="0">
                <a:solidFill>
                  <a:srgbClr val="637279"/>
                </a:solidFill>
                <a:latin typeface="Arial" panose="020B0604020202090204"/>
                <a:ea typeface="Arial" panose="020B0604020202090204"/>
                <a:cs typeface="Arial" panose="020B0604020202090204"/>
              </a:defRPr>
            </a:lvl8pPr>
            <a:lvl9pPr algn="l">
              <a:defRPr sz="1350" b="0">
                <a:solidFill>
                  <a:srgbClr val="637279"/>
                </a:solidFill>
                <a:latin typeface="Arial" panose="020B0604020202090204"/>
                <a:ea typeface="Arial" panose="020B0604020202090204"/>
                <a:cs typeface="Arial" panose="020B0604020202090204"/>
              </a:defRPr>
            </a:lvl9pPr>
          </a:lstStyle>
          <a:p>
            <a:pPr algn="l">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The main benchmark filters texts below 150 words.</a:t>
            </a:r>
            <a:endParaRPr sz="1350" b="0">
              <a:solidFill>
                <a:srgbClr val="637279"/>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62000" y="2228850"/>
            <a:ext cx="523875" cy="400050"/>
          </a:xfrm>
          <a:prstGeom prst="rect">
            <a:avLst/>
          </a:prstGeom>
          <a:noFill/>
          <a:ln w="0">
            <a:noFill/>
            <a:prstDash val="solid"/>
          </a:ln>
        </p:spPr>
        <p:txBody>
          <a:bodyPr wrap="square" lIns="0" tIns="0" rIns="0" bIns="0" anchor="t">
            <a:normAutofit/>
          </a:bodyPr>
          <a:lstStyle>
            <a:defPPr algn="ctr">
              <a:defRPr sz="1650" b="1">
                <a:solidFill>
                  <a:srgbClr val="E7684A"/>
                </a:solidFill>
                <a:latin typeface="Arial" panose="020B0604020202090204"/>
                <a:ea typeface="Arial" panose="020B0604020202090204"/>
                <a:cs typeface="Arial" panose="020B0604020202090204"/>
              </a:defRPr>
            </a:defPPr>
            <a:lvl1pPr algn="ctr">
              <a:defRPr sz="1650" b="1">
                <a:solidFill>
                  <a:srgbClr val="E7684A"/>
                </a:solidFill>
                <a:latin typeface="Arial" panose="020B0604020202090204"/>
                <a:ea typeface="Arial" panose="020B0604020202090204"/>
                <a:cs typeface="Arial" panose="020B0604020202090204"/>
              </a:defRPr>
            </a:lvl1pPr>
            <a:lvl2pPr algn="ctr">
              <a:defRPr sz="1650" b="1">
                <a:solidFill>
                  <a:srgbClr val="E7684A"/>
                </a:solidFill>
                <a:latin typeface="Arial" panose="020B0604020202090204"/>
                <a:ea typeface="Arial" panose="020B0604020202090204"/>
                <a:cs typeface="Arial" panose="020B0604020202090204"/>
              </a:defRPr>
            </a:lvl2pPr>
            <a:lvl3pPr algn="ctr">
              <a:defRPr sz="1650" b="1">
                <a:solidFill>
                  <a:srgbClr val="E7684A"/>
                </a:solidFill>
                <a:latin typeface="Arial" panose="020B0604020202090204"/>
                <a:ea typeface="Arial" panose="020B0604020202090204"/>
                <a:cs typeface="Arial" panose="020B0604020202090204"/>
              </a:defRPr>
            </a:lvl3pPr>
            <a:lvl4pPr algn="ctr">
              <a:defRPr sz="1650" b="1">
                <a:solidFill>
                  <a:srgbClr val="E7684A"/>
                </a:solidFill>
                <a:latin typeface="Arial" panose="020B0604020202090204"/>
                <a:ea typeface="Arial" panose="020B0604020202090204"/>
                <a:cs typeface="Arial" panose="020B0604020202090204"/>
              </a:defRPr>
            </a:lvl4pPr>
            <a:lvl5pPr algn="ctr">
              <a:defRPr sz="1650" b="1">
                <a:solidFill>
                  <a:srgbClr val="E7684A"/>
                </a:solidFill>
                <a:latin typeface="Arial" panose="020B0604020202090204"/>
                <a:ea typeface="Arial" panose="020B0604020202090204"/>
                <a:cs typeface="Arial" panose="020B0604020202090204"/>
              </a:defRPr>
            </a:lvl5pPr>
            <a:lvl6pPr algn="ctr">
              <a:defRPr sz="1650" b="1">
                <a:solidFill>
                  <a:srgbClr val="E7684A"/>
                </a:solidFill>
                <a:latin typeface="Arial" panose="020B0604020202090204"/>
                <a:ea typeface="Arial" panose="020B0604020202090204"/>
                <a:cs typeface="Arial" panose="020B0604020202090204"/>
              </a:defRPr>
            </a:lvl6pPr>
            <a:lvl7pPr algn="ctr">
              <a:defRPr sz="1650" b="1">
                <a:solidFill>
                  <a:srgbClr val="E7684A"/>
                </a:solidFill>
                <a:latin typeface="Arial" panose="020B0604020202090204"/>
                <a:ea typeface="Arial" panose="020B0604020202090204"/>
                <a:cs typeface="Arial" panose="020B0604020202090204"/>
              </a:defRPr>
            </a:lvl7pPr>
            <a:lvl8pPr algn="ctr">
              <a:defRPr sz="1650" b="1">
                <a:solidFill>
                  <a:srgbClr val="E7684A"/>
                </a:solidFill>
                <a:latin typeface="Arial" panose="020B0604020202090204"/>
                <a:ea typeface="Arial" panose="020B0604020202090204"/>
                <a:cs typeface="Arial" panose="020B0604020202090204"/>
              </a:defRPr>
            </a:lvl8pPr>
            <a:lvl9pPr algn="ctr">
              <a:defRPr sz="1650" b="1">
                <a:solidFill>
                  <a:srgbClr val="E7684A"/>
                </a:solidFill>
                <a:latin typeface="Arial" panose="020B0604020202090204"/>
                <a:ea typeface="Arial" panose="020B0604020202090204"/>
                <a:cs typeface="Arial" panose="020B0604020202090204"/>
              </a:defRPr>
            </a:lvl9pPr>
          </a:lstStyle>
          <a:p>
            <a:pPr algn="ctr">
              <a:lnSpc>
                <a:spcPct val="102000"/>
              </a:lnSpc>
              <a:buNone/>
              <a:defRPr sz="1650" b="1">
                <a:solidFill>
                  <a:srgbClr val="E7684A"/>
                </a:solidFill>
                <a:latin typeface="Arial" panose="020B0604020202090204"/>
                <a:ea typeface="Arial" panose="020B0604020202090204"/>
                <a:cs typeface="Arial" panose="020B0604020202090204"/>
              </a:defRPr>
            </a:pPr>
            <a:r>
              <a:rPr sz="1650" b="1">
                <a:solidFill>
                  <a:srgbClr val="E7684A"/>
                </a:solidFill>
                <a:latin typeface="Arial" panose="020B0604020202090204"/>
                <a:ea typeface="Arial" panose="020B0604020202090204"/>
                <a:cs typeface="Arial" panose="020B0604020202090204"/>
              </a:rPr>
              <a:t>02</a:t>
            </a:r>
            <a:endParaRPr sz="1650" b="1">
              <a:solidFill>
                <a:srgbClr val="E7684A"/>
              </a:solidFill>
              <a:latin typeface="Arial" panose="020B0604020202090204"/>
              <a:ea typeface="Arial" panose="020B0604020202090204"/>
              <a:cs typeface="Arial" panose="020B0604020202090204"/>
            </a:endParaRPr>
          </a:p>
        </p:txBody>
      </p:sp>
      <p:sp>
        <p:nvSpPr>
          <p:cNvPr id="8" name="矩形 7"/>
          <p:cNvSpPr>
            <a:spLocks noGrp="1"/>
          </p:cNvSpPr>
          <p:nvPr/>
        </p:nvSpPr>
        <p:spPr>
          <a:xfrm>
            <a:off x="1524000" y="2171700"/>
            <a:ext cx="2476500" cy="342900"/>
          </a:xfrm>
          <a:prstGeom prst="rect">
            <a:avLst/>
          </a:prstGeom>
          <a:noFill/>
          <a:ln w="0">
            <a:noFill/>
            <a:prstDash val="solid"/>
          </a:ln>
        </p:spPr>
        <p:txBody>
          <a:bodyPr wrap="square" lIns="0" tIns="0" rIns="0" bIns="0" anchor="t">
            <a:normAutofit/>
          </a:bodyPr>
          <a:lstStyle>
            <a:defPPr algn="l">
              <a:defRPr sz="1650" b="1">
                <a:solidFill>
                  <a:srgbClr val="182226"/>
                </a:solidFill>
                <a:latin typeface="Arial" panose="020B0604020202090204"/>
                <a:ea typeface="Arial" panose="020B0604020202090204"/>
                <a:cs typeface="Arial" panose="020B0604020202090204"/>
              </a:defRPr>
            </a:defPPr>
            <a:lvl1pPr algn="l">
              <a:defRPr sz="1650" b="1">
                <a:solidFill>
                  <a:srgbClr val="182226"/>
                </a:solidFill>
                <a:latin typeface="Arial" panose="020B0604020202090204"/>
                <a:ea typeface="Arial" panose="020B0604020202090204"/>
                <a:cs typeface="Arial" panose="020B0604020202090204"/>
              </a:defRPr>
            </a:lvl1pPr>
            <a:lvl2pPr algn="l">
              <a:defRPr sz="1650" b="1">
                <a:solidFill>
                  <a:srgbClr val="182226"/>
                </a:solidFill>
                <a:latin typeface="Arial" panose="020B0604020202090204"/>
                <a:ea typeface="Arial" panose="020B0604020202090204"/>
                <a:cs typeface="Arial" panose="020B0604020202090204"/>
              </a:defRPr>
            </a:lvl2pPr>
            <a:lvl3pPr algn="l">
              <a:defRPr sz="1650" b="1">
                <a:solidFill>
                  <a:srgbClr val="182226"/>
                </a:solidFill>
                <a:latin typeface="Arial" panose="020B0604020202090204"/>
                <a:ea typeface="Arial" panose="020B0604020202090204"/>
                <a:cs typeface="Arial" panose="020B0604020202090204"/>
              </a:defRPr>
            </a:lvl3pPr>
            <a:lvl4pPr algn="l">
              <a:defRPr sz="1650" b="1">
                <a:solidFill>
                  <a:srgbClr val="182226"/>
                </a:solidFill>
                <a:latin typeface="Arial" panose="020B0604020202090204"/>
                <a:ea typeface="Arial" panose="020B0604020202090204"/>
                <a:cs typeface="Arial" panose="020B0604020202090204"/>
              </a:defRPr>
            </a:lvl4pPr>
            <a:lvl5pPr algn="l">
              <a:defRPr sz="1650" b="1">
                <a:solidFill>
                  <a:srgbClr val="182226"/>
                </a:solidFill>
                <a:latin typeface="Arial" panose="020B0604020202090204"/>
                <a:ea typeface="Arial" panose="020B0604020202090204"/>
                <a:cs typeface="Arial" panose="020B0604020202090204"/>
              </a:defRPr>
            </a:lvl5pPr>
            <a:lvl6pPr algn="l">
              <a:defRPr sz="1650" b="1">
                <a:solidFill>
                  <a:srgbClr val="182226"/>
                </a:solidFill>
                <a:latin typeface="Arial" panose="020B0604020202090204"/>
                <a:ea typeface="Arial" panose="020B0604020202090204"/>
                <a:cs typeface="Arial" panose="020B0604020202090204"/>
              </a:defRPr>
            </a:lvl6pPr>
            <a:lvl7pPr algn="l">
              <a:defRPr sz="1650" b="1">
                <a:solidFill>
                  <a:srgbClr val="182226"/>
                </a:solidFill>
                <a:latin typeface="Arial" panose="020B0604020202090204"/>
                <a:ea typeface="Arial" panose="020B0604020202090204"/>
                <a:cs typeface="Arial" panose="020B0604020202090204"/>
              </a:defRPr>
            </a:lvl7pPr>
            <a:lvl8pPr algn="l">
              <a:defRPr sz="1650" b="1">
                <a:solidFill>
                  <a:srgbClr val="182226"/>
                </a:solidFill>
                <a:latin typeface="Arial" panose="020B0604020202090204"/>
                <a:ea typeface="Arial" panose="020B0604020202090204"/>
                <a:cs typeface="Arial" panose="020B0604020202090204"/>
              </a:defRPr>
            </a:lvl8pPr>
            <a:lvl9pPr algn="l">
              <a:defRPr sz="1650" b="1">
                <a:solidFill>
                  <a:srgbClr val="182226"/>
                </a:solidFill>
                <a:latin typeface="Arial" panose="020B0604020202090204"/>
                <a:ea typeface="Arial" panose="020B0604020202090204"/>
                <a:cs typeface="Arial" panose="020B0604020202090204"/>
              </a:defRPr>
            </a:lvl9pPr>
          </a:lstStyle>
          <a:p>
            <a:pPr algn="l">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Adaptive attacks</a:t>
            </a:r>
            <a:endParaRPr sz="1650" b="1">
              <a:solidFill>
                <a:srgbClr val="182226"/>
              </a:solidFill>
              <a:latin typeface="Arial" panose="020B0604020202090204"/>
              <a:ea typeface="Arial" panose="020B0604020202090204"/>
              <a:cs typeface="Arial" panose="020B0604020202090204"/>
            </a:endParaRPr>
          </a:p>
        </p:txBody>
      </p:sp>
      <p:sp>
        <p:nvSpPr>
          <p:cNvPr id="9" name="矩形 8"/>
          <p:cNvSpPr>
            <a:spLocks noGrp="1"/>
          </p:cNvSpPr>
          <p:nvPr/>
        </p:nvSpPr>
        <p:spPr>
          <a:xfrm>
            <a:off x="4191000" y="2171700"/>
            <a:ext cx="6858000" cy="495300"/>
          </a:xfrm>
          <a:prstGeom prst="rect">
            <a:avLst/>
          </a:prstGeom>
          <a:noFill/>
          <a:ln w="0">
            <a:noFill/>
            <a:prstDash val="solid"/>
          </a:ln>
        </p:spPr>
        <p:txBody>
          <a:bodyPr wrap="square" lIns="0" tIns="0" rIns="0" bIns="0" anchor="t">
            <a:normAutofit/>
          </a:bodyPr>
          <a:lstStyle>
            <a:defPPr algn="l">
              <a:defRPr sz="1350" b="0">
                <a:solidFill>
                  <a:srgbClr val="637279"/>
                </a:solidFill>
                <a:latin typeface="Arial" panose="020B0604020202090204"/>
                <a:ea typeface="Arial" panose="020B0604020202090204"/>
                <a:cs typeface="Arial" panose="020B0604020202090204"/>
              </a:defRPr>
            </a:defPPr>
            <a:lvl1pPr algn="l">
              <a:defRPr sz="1350" b="0">
                <a:solidFill>
                  <a:srgbClr val="637279"/>
                </a:solidFill>
                <a:latin typeface="Arial" panose="020B0604020202090204"/>
                <a:ea typeface="Arial" panose="020B0604020202090204"/>
                <a:cs typeface="Arial" panose="020B0604020202090204"/>
              </a:defRPr>
            </a:lvl1pPr>
            <a:lvl2pPr algn="l">
              <a:defRPr sz="1350" b="0">
                <a:solidFill>
                  <a:srgbClr val="637279"/>
                </a:solidFill>
                <a:latin typeface="Arial" panose="020B0604020202090204"/>
                <a:ea typeface="Arial" panose="020B0604020202090204"/>
                <a:cs typeface="Arial" panose="020B0604020202090204"/>
              </a:defRPr>
            </a:lvl2pPr>
            <a:lvl3pPr algn="l">
              <a:defRPr sz="1350" b="0">
                <a:solidFill>
                  <a:srgbClr val="637279"/>
                </a:solidFill>
                <a:latin typeface="Arial" panose="020B0604020202090204"/>
                <a:ea typeface="Arial" panose="020B0604020202090204"/>
                <a:cs typeface="Arial" panose="020B0604020202090204"/>
              </a:defRPr>
            </a:lvl3pPr>
            <a:lvl4pPr algn="l">
              <a:defRPr sz="1350" b="0">
                <a:solidFill>
                  <a:srgbClr val="637279"/>
                </a:solidFill>
                <a:latin typeface="Arial" panose="020B0604020202090204"/>
                <a:ea typeface="Arial" panose="020B0604020202090204"/>
                <a:cs typeface="Arial" panose="020B0604020202090204"/>
              </a:defRPr>
            </a:lvl4pPr>
            <a:lvl5pPr algn="l">
              <a:defRPr sz="1350" b="0">
                <a:solidFill>
                  <a:srgbClr val="637279"/>
                </a:solidFill>
                <a:latin typeface="Arial" panose="020B0604020202090204"/>
                <a:ea typeface="Arial" panose="020B0604020202090204"/>
                <a:cs typeface="Arial" panose="020B0604020202090204"/>
              </a:defRPr>
            </a:lvl5pPr>
            <a:lvl6pPr algn="l">
              <a:defRPr sz="1350" b="0">
                <a:solidFill>
                  <a:srgbClr val="637279"/>
                </a:solidFill>
                <a:latin typeface="Arial" panose="020B0604020202090204"/>
                <a:ea typeface="Arial" panose="020B0604020202090204"/>
                <a:cs typeface="Arial" panose="020B0604020202090204"/>
              </a:defRPr>
            </a:lvl6pPr>
            <a:lvl7pPr algn="l">
              <a:defRPr sz="1350" b="0">
                <a:solidFill>
                  <a:srgbClr val="637279"/>
                </a:solidFill>
                <a:latin typeface="Arial" panose="020B0604020202090204"/>
                <a:ea typeface="Arial" panose="020B0604020202090204"/>
                <a:cs typeface="Arial" panose="020B0604020202090204"/>
              </a:defRPr>
            </a:lvl7pPr>
            <a:lvl8pPr algn="l">
              <a:defRPr sz="1350" b="0">
                <a:solidFill>
                  <a:srgbClr val="637279"/>
                </a:solidFill>
                <a:latin typeface="Arial" panose="020B0604020202090204"/>
                <a:ea typeface="Arial" panose="020B0604020202090204"/>
                <a:cs typeface="Arial" panose="020B0604020202090204"/>
              </a:defRPr>
            </a:lvl8pPr>
            <a:lvl9pPr algn="l">
              <a:defRPr sz="1350" b="0">
                <a:solidFill>
                  <a:srgbClr val="637279"/>
                </a:solidFill>
                <a:latin typeface="Arial" panose="020B0604020202090204"/>
                <a:ea typeface="Arial" panose="020B0604020202090204"/>
                <a:cs typeface="Arial" panose="020B0604020202090204"/>
              </a:defRPr>
            </a:lvl9pPr>
          </a:lstStyle>
          <a:p>
            <a:pPr algn="l">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Paraphrasing and style imitation reduce performance.</a:t>
            </a:r>
            <a:endParaRPr sz="1350" b="0">
              <a:solidFill>
                <a:srgbClr val="637279"/>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762000" y="3181350"/>
            <a:ext cx="523875" cy="400050"/>
          </a:xfrm>
          <a:prstGeom prst="rect">
            <a:avLst/>
          </a:prstGeom>
          <a:noFill/>
          <a:ln w="0">
            <a:noFill/>
            <a:prstDash val="solid"/>
          </a:ln>
        </p:spPr>
        <p:txBody>
          <a:bodyPr wrap="square" lIns="0" tIns="0" rIns="0" bIns="0" anchor="t">
            <a:normAutofit/>
          </a:bodyPr>
          <a:lstStyle>
            <a:defPPr algn="ctr">
              <a:defRPr sz="1650" b="1">
                <a:solidFill>
                  <a:srgbClr val="C99B27"/>
                </a:solidFill>
                <a:latin typeface="Arial" panose="020B0604020202090204"/>
                <a:ea typeface="Arial" panose="020B0604020202090204"/>
                <a:cs typeface="Arial" panose="020B0604020202090204"/>
              </a:defRPr>
            </a:defPPr>
            <a:lvl1pPr algn="ctr">
              <a:defRPr sz="1650" b="1">
                <a:solidFill>
                  <a:srgbClr val="C99B27"/>
                </a:solidFill>
                <a:latin typeface="Arial" panose="020B0604020202090204"/>
                <a:ea typeface="Arial" panose="020B0604020202090204"/>
                <a:cs typeface="Arial" panose="020B0604020202090204"/>
              </a:defRPr>
            </a:lvl1pPr>
            <a:lvl2pPr algn="ctr">
              <a:defRPr sz="1650" b="1">
                <a:solidFill>
                  <a:srgbClr val="C99B27"/>
                </a:solidFill>
                <a:latin typeface="Arial" panose="020B0604020202090204"/>
                <a:ea typeface="Arial" panose="020B0604020202090204"/>
                <a:cs typeface="Arial" panose="020B0604020202090204"/>
              </a:defRPr>
            </a:lvl2pPr>
            <a:lvl3pPr algn="ctr">
              <a:defRPr sz="1650" b="1">
                <a:solidFill>
                  <a:srgbClr val="C99B27"/>
                </a:solidFill>
                <a:latin typeface="Arial" panose="020B0604020202090204"/>
                <a:ea typeface="Arial" panose="020B0604020202090204"/>
                <a:cs typeface="Arial" panose="020B0604020202090204"/>
              </a:defRPr>
            </a:lvl3pPr>
            <a:lvl4pPr algn="ctr">
              <a:defRPr sz="1650" b="1">
                <a:solidFill>
                  <a:srgbClr val="C99B27"/>
                </a:solidFill>
                <a:latin typeface="Arial" panose="020B0604020202090204"/>
                <a:ea typeface="Arial" panose="020B0604020202090204"/>
                <a:cs typeface="Arial" panose="020B0604020202090204"/>
              </a:defRPr>
            </a:lvl4pPr>
            <a:lvl5pPr algn="ctr">
              <a:defRPr sz="1650" b="1">
                <a:solidFill>
                  <a:srgbClr val="C99B27"/>
                </a:solidFill>
                <a:latin typeface="Arial" panose="020B0604020202090204"/>
                <a:ea typeface="Arial" panose="020B0604020202090204"/>
                <a:cs typeface="Arial" panose="020B0604020202090204"/>
              </a:defRPr>
            </a:lvl5pPr>
            <a:lvl6pPr algn="ctr">
              <a:defRPr sz="1650" b="1">
                <a:solidFill>
                  <a:srgbClr val="C99B27"/>
                </a:solidFill>
                <a:latin typeface="Arial" panose="020B0604020202090204"/>
                <a:ea typeface="Arial" panose="020B0604020202090204"/>
                <a:cs typeface="Arial" panose="020B0604020202090204"/>
              </a:defRPr>
            </a:lvl6pPr>
            <a:lvl7pPr algn="ctr">
              <a:defRPr sz="1650" b="1">
                <a:solidFill>
                  <a:srgbClr val="C99B27"/>
                </a:solidFill>
                <a:latin typeface="Arial" panose="020B0604020202090204"/>
                <a:ea typeface="Arial" panose="020B0604020202090204"/>
                <a:cs typeface="Arial" panose="020B0604020202090204"/>
              </a:defRPr>
            </a:lvl7pPr>
            <a:lvl8pPr algn="ctr">
              <a:defRPr sz="1650" b="1">
                <a:solidFill>
                  <a:srgbClr val="C99B27"/>
                </a:solidFill>
                <a:latin typeface="Arial" panose="020B0604020202090204"/>
                <a:ea typeface="Arial" panose="020B0604020202090204"/>
                <a:cs typeface="Arial" panose="020B0604020202090204"/>
              </a:defRPr>
            </a:lvl8pPr>
            <a:lvl9pPr algn="ctr">
              <a:defRPr sz="1650" b="1">
                <a:solidFill>
                  <a:srgbClr val="C99B27"/>
                </a:solidFill>
                <a:latin typeface="Arial" panose="020B0604020202090204"/>
                <a:ea typeface="Arial" panose="020B0604020202090204"/>
                <a:cs typeface="Arial" panose="020B0604020202090204"/>
              </a:defRPr>
            </a:lvl9pPr>
          </a:lstStyle>
          <a:p>
            <a:pPr algn="ctr">
              <a:lnSpc>
                <a:spcPct val="102000"/>
              </a:lnSpc>
              <a:buNone/>
              <a:defRPr sz="1650" b="1">
                <a:solidFill>
                  <a:srgbClr val="C99B27"/>
                </a:solidFill>
                <a:latin typeface="Arial" panose="020B0604020202090204"/>
                <a:ea typeface="Arial" panose="020B0604020202090204"/>
                <a:cs typeface="Arial" panose="020B0604020202090204"/>
              </a:defRPr>
            </a:pPr>
            <a:r>
              <a:rPr sz="1650" b="1">
                <a:solidFill>
                  <a:srgbClr val="C99B27"/>
                </a:solidFill>
                <a:latin typeface="Arial" panose="020B0604020202090204"/>
                <a:ea typeface="Arial" panose="020B0604020202090204"/>
                <a:cs typeface="Arial" panose="020B0604020202090204"/>
              </a:rPr>
              <a:t>03</a:t>
            </a:r>
            <a:endParaRPr sz="1650" b="1">
              <a:solidFill>
                <a:srgbClr val="C99B27"/>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1524000" y="3124200"/>
            <a:ext cx="2476500" cy="342900"/>
          </a:xfrm>
          <a:prstGeom prst="rect">
            <a:avLst/>
          </a:prstGeom>
          <a:noFill/>
          <a:ln w="0">
            <a:noFill/>
            <a:prstDash val="solid"/>
          </a:ln>
        </p:spPr>
        <p:txBody>
          <a:bodyPr wrap="square" lIns="0" tIns="0" rIns="0" bIns="0" anchor="t">
            <a:normAutofit/>
          </a:bodyPr>
          <a:lstStyle>
            <a:defPPr algn="l">
              <a:defRPr sz="1650" b="1">
                <a:solidFill>
                  <a:srgbClr val="182226"/>
                </a:solidFill>
                <a:latin typeface="Arial" panose="020B0604020202090204"/>
                <a:ea typeface="Arial" panose="020B0604020202090204"/>
                <a:cs typeface="Arial" panose="020B0604020202090204"/>
              </a:defRPr>
            </a:defPPr>
            <a:lvl1pPr algn="l">
              <a:defRPr sz="1650" b="1">
                <a:solidFill>
                  <a:srgbClr val="182226"/>
                </a:solidFill>
                <a:latin typeface="Arial" panose="020B0604020202090204"/>
                <a:ea typeface="Arial" panose="020B0604020202090204"/>
                <a:cs typeface="Arial" panose="020B0604020202090204"/>
              </a:defRPr>
            </a:lvl1pPr>
            <a:lvl2pPr algn="l">
              <a:defRPr sz="1650" b="1">
                <a:solidFill>
                  <a:srgbClr val="182226"/>
                </a:solidFill>
                <a:latin typeface="Arial" panose="020B0604020202090204"/>
                <a:ea typeface="Arial" panose="020B0604020202090204"/>
                <a:cs typeface="Arial" panose="020B0604020202090204"/>
              </a:defRPr>
            </a:lvl2pPr>
            <a:lvl3pPr algn="l">
              <a:defRPr sz="1650" b="1">
                <a:solidFill>
                  <a:srgbClr val="182226"/>
                </a:solidFill>
                <a:latin typeface="Arial" panose="020B0604020202090204"/>
                <a:ea typeface="Arial" panose="020B0604020202090204"/>
                <a:cs typeface="Arial" panose="020B0604020202090204"/>
              </a:defRPr>
            </a:lvl3pPr>
            <a:lvl4pPr algn="l">
              <a:defRPr sz="1650" b="1">
                <a:solidFill>
                  <a:srgbClr val="182226"/>
                </a:solidFill>
                <a:latin typeface="Arial" panose="020B0604020202090204"/>
                <a:ea typeface="Arial" panose="020B0604020202090204"/>
                <a:cs typeface="Arial" panose="020B0604020202090204"/>
              </a:defRPr>
            </a:lvl4pPr>
            <a:lvl5pPr algn="l">
              <a:defRPr sz="1650" b="1">
                <a:solidFill>
                  <a:srgbClr val="182226"/>
                </a:solidFill>
                <a:latin typeface="Arial" panose="020B0604020202090204"/>
                <a:ea typeface="Arial" panose="020B0604020202090204"/>
                <a:cs typeface="Arial" panose="020B0604020202090204"/>
              </a:defRPr>
            </a:lvl5pPr>
            <a:lvl6pPr algn="l">
              <a:defRPr sz="1650" b="1">
                <a:solidFill>
                  <a:srgbClr val="182226"/>
                </a:solidFill>
                <a:latin typeface="Arial" panose="020B0604020202090204"/>
                <a:ea typeface="Arial" panose="020B0604020202090204"/>
                <a:cs typeface="Arial" panose="020B0604020202090204"/>
              </a:defRPr>
            </a:lvl6pPr>
            <a:lvl7pPr algn="l">
              <a:defRPr sz="1650" b="1">
                <a:solidFill>
                  <a:srgbClr val="182226"/>
                </a:solidFill>
                <a:latin typeface="Arial" panose="020B0604020202090204"/>
                <a:ea typeface="Arial" panose="020B0604020202090204"/>
                <a:cs typeface="Arial" panose="020B0604020202090204"/>
              </a:defRPr>
            </a:lvl7pPr>
            <a:lvl8pPr algn="l">
              <a:defRPr sz="1650" b="1">
                <a:solidFill>
                  <a:srgbClr val="182226"/>
                </a:solidFill>
                <a:latin typeface="Arial" panose="020B0604020202090204"/>
                <a:ea typeface="Arial" panose="020B0604020202090204"/>
                <a:cs typeface="Arial" panose="020B0604020202090204"/>
              </a:defRPr>
            </a:lvl8pPr>
            <a:lvl9pPr algn="l">
              <a:defRPr sz="1650" b="1">
                <a:solidFill>
                  <a:srgbClr val="182226"/>
                </a:solidFill>
                <a:latin typeface="Arial" panose="020B0604020202090204"/>
                <a:ea typeface="Arial" panose="020B0604020202090204"/>
                <a:cs typeface="Arial" panose="020B0604020202090204"/>
              </a:defRPr>
            </a:lvl9pPr>
          </a:lstStyle>
          <a:p>
            <a:pPr algn="l">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Proxy dependence</a:t>
            </a:r>
            <a:endParaRPr sz="1650" b="1">
              <a:solidFill>
                <a:srgbClr val="182226"/>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4191000" y="3124200"/>
            <a:ext cx="6858000" cy="495300"/>
          </a:xfrm>
          <a:prstGeom prst="rect">
            <a:avLst/>
          </a:prstGeom>
          <a:noFill/>
          <a:ln w="0">
            <a:noFill/>
            <a:prstDash val="solid"/>
          </a:ln>
        </p:spPr>
        <p:txBody>
          <a:bodyPr wrap="square" lIns="0" tIns="0" rIns="0" bIns="0" anchor="t">
            <a:normAutofit/>
          </a:bodyPr>
          <a:lstStyle>
            <a:defPPr algn="l">
              <a:defRPr sz="1350" b="0">
                <a:solidFill>
                  <a:srgbClr val="637279"/>
                </a:solidFill>
                <a:latin typeface="Arial" panose="020B0604020202090204"/>
                <a:ea typeface="Arial" panose="020B0604020202090204"/>
                <a:cs typeface="Arial" panose="020B0604020202090204"/>
              </a:defRPr>
            </a:defPPr>
            <a:lvl1pPr algn="l">
              <a:defRPr sz="1350" b="0">
                <a:solidFill>
                  <a:srgbClr val="637279"/>
                </a:solidFill>
                <a:latin typeface="Arial" panose="020B0604020202090204"/>
                <a:ea typeface="Arial" panose="020B0604020202090204"/>
                <a:cs typeface="Arial" panose="020B0604020202090204"/>
              </a:defRPr>
            </a:lvl1pPr>
            <a:lvl2pPr algn="l">
              <a:defRPr sz="1350" b="0">
                <a:solidFill>
                  <a:srgbClr val="637279"/>
                </a:solidFill>
                <a:latin typeface="Arial" panose="020B0604020202090204"/>
                <a:ea typeface="Arial" panose="020B0604020202090204"/>
                <a:cs typeface="Arial" panose="020B0604020202090204"/>
              </a:defRPr>
            </a:lvl2pPr>
            <a:lvl3pPr algn="l">
              <a:defRPr sz="1350" b="0">
                <a:solidFill>
                  <a:srgbClr val="637279"/>
                </a:solidFill>
                <a:latin typeface="Arial" panose="020B0604020202090204"/>
                <a:ea typeface="Arial" panose="020B0604020202090204"/>
                <a:cs typeface="Arial" panose="020B0604020202090204"/>
              </a:defRPr>
            </a:lvl3pPr>
            <a:lvl4pPr algn="l">
              <a:defRPr sz="1350" b="0">
                <a:solidFill>
                  <a:srgbClr val="637279"/>
                </a:solidFill>
                <a:latin typeface="Arial" panose="020B0604020202090204"/>
                <a:ea typeface="Arial" panose="020B0604020202090204"/>
                <a:cs typeface="Arial" panose="020B0604020202090204"/>
              </a:defRPr>
            </a:lvl4pPr>
            <a:lvl5pPr algn="l">
              <a:defRPr sz="1350" b="0">
                <a:solidFill>
                  <a:srgbClr val="637279"/>
                </a:solidFill>
                <a:latin typeface="Arial" panose="020B0604020202090204"/>
                <a:ea typeface="Arial" panose="020B0604020202090204"/>
                <a:cs typeface="Arial" panose="020B0604020202090204"/>
              </a:defRPr>
            </a:lvl5pPr>
            <a:lvl6pPr algn="l">
              <a:defRPr sz="1350" b="0">
                <a:solidFill>
                  <a:srgbClr val="637279"/>
                </a:solidFill>
                <a:latin typeface="Arial" panose="020B0604020202090204"/>
                <a:ea typeface="Arial" panose="020B0604020202090204"/>
                <a:cs typeface="Arial" panose="020B0604020202090204"/>
              </a:defRPr>
            </a:lvl6pPr>
            <a:lvl7pPr algn="l">
              <a:defRPr sz="1350" b="0">
                <a:solidFill>
                  <a:srgbClr val="637279"/>
                </a:solidFill>
                <a:latin typeface="Arial" panose="020B0604020202090204"/>
                <a:ea typeface="Arial" panose="020B0604020202090204"/>
                <a:cs typeface="Arial" panose="020B0604020202090204"/>
              </a:defRPr>
            </a:lvl7pPr>
            <a:lvl8pPr algn="l">
              <a:defRPr sz="1350" b="0">
                <a:solidFill>
                  <a:srgbClr val="637279"/>
                </a:solidFill>
                <a:latin typeface="Arial" panose="020B0604020202090204"/>
                <a:ea typeface="Arial" panose="020B0604020202090204"/>
                <a:cs typeface="Arial" panose="020B0604020202090204"/>
              </a:defRPr>
            </a:lvl8pPr>
            <a:lvl9pPr algn="l">
              <a:defRPr sz="1350" b="0">
                <a:solidFill>
                  <a:srgbClr val="637279"/>
                </a:solidFill>
                <a:latin typeface="Arial" panose="020B0604020202090204"/>
                <a:ea typeface="Arial" panose="020B0604020202090204"/>
                <a:cs typeface="Arial" panose="020B0604020202090204"/>
              </a:defRPr>
            </a:lvl9pPr>
          </a:lstStyle>
          <a:p>
            <a:pPr algn="l">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Black-box results vary across proxy models.</a:t>
            </a:r>
            <a:endParaRPr sz="1350" b="0">
              <a:solidFill>
                <a:srgbClr val="637279"/>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762000" y="4133850"/>
            <a:ext cx="523875" cy="400050"/>
          </a:xfrm>
          <a:prstGeom prst="rect">
            <a:avLst/>
          </a:prstGeom>
          <a:noFill/>
          <a:ln w="0">
            <a:noFill/>
            <a:prstDash val="solid"/>
          </a:ln>
        </p:spPr>
        <p:txBody>
          <a:bodyPr wrap="square" lIns="0" tIns="0" rIns="0" bIns="0" anchor="t">
            <a:normAutofit/>
          </a:bodyPr>
          <a:lstStyle>
            <a:defPPr algn="ctr">
              <a:defRPr sz="1650" b="1">
                <a:solidFill>
                  <a:srgbClr val="147A78"/>
                </a:solidFill>
                <a:latin typeface="Arial" panose="020B0604020202090204"/>
                <a:ea typeface="Arial" panose="020B0604020202090204"/>
                <a:cs typeface="Arial" panose="020B0604020202090204"/>
              </a:defRPr>
            </a:defPPr>
            <a:lvl1pPr algn="ctr">
              <a:defRPr sz="1650" b="1">
                <a:solidFill>
                  <a:srgbClr val="147A78"/>
                </a:solidFill>
                <a:latin typeface="Arial" panose="020B0604020202090204"/>
                <a:ea typeface="Arial" panose="020B0604020202090204"/>
                <a:cs typeface="Arial" panose="020B0604020202090204"/>
              </a:defRPr>
            </a:lvl1pPr>
            <a:lvl2pPr algn="ctr">
              <a:defRPr sz="1650" b="1">
                <a:solidFill>
                  <a:srgbClr val="147A78"/>
                </a:solidFill>
                <a:latin typeface="Arial" panose="020B0604020202090204"/>
                <a:ea typeface="Arial" panose="020B0604020202090204"/>
                <a:cs typeface="Arial" panose="020B0604020202090204"/>
              </a:defRPr>
            </a:lvl2pPr>
            <a:lvl3pPr algn="ctr">
              <a:defRPr sz="1650" b="1">
                <a:solidFill>
                  <a:srgbClr val="147A78"/>
                </a:solidFill>
                <a:latin typeface="Arial" panose="020B0604020202090204"/>
                <a:ea typeface="Arial" panose="020B0604020202090204"/>
                <a:cs typeface="Arial" panose="020B0604020202090204"/>
              </a:defRPr>
            </a:lvl3pPr>
            <a:lvl4pPr algn="ctr">
              <a:defRPr sz="1650" b="1">
                <a:solidFill>
                  <a:srgbClr val="147A78"/>
                </a:solidFill>
                <a:latin typeface="Arial" panose="020B0604020202090204"/>
                <a:ea typeface="Arial" panose="020B0604020202090204"/>
                <a:cs typeface="Arial" panose="020B0604020202090204"/>
              </a:defRPr>
            </a:lvl4pPr>
            <a:lvl5pPr algn="ctr">
              <a:defRPr sz="1650" b="1">
                <a:solidFill>
                  <a:srgbClr val="147A78"/>
                </a:solidFill>
                <a:latin typeface="Arial" panose="020B0604020202090204"/>
                <a:ea typeface="Arial" panose="020B0604020202090204"/>
                <a:cs typeface="Arial" panose="020B0604020202090204"/>
              </a:defRPr>
            </a:lvl5pPr>
            <a:lvl6pPr algn="ctr">
              <a:defRPr sz="1650" b="1">
                <a:solidFill>
                  <a:srgbClr val="147A78"/>
                </a:solidFill>
                <a:latin typeface="Arial" panose="020B0604020202090204"/>
                <a:ea typeface="Arial" panose="020B0604020202090204"/>
                <a:cs typeface="Arial" panose="020B0604020202090204"/>
              </a:defRPr>
            </a:lvl6pPr>
            <a:lvl7pPr algn="ctr">
              <a:defRPr sz="1650" b="1">
                <a:solidFill>
                  <a:srgbClr val="147A78"/>
                </a:solidFill>
                <a:latin typeface="Arial" panose="020B0604020202090204"/>
                <a:ea typeface="Arial" panose="020B0604020202090204"/>
                <a:cs typeface="Arial" panose="020B0604020202090204"/>
              </a:defRPr>
            </a:lvl7pPr>
            <a:lvl8pPr algn="ctr">
              <a:defRPr sz="1650" b="1">
                <a:solidFill>
                  <a:srgbClr val="147A78"/>
                </a:solidFill>
                <a:latin typeface="Arial" panose="020B0604020202090204"/>
                <a:ea typeface="Arial" panose="020B0604020202090204"/>
                <a:cs typeface="Arial" panose="020B0604020202090204"/>
              </a:defRPr>
            </a:lvl8pPr>
            <a:lvl9pPr algn="ctr">
              <a:defRPr sz="1650" b="1">
                <a:solidFill>
                  <a:srgbClr val="147A78"/>
                </a:solidFill>
                <a:latin typeface="Arial" panose="020B0604020202090204"/>
                <a:ea typeface="Arial" panose="020B0604020202090204"/>
                <a:cs typeface="Arial" panose="020B0604020202090204"/>
              </a:defRPr>
            </a:lvl9pPr>
          </a:lstStyle>
          <a:p>
            <a:pPr algn="ctr">
              <a:lnSpc>
                <a:spcPct val="102000"/>
              </a:lnSpc>
              <a:buNone/>
              <a:defRPr sz="1650" b="1">
                <a:solidFill>
                  <a:srgbClr val="147A78"/>
                </a:solidFill>
                <a:latin typeface="Arial" panose="020B0604020202090204"/>
                <a:ea typeface="Arial" panose="020B0604020202090204"/>
                <a:cs typeface="Arial" panose="020B0604020202090204"/>
              </a:defRPr>
            </a:pPr>
            <a:r>
              <a:rPr sz="1650" b="1">
                <a:solidFill>
                  <a:srgbClr val="147A78"/>
                </a:solidFill>
                <a:latin typeface="Arial" panose="020B0604020202090204"/>
                <a:ea typeface="Arial" panose="020B0604020202090204"/>
                <a:cs typeface="Arial" panose="020B0604020202090204"/>
              </a:rPr>
              <a:t>04</a:t>
            </a:r>
            <a:endParaRPr sz="1650" b="1">
              <a:solidFill>
                <a:srgbClr val="147A78"/>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1524000" y="4076700"/>
            <a:ext cx="2476500" cy="342900"/>
          </a:xfrm>
          <a:prstGeom prst="rect">
            <a:avLst/>
          </a:prstGeom>
          <a:noFill/>
          <a:ln w="0">
            <a:noFill/>
            <a:prstDash val="solid"/>
          </a:ln>
        </p:spPr>
        <p:txBody>
          <a:bodyPr wrap="square" lIns="0" tIns="0" rIns="0" bIns="0" anchor="t">
            <a:normAutofit/>
          </a:bodyPr>
          <a:lstStyle>
            <a:defPPr algn="l">
              <a:defRPr sz="1650" b="1">
                <a:solidFill>
                  <a:srgbClr val="182226"/>
                </a:solidFill>
                <a:latin typeface="Arial" panose="020B0604020202090204"/>
                <a:ea typeface="Arial" panose="020B0604020202090204"/>
                <a:cs typeface="Arial" panose="020B0604020202090204"/>
              </a:defRPr>
            </a:defPPr>
            <a:lvl1pPr algn="l">
              <a:defRPr sz="1650" b="1">
                <a:solidFill>
                  <a:srgbClr val="182226"/>
                </a:solidFill>
                <a:latin typeface="Arial" panose="020B0604020202090204"/>
                <a:ea typeface="Arial" panose="020B0604020202090204"/>
                <a:cs typeface="Arial" panose="020B0604020202090204"/>
              </a:defRPr>
            </a:lvl1pPr>
            <a:lvl2pPr algn="l">
              <a:defRPr sz="1650" b="1">
                <a:solidFill>
                  <a:srgbClr val="182226"/>
                </a:solidFill>
                <a:latin typeface="Arial" panose="020B0604020202090204"/>
                <a:ea typeface="Arial" panose="020B0604020202090204"/>
                <a:cs typeface="Arial" panose="020B0604020202090204"/>
              </a:defRPr>
            </a:lvl2pPr>
            <a:lvl3pPr algn="l">
              <a:defRPr sz="1650" b="1">
                <a:solidFill>
                  <a:srgbClr val="182226"/>
                </a:solidFill>
                <a:latin typeface="Arial" panose="020B0604020202090204"/>
                <a:ea typeface="Arial" panose="020B0604020202090204"/>
                <a:cs typeface="Arial" panose="020B0604020202090204"/>
              </a:defRPr>
            </a:lvl3pPr>
            <a:lvl4pPr algn="l">
              <a:defRPr sz="1650" b="1">
                <a:solidFill>
                  <a:srgbClr val="182226"/>
                </a:solidFill>
                <a:latin typeface="Arial" panose="020B0604020202090204"/>
                <a:ea typeface="Arial" panose="020B0604020202090204"/>
                <a:cs typeface="Arial" panose="020B0604020202090204"/>
              </a:defRPr>
            </a:lvl4pPr>
            <a:lvl5pPr algn="l">
              <a:defRPr sz="1650" b="1">
                <a:solidFill>
                  <a:srgbClr val="182226"/>
                </a:solidFill>
                <a:latin typeface="Arial" panose="020B0604020202090204"/>
                <a:ea typeface="Arial" panose="020B0604020202090204"/>
                <a:cs typeface="Arial" panose="020B0604020202090204"/>
              </a:defRPr>
            </a:lvl5pPr>
            <a:lvl6pPr algn="l">
              <a:defRPr sz="1650" b="1">
                <a:solidFill>
                  <a:srgbClr val="182226"/>
                </a:solidFill>
                <a:latin typeface="Arial" panose="020B0604020202090204"/>
                <a:ea typeface="Arial" panose="020B0604020202090204"/>
                <a:cs typeface="Arial" panose="020B0604020202090204"/>
              </a:defRPr>
            </a:lvl6pPr>
            <a:lvl7pPr algn="l">
              <a:defRPr sz="1650" b="1">
                <a:solidFill>
                  <a:srgbClr val="182226"/>
                </a:solidFill>
                <a:latin typeface="Arial" panose="020B0604020202090204"/>
                <a:ea typeface="Arial" panose="020B0604020202090204"/>
                <a:cs typeface="Arial" panose="020B0604020202090204"/>
              </a:defRPr>
            </a:lvl7pPr>
            <a:lvl8pPr algn="l">
              <a:defRPr sz="1650" b="1">
                <a:solidFill>
                  <a:srgbClr val="182226"/>
                </a:solidFill>
                <a:latin typeface="Arial" panose="020B0604020202090204"/>
                <a:ea typeface="Arial" panose="020B0604020202090204"/>
                <a:cs typeface="Arial" panose="020B0604020202090204"/>
              </a:defRPr>
            </a:lvl8pPr>
            <a:lvl9pPr algn="l">
              <a:defRPr sz="1650" b="1">
                <a:solidFill>
                  <a:srgbClr val="182226"/>
                </a:solidFill>
                <a:latin typeface="Arial" panose="020B0604020202090204"/>
                <a:ea typeface="Arial" panose="020B0604020202090204"/>
                <a:cs typeface="Arial" panose="020B0604020202090204"/>
              </a:defRPr>
            </a:lvl9pPr>
          </a:lstStyle>
          <a:p>
            <a:pPr algn="l">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Threshold transfer</a:t>
            </a:r>
            <a:endParaRPr sz="1650" b="1">
              <a:solidFill>
                <a:srgbClr val="182226"/>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4191000" y="4076700"/>
            <a:ext cx="6858000" cy="495300"/>
          </a:xfrm>
          <a:prstGeom prst="rect">
            <a:avLst/>
          </a:prstGeom>
          <a:noFill/>
          <a:ln w="0">
            <a:noFill/>
            <a:prstDash val="solid"/>
          </a:ln>
        </p:spPr>
        <p:txBody>
          <a:bodyPr wrap="square" lIns="0" tIns="0" rIns="0" bIns="0" anchor="t">
            <a:normAutofit/>
          </a:bodyPr>
          <a:lstStyle>
            <a:defPPr algn="l">
              <a:defRPr sz="1350" b="0">
                <a:solidFill>
                  <a:srgbClr val="637279"/>
                </a:solidFill>
                <a:latin typeface="Arial" panose="020B0604020202090204"/>
                <a:ea typeface="Arial" panose="020B0604020202090204"/>
                <a:cs typeface="Arial" panose="020B0604020202090204"/>
              </a:defRPr>
            </a:defPPr>
            <a:lvl1pPr algn="l">
              <a:defRPr sz="1350" b="0">
                <a:solidFill>
                  <a:srgbClr val="637279"/>
                </a:solidFill>
                <a:latin typeface="Arial" panose="020B0604020202090204"/>
                <a:ea typeface="Arial" panose="020B0604020202090204"/>
                <a:cs typeface="Arial" panose="020B0604020202090204"/>
              </a:defRPr>
            </a:lvl1pPr>
            <a:lvl2pPr algn="l">
              <a:defRPr sz="1350" b="0">
                <a:solidFill>
                  <a:srgbClr val="637279"/>
                </a:solidFill>
                <a:latin typeface="Arial" panose="020B0604020202090204"/>
                <a:ea typeface="Arial" panose="020B0604020202090204"/>
                <a:cs typeface="Arial" panose="020B0604020202090204"/>
              </a:defRPr>
            </a:lvl2pPr>
            <a:lvl3pPr algn="l">
              <a:defRPr sz="1350" b="0">
                <a:solidFill>
                  <a:srgbClr val="637279"/>
                </a:solidFill>
                <a:latin typeface="Arial" panose="020B0604020202090204"/>
                <a:ea typeface="Arial" panose="020B0604020202090204"/>
                <a:cs typeface="Arial" panose="020B0604020202090204"/>
              </a:defRPr>
            </a:lvl3pPr>
            <a:lvl4pPr algn="l">
              <a:defRPr sz="1350" b="0">
                <a:solidFill>
                  <a:srgbClr val="637279"/>
                </a:solidFill>
                <a:latin typeface="Arial" panose="020B0604020202090204"/>
                <a:ea typeface="Arial" panose="020B0604020202090204"/>
                <a:cs typeface="Arial" panose="020B0604020202090204"/>
              </a:defRPr>
            </a:lvl4pPr>
            <a:lvl5pPr algn="l">
              <a:defRPr sz="1350" b="0">
                <a:solidFill>
                  <a:srgbClr val="637279"/>
                </a:solidFill>
                <a:latin typeface="Arial" panose="020B0604020202090204"/>
                <a:ea typeface="Arial" panose="020B0604020202090204"/>
                <a:cs typeface="Arial" panose="020B0604020202090204"/>
              </a:defRPr>
            </a:lvl5pPr>
            <a:lvl6pPr algn="l">
              <a:defRPr sz="1350" b="0">
                <a:solidFill>
                  <a:srgbClr val="637279"/>
                </a:solidFill>
                <a:latin typeface="Arial" panose="020B0604020202090204"/>
                <a:ea typeface="Arial" panose="020B0604020202090204"/>
                <a:cs typeface="Arial" panose="020B0604020202090204"/>
              </a:defRPr>
            </a:lvl6pPr>
            <a:lvl7pPr algn="l">
              <a:defRPr sz="1350" b="0">
                <a:solidFill>
                  <a:srgbClr val="637279"/>
                </a:solidFill>
                <a:latin typeface="Arial" panose="020B0604020202090204"/>
                <a:ea typeface="Arial" panose="020B0604020202090204"/>
                <a:cs typeface="Arial" panose="020B0604020202090204"/>
              </a:defRPr>
            </a:lvl7pPr>
            <a:lvl8pPr algn="l">
              <a:defRPr sz="1350" b="0">
                <a:solidFill>
                  <a:srgbClr val="637279"/>
                </a:solidFill>
                <a:latin typeface="Arial" panose="020B0604020202090204"/>
                <a:ea typeface="Arial" panose="020B0604020202090204"/>
                <a:cs typeface="Arial" panose="020B0604020202090204"/>
              </a:defRPr>
            </a:lvl8pPr>
            <a:lvl9pPr algn="l">
              <a:defRPr sz="1350" b="0">
                <a:solidFill>
                  <a:srgbClr val="637279"/>
                </a:solidFill>
                <a:latin typeface="Arial" panose="020B0604020202090204"/>
                <a:ea typeface="Arial" panose="020B0604020202090204"/>
                <a:cs typeface="Arial" panose="020B0604020202090204"/>
              </a:defRPr>
            </a:lvl9pPr>
          </a:lstStyle>
          <a:p>
            <a:pPr algn="l">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High AUROC does not supply a universal operating threshold.</a:t>
            </a:r>
            <a:endParaRPr sz="1350" b="0">
              <a:solidFill>
                <a:srgbClr val="637279"/>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762000" y="5086350"/>
            <a:ext cx="523875" cy="400050"/>
          </a:xfrm>
          <a:prstGeom prst="rect">
            <a:avLst/>
          </a:prstGeom>
          <a:noFill/>
          <a:ln w="0">
            <a:noFill/>
            <a:prstDash val="solid"/>
          </a:ln>
        </p:spPr>
        <p:txBody>
          <a:bodyPr wrap="square" lIns="0" tIns="0" rIns="0" bIns="0" anchor="t">
            <a:normAutofit/>
          </a:bodyPr>
          <a:lstStyle>
            <a:defPPr algn="ctr">
              <a:defRPr sz="1650" b="1">
                <a:solidFill>
                  <a:srgbClr val="E7684A"/>
                </a:solidFill>
                <a:latin typeface="Arial" panose="020B0604020202090204"/>
                <a:ea typeface="Arial" panose="020B0604020202090204"/>
                <a:cs typeface="Arial" panose="020B0604020202090204"/>
              </a:defRPr>
            </a:defPPr>
            <a:lvl1pPr algn="ctr">
              <a:defRPr sz="1650" b="1">
                <a:solidFill>
                  <a:srgbClr val="E7684A"/>
                </a:solidFill>
                <a:latin typeface="Arial" panose="020B0604020202090204"/>
                <a:ea typeface="Arial" panose="020B0604020202090204"/>
                <a:cs typeface="Arial" panose="020B0604020202090204"/>
              </a:defRPr>
            </a:lvl1pPr>
            <a:lvl2pPr algn="ctr">
              <a:defRPr sz="1650" b="1">
                <a:solidFill>
                  <a:srgbClr val="E7684A"/>
                </a:solidFill>
                <a:latin typeface="Arial" panose="020B0604020202090204"/>
                <a:ea typeface="Arial" panose="020B0604020202090204"/>
                <a:cs typeface="Arial" panose="020B0604020202090204"/>
              </a:defRPr>
            </a:lvl2pPr>
            <a:lvl3pPr algn="ctr">
              <a:defRPr sz="1650" b="1">
                <a:solidFill>
                  <a:srgbClr val="E7684A"/>
                </a:solidFill>
                <a:latin typeface="Arial" panose="020B0604020202090204"/>
                <a:ea typeface="Arial" panose="020B0604020202090204"/>
                <a:cs typeface="Arial" panose="020B0604020202090204"/>
              </a:defRPr>
            </a:lvl3pPr>
            <a:lvl4pPr algn="ctr">
              <a:defRPr sz="1650" b="1">
                <a:solidFill>
                  <a:srgbClr val="E7684A"/>
                </a:solidFill>
                <a:latin typeface="Arial" panose="020B0604020202090204"/>
                <a:ea typeface="Arial" panose="020B0604020202090204"/>
                <a:cs typeface="Arial" panose="020B0604020202090204"/>
              </a:defRPr>
            </a:lvl4pPr>
            <a:lvl5pPr algn="ctr">
              <a:defRPr sz="1650" b="1">
                <a:solidFill>
                  <a:srgbClr val="E7684A"/>
                </a:solidFill>
                <a:latin typeface="Arial" panose="020B0604020202090204"/>
                <a:ea typeface="Arial" panose="020B0604020202090204"/>
                <a:cs typeface="Arial" panose="020B0604020202090204"/>
              </a:defRPr>
            </a:lvl5pPr>
            <a:lvl6pPr algn="ctr">
              <a:defRPr sz="1650" b="1">
                <a:solidFill>
                  <a:srgbClr val="E7684A"/>
                </a:solidFill>
                <a:latin typeface="Arial" panose="020B0604020202090204"/>
                <a:ea typeface="Arial" panose="020B0604020202090204"/>
                <a:cs typeface="Arial" panose="020B0604020202090204"/>
              </a:defRPr>
            </a:lvl6pPr>
            <a:lvl7pPr algn="ctr">
              <a:defRPr sz="1650" b="1">
                <a:solidFill>
                  <a:srgbClr val="E7684A"/>
                </a:solidFill>
                <a:latin typeface="Arial" panose="020B0604020202090204"/>
                <a:ea typeface="Arial" panose="020B0604020202090204"/>
                <a:cs typeface="Arial" panose="020B0604020202090204"/>
              </a:defRPr>
            </a:lvl7pPr>
            <a:lvl8pPr algn="ctr">
              <a:defRPr sz="1650" b="1">
                <a:solidFill>
                  <a:srgbClr val="E7684A"/>
                </a:solidFill>
                <a:latin typeface="Arial" panose="020B0604020202090204"/>
                <a:ea typeface="Arial" panose="020B0604020202090204"/>
                <a:cs typeface="Arial" panose="020B0604020202090204"/>
              </a:defRPr>
            </a:lvl8pPr>
            <a:lvl9pPr algn="ctr">
              <a:defRPr sz="1650" b="1">
                <a:solidFill>
                  <a:srgbClr val="E7684A"/>
                </a:solidFill>
                <a:latin typeface="Arial" panose="020B0604020202090204"/>
                <a:ea typeface="Arial" panose="020B0604020202090204"/>
                <a:cs typeface="Arial" panose="020B0604020202090204"/>
              </a:defRPr>
            </a:lvl9pPr>
          </a:lstStyle>
          <a:p>
            <a:pPr algn="ctr">
              <a:lnSpc>
                <a:spcPct val="102000"/>
              </a:lnSpc>
              <a:buNone/>
              <a:defRPr sz="1650" b="1">
                <a:solidFill>
                  <a:srgbClr val="E7684A"/>
                </a:solidFill>
                <a:latin typeface="Arial" panose="020B0604020202090204"/>
                <a:ea typeface="Arial" panose="020B0604020202090204"/>
                <a:cs typeface="Arial" panose="020B0604020202090204"/>
              </a:defRPr>
            </a:pPr>
            <a:r>
              <a:rPr sz="1650" b="1">
                <a:solidFill>
                  <a:srgbClr val="E7684A"/>
                </a:solidFill>
                <a:latin typeface="Arial" panose="020B0604020202090204"/>
                <a:ea typeface="Arial" panose="020B0604020202090204"/>
                <a:cs typeface="Arial" panose="020B0604020202090204"/>
              </a:rPr>
              <a:t>05</a:t>
            </a:r>
            <a:endParaRPr sz="1650" b="1">
              <a:solidFill>
                <a:srgbClr val="E7684A"/>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1524000" y="5029200"/>
            <a:ext cx="2476500" cy="342900"/>
          </a:xfrm>
          <a:prstGeom prst="rect">
            <a:avLst/>
          </a:prstGeom>
          <a:noFill/>
          <a:ln w="0">
            <a:noFill/>
            <a:prstDash val="solid"/>
          </a:ln>
        </p:spPr>
        <p:txBody>
          <a:bodyPr wrap="square" lIns="0" tIns="0" rIns="0" bIns="0" anchor="t">
            <a:normAutofit/>
          </a:bodyPr>
          <a:lstStyle>
            <a:defPPr algn="l">
              <a:defRPr sz="1650" b="1">
                <a:solidFill>
                  <a:srgbClr val="182226"/>
                </a:solidFill>
                <a:latin typeface="Arial" panose="020B0604020202090204"/>
                <a:ea typeface="Arial" panose="020B0604020202090204"/>
                <a:cs typeface="Arial" panose="020B0604020202090204"/>
              </a:defRPr>
            </a:defPPr>
            <a:lvl1pPr algn="l">
              <a:defRPr sz="1650" b="1">
                <a:solidFill>
                  <a:srgbClr val="182226"/>
                </a:solidFill>
                <a:latin typeface="Arial" panose="020B0604020202090204"/>
                <a:ea typeface="Arial" panose="020B0604020202090204"/>
                <a:cs typeface="Arial" panose="020B0604020202090204"/>
              </a:defRPr>
            </a:lvl1pPr>
            <a:lvl2pPr algn="l">
              <a:defRPr sz="1650" b="1">
                <a:solidFill>
                  <a:srgbClr val="182226"/>
                </a:solidFill>
                <a:latin typeface="Arial" panose="020B0604020202090204"/>
                <a:ea typeface="Arial" panose="020B0604020202090204"/>
                <a:cs typeface="Arial" panose="020B0604020202090204"/>
              </a:defRPr>
            </a:lvl2pPr>
            <a:lvl3pPr algn="l">
              <a:defRPr sz="1650" b="1">
                <a:solidFill>
                  <a:srgbClr val="182226"/>
                </a:solidFill>
                <a:latin typeface="Arial" panose="020B0604020202090204"/>
                <a:ea typeface="Arial" panose="020B0604020202090204"/>
                <a:cs typeface="Arial" panose="020B0604020202090204"/>
              </a:defRPr>
            </a:lvl3pPr>
            <a:lvl4pPr algn="l">
              <a:defRPr sz="1650" b="1">
                <a:solidFill>
                  <a:srgbClr val="182226"/>
                </a:solidFill>
                <a:latin typeface="Arial" panose="020B0604020202090204"/>
                <a:ea typeface="Arial" panose="020B0604020202090204"/>
                <a:cs typeface="Arial" panose="020B0604020202090204"/>
              </a:defRPr>
            </a:lvl4pPr>
            <a:lvl5pPr algn="l">
              <a:defRPr sz="1650" b="1">
                <a:solidFill>
                  <a:srgbClr val="182226"/>
                </a:solidFill>
                <a:latin typeface="Arial" panose="020B0604020202090204"/>
                <a:ea typeface="Arial" panose="020B0604020202090204"/>
                <a:cs typeface="Arial" panose="020B0604020202090204"/>
              </a:defRPr>
            </a:lvl5pPr>
            <a:lvl6pPr algn="l">
              <a:defRPr sz="1650" b="1">
                <a:solidFill>
                  <a:srgbClr val="182226"/>
                </a:solidFill>
                <a:latin typeface="Arial" panose="020B0604020202090204"/>
                <a:ea typeface="Arial" panose="020B0604020202090204"/>
                <a:cs typeface="Arial" panose="020B0604020202090204"/>
              </a:defRPr>
            </a:lvl6pPr>
            <a:lvl7pPr algn="l">
              <a:defRPr sz="1650" b="1">
                <a:solidFill>
                  <a:srgbClr val="182226"/>
                </a:solidFill>
                <a:latin typeface="Arial" panose="020B0604020202090204"/>
                <a:ea typeface="Arial" panose="020B0604020202090204"/>
                <a:cs typeface="Arial" panose="020B0604020202090204"/>
              </a:defRPr>
            </a:lvl7pPr>
            <a:lvl8pPr algn="l">
              <a:defRPr sz="1650" b="1">
                <a:solidFill>
                  <a:srgbClr val="182226"/>
                </a:solidFill>
                <a:latin typeface="Arial" panose="020B0604020202090204"/>
                <a:ea typeface="Arial" panose="020B0604020202090204"/>
                <a:cs typeface="Arial" panose="020B0604020202090204"/>
              </a:defRPr>
            </a:lvl8pPr>
            <a:lvl9pPr algn="l">
              <a:defRPr sz="1650" b="1">
                <a:solidFill>
                  <a:srgbClr val="182226"/>
                </a:solidFill>
                <a:latin typeface="Arial" panose="020B0604020202090204"/>
                <a:ea typeface="Arial" panose="020B0604020202090204"/>
                <a:cs typeface="Arial" panose="020B0604020202090204"/>
              </a:defRPr>
            </a:lvl9pPr>
          </a:lstStyle>
          <a:p>
            <a:pPr algn="l">
              <a:lnSpc>
                <a:spcPct val="102000"/>
              </a:lnSpc>
              <a:buNone/>
              <a:defRPr sz="1650" b="1">
                <a:solidFill>
                  <a:srgbClr val="182226"/>
                </a:solidFill>
                <a:latin typeface="Arial" panose="020B0604020202090204"/>
                <a:ea typeface="Arial" panose="020B0604020202090204"/>
                <a:cs typeface="Arial" panose="020B0604020202090204"/>
              </a:defRPr>
            </a:pPr>
            <a:r>
              <a:rPr sz="1650" b="1">
                <a:solidFill>
                  <a:srgbClr val="182226"/>
                </a:solidFill>
                <a:latin typeface="Arial" panose="020B0604020202090204"/>
                <a:ea typeface="Arial" panose="020B0604020202090204"/>
                <a:cs typeface="Arial" panose="020B0604020202090204"/>
              </a:rPr>
              <a:t>High-impact decisions</a:t>
            </a:r>
            <a:endParaRPr sz="1650" b="1">
              <a:solidFill>
                <a:srgbClr val="182226"/>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4191000" y="5029200"/>
            <a:ext cx="6858000" cy="495300"/>
          </a:xfrm>
          <a:prstGeom prst="rect">
            <a:avLst/>
          </a:prstGeom>
          <a:noFill/>
          <a:ln w="0">
            <a:noFill/>
            <a:prstDash val="solid"/>
          </a:ln>
        </p:spPr>
        <p:txBody>
          <a:bodyPr wrap="square" lIns="0" tIns="0" rIns="0" bIns="0" anchor="t">
            <a:normAutofit/>
          </a:bodyPr>
          <a:lstStyle>
            <a:defPPr algn="l">
              <a:defRPr sz="1350" b="0">
                <a:solidFill>
                  <a:srgbClr val="637279"/>
                </a:solidFill>
                <a:latin typeface="Arial" panose="020B0604020202090204"/>
                <a:ea typeface="Arial" panose="020B0604020202090204"/>
                <a:cs typeface="Arial" panose="020B0604020202090204"/>
              </a:defRPr>
            </a:defPPr>
            <a:lvl1pPr algn="l">
              <a:defRPr sz="1350" b="0">
                <a:solidFill>
                  <a:srgbClr val="637279"/>
                </a:solidFill>
                <a:latin typeface="Arial" panose="020B0604020202090204"/>
                <a:ea typeface="Arial" panose="020B0604020202090204"/>
                <a:cs typeface="Arial" panose="020B0604020202090204"/>
              </a:defRPr>
            </a:lvl1pPr>
            <a:lvl2pPr algn="l">
              <a:defRPr sz="1350" b="0">
                <a:solidFill>
                  <a:srgbClr val="637279"/>
                </a:solidFill>
                <a:latin typeface="Arial" panose="020B0604020202090204"/>
                <a:ea typeface="Arial" panose="020B0604020202090204"/>
                <a:cs typeface="Arial" panose="020B0604020202090204"/>
              </a:defRPr>
            </a:lvl2pPr>
            <a:lvl3pPr algn="l">
              <a:defRPr sz="1350" b="0">
                <a:solidFill>
                  <a:srgbClr val="637279"/>
                </a:solidFill>
                <a:latin typeface="Arial" panose="020B0604020202090204"/>
                <a:ea typeface="Arial" panose="020B0604020202090204"/>
                <a:cs typeface="Arial" panose="020B0604020202090204"/>
              </a:defRPr>
            </a:lvl3pPr>
            <a:lvl4pPr algn="l">
              <a:defRPr sz="1350" b="0">
                <a:solidFill>
                  <a:srgbClr val="637279"/>
                </a:solidFill>
                <a:latin typeface="Arial" panose="020B0604020202090204"/>
                <a:ea typeface="Arial" panose="020B0604020202090204"/>
                <a:cs typeface="Arial" panose="020B0604020202090204"/>
              </a:defRPr>
            </a:lvl4pPr>
            <a:lvl5pPr algn="l">
              <a:defRPr sz="1350" b="0">
                <a:solidFill>
                  <a:srgbClr val="637279"/>
                </a:solidFill>
                <a:latin typeface="Arial" panose="020B0604020202090204"/>
                <a:ea typeface="Arial" panose="020B0604020202090204"/>
                <a:cs typeface="Arial" panose="020B0604020202090204"/>
              </a:defRPr>
            </a:lvl5pPr>
            <a:lvl6pPr algn="l">
              <a:defRPr sz="1350" b="0">
                <a:solidFill>
                  <a:srgbClr val="637279"/>
                </a:solidFill>
                <a:latin typeface="Arial" panose="020B0604020202090204"/>
                <a:ea typeface="Arial" panose="020B0604020202090204"/>
                <a:cs typeface="Arial" panose="020B0604020202090204"/>
              </a:defRPr>
            </a:lvl6pPr>
            <a:lvl7pPr algn="l">
              <a:defRPr sz="1350" b="0">
                <a:solidFill>
                  <a:srgbClr val="637279"/>
                </a:solidFill>
                <a:latin typeface="Arial" panose="020B0604020202090204"/>
                <a:ea typeface="Arial" panose="020B0604020202090204"/>
                <a:cs typeface="Arial" panose="020B0604020202090204"/>
              </a:defRPr>
            </a:lvl7pPr>
            <a:lvl8pPr algn="l">
              <a:defRPr sz="1350" b="0">
                <a:solidFill>
                  <a:srgbClr val="637279"/>
                </a:solidFill>
                <a:latin typeface="Arial" panose="020B0604020202090204"/>
                <a:ea typeface="Arial" panose="020B0604020202090204"/>
                <a:cs typeface="Arial" panose="020B0604020202090204"/>
              </a:defRPr>
            </a:lvl8pPr>
            <a:lvl9pPr algn="l">
              <a:defRPr sz="1350" b="0">
                <a:solidFill>
                  <a:srgbClr val="637279"/>
                </a:solidFill>
                <a:latin typeface="Arial" panose="020B0604020202090204"/>
                <a:ea typeface="Arial" panose="020B0604020202090204"/>
                <a:cs typeface="Arial" panose="020B0604020202090204"/>
              </a:defRPr>
            </a:lvl9pPr>
          </a:lstStyle>
          <a:p>
            <a:pPr algn="l">
              <a:lnSpc>
                <a:spcPct val="102000"/>
              </a:lnSpc>
              <a:buNone/>
              <a:defRPr sz="1350" b="0">
                <a:solidFill>
                  <a:srgbClr val="637279"/>
                </a:solidFill>
                <a:latin typeface="Arial" panose="020B0604020202090204"/>
                <a:ea typeface="Arial" panose="020B0604020202090204"/>
                <a:cs typeface="Arial" panose="020B0604020202090204"/>
              </a:defRPr>
            </a:pPr>
            <a:r>
              <a:rPr sz="1350" b="0">
                <a:solidFill>
                  <a:srgbClr val="637279"/>
                </a:solidFill>
                <a:latin typeface="Arial" panose="020B0604020202090204"/>
                <a:ea typeface="Arial" panose="020B0604020202090204"/>
                <a:cs typeface="Arial" panose="020B0604020202090204"/>
              </a:rPr>
              <a:t>The ethics statement recommends supplementary use and human judgment.</a:t>
            </a:r>
            <a:endParaRPr sz="1350" b="0">
              <a:solidFill>
                <a:srgbClr val="637279"/>
              </a:solidFill>
              <a:latin typeface="Arial" panose="020B0604020202090204"/>
              <a:ea typeface="Arial" panose="020B0604020202090204"/>
              <a:cs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A1E"/>
        </a:solidFill>
        <a:effectLst/>
      </p:bgPr>
    </p:bg>
    <p:spTree>
      <p:nvGrpSpPr>
        <p:cNvPr id="1" name=""/>
        <p:cNvGrpSpPr/>
        <p:nvPr/>
      </p:nvGrpSpPr>
      <p:grpSpPr/>
      <p:sp>
        <p:nvSpPr>
          <p:cNvPr id="20" name="矩形 19"/>
          <p:cNvSpPr>
            <a:spLocks noGrp="1"/>
          </p:cNvSpPr>
          <p:nvPr/>
        </p:nvSpPr>
        <p:spPr>
          <a:xfrm>
            <a:off x="590550" y="333375"/>
            <a:ext cx="10287000" cy="514350"/>
          </a:xfrm>
          <a:prstGeom prst="rect">
            <a:avLst/>
          </a:prstGeom>
          <a:noFill/>
          <a:ln w="0">
            <a:noFill/>
            <a:prstDash val="solid"/>
          </a:ln>
        </p:spPr>
        <p:txBody>
          <a:bodyPr wrap="square" lIns="0" tIns="0" rIns="0" bIns="0" anchor="t">
            <a:normAutofit/>
          </a:bodyPr>
          <a:lstStyle>
            <a:defPPr algn="l">
              <a:defRPr sz="2400" b="1">
                <a:solidFill>
                  <a:srgbClr val="FFFFFF"/>
                </a:solidFill>
                <a:latin typeface="Arial" panose="020B0604020202090204"/>
                <a:ea typeface="Arial" panose="020B0604020202090204"/>
                <a:cs typeface="Arial" panose="020B0604020202090204"/>
              </a:defRPr>
            </a:defPPr>
            <a:lvl1pPr algn="l">
              <a:defRPr sz="2400" b="1">
                <a:solidFill>
                  <a:srgbClr val="FFFFFF"/>
                </a:solidFill>
                <a:latin typeface="Arial" panose="020B0604020202090204"/>
                <a:ea typeface="Arial" panose="020B0604020202090204"/>
                <a:cs typeface="Arial" panose="020B0604020202090204"/>
              </a:defRPr>
            </a:lvl1pPr>
            <a:lvl2pPr algn="l">
              <a:defRPr sz="2400" b="1">
                <a:solidFill>
                  <a:srgbClr val="FFFFFF"/>
                </a:solidFill>
                <a:latin typeface="Arial" panose="020B0604020202090204"/>
                <a:ea typeface="Arial" panose="020B0604020202090204"/>
                <a:cs typeface="Arial" panose="020B0604020202090204"/>
              </a:defRPr>
            </a:lvl2pPr>
            <a:lvl3pPr algn="l">
              <a:defRPr sz="2400" b="1">
                <a:solidFill>
                  <a:srgbClr val="FFFFFF"/>
                </a:solidFill>
                <a:latin typeface="Arial" panose="020B0604020202090204"/>
                <a:ea typeface="Arial" panose="020B0604020202090204"/>
                <a:cs typeface="Arial" panose="020B0604020202090204"/>
              </a:defRPr>
            </a:lvl3pPr>
            <a:lvl4pPr algn="l">
              <a:defRPr sz="2400" b="1">
                <a:solidFill>
                  <a:srgbClr val="FFFFFF"/>
                </a:solidFill>
                <a:latin typeface="Arial" panose="020B0604020202090204"/>
                <a:ea typeface="Arial" panose="020B0604020202090204"/>
                <a:cs typeface="Arial" panose="020B0604020202090204"/>
              </a:defRPr>
            </a:lvl4pPr>
            <a:lvl5pPr algn="l">
              <a:defRPr sz="2400" b="1">
                <a:solidFill>
                  <a:srgbClr val="FFFFFF"/>
                </a:solidFill>
                <a:latin typeface="Arial" panose="020B0604020202090204"/>
                <a:ea typeface="Arial" panose="020B0604020202090204"/>
                <a:cs typeface="Arial" panose="020B0604020202090204"/>
              </a:defRPr>
            </a:lvl5pPr>
            <a:lvl6pPr algn="l">
              <a:defRPr sz="2400" b="1">
                <a:solidFill>
                  <a:srgbClr val="FFFFFF"/>
                </a:solidFill>
                <a:latin typeface="Arial" panose="020B0604020202090204"/>
                <a:ea typeface="Arial" panose="020B0604020202090204"/>
                <a:cs typeface="Arial" panose="020B0604020202090204"/>
              </a:defRPr>
            </a:lvl6pPr>
            <a:lvl7pPr algn="l">
              <a:defRPr sz="2400" b="1">
                <a:solidFill>
                  <a:srgbClr val="FFFFFF"/>
                </a:solidFill>
                <a:latin typeface="Arial" panose="020B0604020202090204"/>
                <a:ea typeface="Arial" panose="020B0604020202090204"/>
                <a:cs typeface="Arial" panose="020B0604020202090204"/>
              </a:defRPr>
            </a:lvl7pPr>
            <a:lvl8pPr algn="l">
              <a:defRPr sz="2400" b="1">
                <a:solidFill>
                  <a:srgbClr val="FFFFFF"/>
                </a:solidFill>
                <a:latin typeface="Arial" panose="020B0604020202090204"/>
                <a:ea typeface="Arial" panose="020B0604020202090204"/>
                <a:cs typeface="Arial" panose="020B0604020202090204"/>
              </a:defRPr>
            </a:lvl8pPr>
            <a:lvl9pPr algn="l">
              <a:defRPr sz="2400" b="1">
                <a:solidFill>
                  <a:srgbClr val="FFFFFF"/>
                </a:solidFill>
                <a:latin typeface="Arial" panose="020B0604020202090204"/>
                <a:ea typeface="Arial" panose="020B0604020202090204"/>
                <a:cs typeface="Arial" panose="020B0604020202090204"/>
              </a:defRPr>
            </a:lvl9pPr>
          </a:lstStyle>
          <a:p>
            <a:pPr algn="l">
              <a:lnSpc>
                <a:spcPct val="102000"/>
              </a:lnSpc>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Conclusions</a:t>
            </a:r>
            <a:endParaRPr sz="2400" b="1">
              <a:solidFill>
                <a:srgbClr val="FFFFFF"/>
              </a:solidFill>
              <a:latin typeface="Arial" panose="020B0604020202090204"/>
              <a:ea typeface="Arial" panose="020B0604020202090204"/>
              <a:cs typeface="Arial" panose="020B0604020202090204"/>
            </a:endParaRPr>
          </a:p>
        </p:txBody>
      </p:sp>
      <p:sp>
        <p:nvSpPr>
          <p:cNvPr id="2" name="直接连接符 1"/>
          <p:cNvSpPr>
            <a:spLocks noGrp="1"/>
          </p:cNvSpPr>
          <p:nvPr/>
        </p:nvSpPr>
        <p:spPr>
          <a:xfrm>
            <a:off x="590550" y="962025"/>
            <a:ext cx="11010900" cy="0"/>
          </a:xfrm>
          <a:prstGeom prst="line">
            <a:avLst/>
          </a:prstGeom>
          <a:noFill/>
          <a:ln w="9525">
            <a:solidFill>
              <a:srgbClr val="385057"/>
            </a:solidFill>
            <a:prstDash val="solid"/>
          </a:ln>
        </p:spPr>
      </p:sp>
      <p:sp>
        <p:nvSpPr>
          <p:cNvPr id="3" name="矩形 2"/>
          <p:cNvSpPr>
            <a:spLocks noGrp="1"/>
          </p:cNvSpPr>
          <p:nvPr/>
        </p:nvSpPr>
        <p:spPr>
          <a:xfrm>
            <a:off x="11115675" y="409575"/>
            <a:ext cx="476250" cy="247650"/>
          </a:xfrm>
          <a:prstGeom prst="rect">
            <a:avLst/>
          </a:prstGeom>
          <a:noFill/>
          <a:ln w="0">
            <a:noFill/>
            <a:prstDash val="solid"/>
          </a:ln>
        </p:spPr>
        <p:txBody>
          <a:bodyPr wrap="square" lIns="0" tIns="0" rIns="0" bIns="0" anchor="t">
            <a:normAutofit/>
          </a:bodyPr>
          <a:lstStyle>
            <a:defPPr algn="r">
              <a:defRPr sz="1125" b="1">
                <a:solidFill>
                  <a:srgbClr val="94A8AD"/>
                </a:solidFill>
                <a:latin typeface="Arial" panose="020B0604020202090204"/>
                <a:ea typeface="Arial" panose="020B0604020202090204"/>
                <a:cs typeface="Arial" panose="020B0604020202090204"/>
              </a:defRPr>
            </a:defPPr>
            <a:lvl1pPr algn="r">
              <a:defRPr sz="1125" b="1">
                <a:solidFill>
                  <a:srgbClr val="94A8AD"/>
                </a:solidFill>
                <a:latin typeface="Arial" panose="020B0604020202090204"/>
                <a:ea typeface="Arial" panose="020B0604020202090204"/>
                <a:cs typeface="Arial" panose="020B0604020202090204"/>
              </a:defRPr>
            </a:lvl1pPr>
            <a:lvl2pPr algn="r">
              <a:defRPr sz="1125" b="1">
                <a:solidFill>
                  <a:srgbClr val="94A8AD"/>
                </a:solidFill>
                <a:latin typeface="Arial" panose="020B0604020202090204"/>
                <a:ea typeface="Arial" panose="020B0604020202090204"/>
                <a:cs typeface="Arial" panose="020B0604020202090204"/>
              </a:defRPr>
            </a:lvl2pPr>
            <a:lvl3pPr algn="r">
              <a:defRPr sz="1125" b="1">
                <a:solidFill>
                  <a:srgbClr val="94A8AD"/>
                </a:solidFill>
                <a:latin typeface="Arial" panose="020B0604020202090204"/>
                <a:ea typeface="Arial" panose="020B0604020202090204"/>
                <a:cs typeface="Arial" panose="020B0604020202090204"/>
              </a:defRPr>
            </a:lvl3pPr>
            <a:lvl4pPr algn="r">
              <a:defRPr sz="1125" b="1">
                <a:solidFill>
                  <a:srgbClr val="94A8AD"/>
                </a:solidFill>
                <a:latin typeface="Arial" panose="020B0604020202090204"/>
                <a:ea typeface="Arial" panose="020B0604020202090204"/>
                <a:cs typeface="Arial" panose="020B0604020202090204"/>
              </a:defRPr>
            </a:lvl4pPr>
            <a:lvl5pPr algn="r">
              <a:defRPr sz="1125" b="1">
                <a:solidFill>
                  <a:srgbClr val="94A8AD"/>
                </a:solidFill>
                <a:latin typeface="Arial" panose="020B0604020202090204"/>
                <a:ea typeface="Arial" panose="020B0604020202090204"/>
                <a:cs typeface="Arial" panose="020B0604020202090204"/>
              </a:defRPr>
            </a:lvl5pPr>
            <a:lvl6pPr algn="r">
              <a:defRPr sz="1125" b="1">
                <a:solidFill>
                  <a:srgbClr val="94A8AD"/>
                </a:solidFill>
                <a:latin typeface="Arial" panose="020B0604020202090204"/>
                <a:ea typeface="Arial" panose="020B0604020202090204"/>
                <a:cs typeface="Arial" panose="020B0604020202090204"/>
              </a:defRPr>
            </a:lvl6pPr>
            <a:lvl7pPr algn="r">
              <a:defRPr sz="1125" b="1">
                <a:solidFill>
                  <a:srgbClr val="94A8AD"/>
                </a:solidFill>
                <a:latin typeface="Arial" panose="020B0604020202090204"/>
                <a:ea typeface="Arial" panose="020B0604020202090204"/>
                <a:cs typeface="Arial" panose="020B0604020202090204"/>
              </a:defRPr>
            </a:lvl7pPr>
            <a:lvl8pPr algn="r">
              <a:defRPr sz="1125" b="1">
                <a:solidFill>
                  <a:srgbClr val="94A8AD"/>
                </a:solidFill>
                <a:latin typeface="Arial" panose="020B0604020202090204"/>
                <a:ea typeface="Arial" panose="020B0604020202090204"/>
                <a:cs typeface="Arial" panose="020B0604020202090204"/>
              </a:defRPr>
            </a:lvl8pPr>
            <a:lvl9pPr algn="r">
              <a:defRPr sz="1125" b="1">
                <a:solidFill>
                  <a:srgbClr val="94A8AD"/>
                </a:solidFill>
                <a:latin typeface="Arial" panose="020B0604020202090204"/>
                <a:ea typeface="Arial" panose="020B0604020202090204"/>
                <a:cs typeface="Arial" panose="020B0604020202090204"/>
              </a:defRPr>
            </a:lvl9pPr>
          </a:lstStyle>
          <a:p>
            <a:pPr algn="r">
              <a:lnSpc>
                <a:spcPct val="102000"/>
              </a:lnSpc>
              <a:buNone/>
              <a:defRPr sz="1125" b="1">
                <a:solidFill>
                  <a:srgbClr val="94A8AD"/>
                </a:solidFill>
                <a:latin typeface="Arial" panose="020B0604020202090204"/>
                <a:ea typeface="Arial" panose="020B0604020202090204"/>
                <a:cs typeface="Arial" panose="020B0604020202090204"/>
              </a:defRPr>
            </a:pPr>
            <a:r>
              <a:rPr sz="1125" b="1">
                <a:solidFill>
                  <a:srgbClr val="94A8AD"/>
                </a:solidFill>
                <a:latin typeface="Arial" panose="020B0604020202090204"/>
                <a:ea typeface="Arial" panose="020B0604020202090204"/>
                <a:cs typeface="Arial" panose="020B0604020202090204"/>
              </a:rPr>
              <a:t>1</a:t>
            </a:r>
            <a:r>
              <a:rPr lang="en-US" sz="1125" b="1">
                <a:solidFill>
                  <a:srgbClr val="94A8AD"/>
                </a:solidFill>
                <a:latin typeface="Arial" panose="020B0604020202090204"/>
                <a:ea typeface="Arial" panose="020B0604020202090204"/>
                <a:cs typeface="Arial" panose="020B0604020202090204"/>
              </a:rPr>
              <a:t>6</a:t>
            </a:r>
            <a:endParaRPr lang="en-US" sz="1125" b="1">
              <a:solidFill>
                <a:srgbClr val="94A8AD"/>
              </a:solidFill>
              <a:latin typeface="Arial" panose="020B0604020202090204"/>
              <a:ea typeface="Arial" panose="020B0604020202090204"/>
              <a:cs typeface="Arial" panose="020B0604020202090204"/>
            </a:endParaRPr>
          </a:p>
        </p:txBody>
      </p:sp>
      <p:sp>
        <p:nvSpPr>
          <p:cNvPr id="4" name="矩形 3"/>
          <p:cNvSpPr>
            <a:spLocks noGrp="1"/>
          </p:cNvSpPr>
          <p:nvPr/>
        </p:nvSpPr>
        <p:spPr>
          <a:xfrm>
            <a:off x="714375" y="1238250"/>
            <a:ext cx="514350" cy="514350"/>
          </a:xfrm>
          <a:prstGeom prst="rect">
            <a:avLst/>
          </a:prstGeom>
          <a:noFill/>
          <a:ln w="0">
            <a:noFill/>
            <a:prstDash val="solid"/>
          </a:ln>
        </p:spPr>
        <p:txBody>
          <a:bodyPr wrap="square" lIns="0" tIns="0" rIns="0" bIns="0" anchor="ctr">
            <a:normAutofit/>
          </a:bodyPr>
          <a:lstStyle>
            <a:defPPr algn="ctr">
              <a:defRPr sz="1875" b="1">
                <a:solidFill>
                  <a:srgbClr val="147A78"/>
                </a:solidFill>
                <a:latin typeface="Arial" panose="020B0604020202090204"/>
                <a:ea typeface="Arial" panose="020B0604020202090204"/>
                <a:cs typeface="Arial" panose="020B0604020202090204"/>
              </a:defRPr>
            </a:defPPr>
            <a:lvl1pPr algn="ctr">
              <a:defRPr sz="1875" b="1">
                <a:solidFill>
                  <a:srgbClr val="147A78"/>
                </a:solidFill>
                <a:latin typeface="Arial" panose="020B0604020202090204"/>
                <a:ea typeface="Arial" panose="020B0604020202090204"/>
                <a:cs typeface="Arial" panose="020B0604020202090204"/>
              </a:defRPr>
            </a:lvl1pPr>
            <a:lvl2pPr algn="ctr">
              <a:defRPr sz="1875" b="1">
                <a:solidFill>
                  <a:srgbClr val="147A78"/>
                </a:solidFill>
                <a:latin typeface="Arial" panose="020B0604020202090204"/>
                <a:ea typeface="Arial" panose="020B0604020202090204"/>
                <a:cs typeface="Arial" panose="020B0604020202090204"/>
              </a:defRPr>
            </a:lvl2pPr>
            <a:lvl3pPr algn="ctr">
              <a:defRPr sz="1875" b="1">
                <a:solidFill>
                  <a:srgbClr val="147A78"/>
                </a:solidFill>
                <a:latin typeface="Arial" panose="020B0604020202090204"/>
                <a:ea typeface="Arial" panose="020B0604020202090204"/>
                <a:cs typeface="Arial" panose="020B0604020202090204"/>
              </a:defRPr>
            </a:lvl3pPr>
            <a:lvl4pPr algn="ctr">
              <a:defRPr sz="1875" b="1">
                <a:solidFill>
                  <a:srgbClr val="147A78"/>
                </a:solidFill>
                <a:latin typeface="Arial" panose="020B0604020202090204"/>
                <a:ea typeface="Arial" panose="020B0604020202090204"/>
                <a:cs typeface="Arial" panose="020B0604020202090204"/>
              </a:defRPr>
            </a:lvl4pPr>
            <a:lvl5pPr algn="ctr">
              <a:defRPr sz="1875" b="1">
                <a:solidFill>
                  <a:srgbClr val="147A78"/>
                </a:solidFill>
                <a:latin typeface="Arial" panose="020B0604020202090204"/>
                <a:ea typeface="Arial" panose="020B0604020202090204"/>
                <a:cs typeface="Arial" panose="020B0604020202090204"/>
              </a:defRPr>
            </a:lvl5pPr>
            <a:lvl6pPr algn="ctr">
              <a:defRPr sz="1875" b="1">
                <a:solidFill>
                  <a:srgbClr val="147A78"/>
                </a:solidFill>
                <a:latin typeface="Arial" panose="020B0604020202090204"/>
                <a:ea typeface="Arial" panose="020B0604020202090204"/>
                <a:cs typeface="Arial" panose="020B0604020202090204"/>
              </a:defRPr>
            </a:lvl6pPr>
            <a:lvl7pPr algn="ctr">
              <a:defRPr sz="1875" b="1">
                <a:solidFill>
                  <a:srgbClr val="147A78"/>
                </a:solidFill>
                <a:latin typeface="Arial" panose="020B0604020202090204"/>
                <a:ea typeface="Arial" panose="020B0604020202090204"/>
                <a:cs typeface="Arial" panose="020B0604020202090204"/>
              </a:defRPr>
            </a:lvl7pPr>
            <a:lvl8pPr algn="ctr">
              <a:defRPr sz="1875" b="1">
                <a:solidFill>
                  <a:srgbClr val="147A78"/>
                </a:solidFill>
                <a:latin typeface="Arial" panose="020B0604020202090204"/>
                <a:ea typeface="Arial" panose="020B0604020202090204"/>
                <a:cs typeface="Arial" panose="020B0604020202090204"/>
              </a:defRPr>
            </a:lvl8pPr>
            <a:lvl9pPr algn="ctr">
              <a:defRPr sz="1875" b="1">
                <a:solidFill>
                  <a:srgbClr val="147A78"/>
                </a:solidFill>
                <a:latin typeface="Arial" panose="020B0604020202090204"/>
                <a:ea typeface="Arial" panose="020B0604020202090204"/>
                <a:cs typeface="Arial" panose="020B0604020202090204"/>
              </a:defRPr>
            </a:lvl9pPr>
          </a:lstStyle>
          <a:p>
            <a:pPr algn="ctr">
              <a:lnSpc>
                <a:spcPct val="102000"/>
              </a:lnSpc>
              <a:buNone/>
              <a:defRPr sz="1875" b="1">
                <a:solidFill>
                  <a:srgbClr val="147A78"/>
                </a:solidFill>
                <a:latin typeface="Arial" panose="020B0604020202090204"/>
                <a:ea typeface="Arial" panose="020B0604020202090204"/>
                <a:cs typeface="Arial" panose="020B0604020202090204"/>
              </a:defRPr>
            </a:pPr>
            <a:r>
              <a:rPr sz="1875" b="1">
                <a:solidFill>
                  <a:srgbClr val="147A78"/>
                </a:solidFill>
                <a:latin typeface="Arial" panose="020B0604020202090204"/>
                <a:ea typeface="Arial" panose="020B0604020202090204"/>
                <a:cs typeface="Arial" panose="020B0604020202090204"/>
              </a:rPr>
              <a:t>1</a:t>
            </a:r>
            <a:endParaRPr sz="1875" b="1">
              <a:solidFill>
                <a:srgbClr val="147A78"/>
              </a:solidFill>
              <a:latin typeface="Arial" panose="020B0604020202090204"/>
              <a:ea typeface="Arial" panose="020B0604020202090204"/>
              <a:cs typeface="Arial" panose="020B0604020202090204"/>
            </a:endParaRPr>
          </a:p>
        </p:txBody>
      </p:sp>
      <p:sp>
        <p:nvSpPr>
          <p:cNvPr id="5" name="矩形 4"/>
          <p:cNvSpPr>
            <a:spLocks noGrp="1"/>
          </p:cNvSpPr>
          <p:nvPr/>
        </p:nvSpPr>
        <p:spPr>
          <a:xfrm>
            <a:off x="1524000" y="1276350"/>
            <a:ext cx="2095500" cy="342900"/>
          </a:xfrm>
          <a:prstGeom prst="rect">
            <a:avLst/>
          </a:prstGeom>
          <a:noFill/>
          <a:ln w="0">
            <a:noFill/>
            <a:prstDash val="solid"/>
          </a:ln>
        </p:spPr>
        <p:txBody>
          <a:bodyPr wrap="square" lIns="0" tIns="0" rIns="0" bIns="0" anchor="t">
            <a:normAutofit/>
          </a:bodyPr>
          <a:lstStyle>
            <a:defPPr algn="l">
              <a:defRPr sz="1725" b="1">
                <a:solidFill>
                  <a:srgbClr val="FFFFFF"/>
                </a:solidFill>
                <a:latin typeface="Arial" panose="020B0604020202090204"/>
                <a:ea typeface="Arial" panose="020B0604020202090204"/>
                <a:cs typeface="Arial" panose="020B0604020202090204"/>
              </a:defRPr>
            </a:defPPr>
            <a:lvl1pPr algn="l">
              <a:defRPr sz="1725" b="1">
                <a:solidFill>
                  <a:srgbClr val="FFFFFF"/>
                </a:solidFill>
                <a:latin typeface="Arial" panose="020B0604020202090204"/>
                <a:ea typeface="Arial" panose="020B0604020202090204"/>
                <a:cs typeface="Arial" panose="020B0604020202090204"/>
              </a:defRPr>
            </a:lvl1pPr>
            <a:lvl2pPr algn="l">
              <a:defRPr sz="1725" b="1">
                <a:solidFill>
                  <a:srgbClr val="FFFFFF"/>
                </a:solidFill>
                <a:latin typeface="Arial" panose="020B0604020202090204"/>
                <a:ea typeface="Arial" panose="020B0604020202090204"/>
                <a:cs typeface="Arial" panose="020B0604020202090204"/>
              </a:defRPr>
            </a:lvl2pPr>
            <a:lvl3pPr algn="l">
              <a:defRPr sz="1725" b="1">
                <a:solidFill>
                  <a:srgbClr val="FFFFFF"/>
                </a:solidFill>
                <a:latin typeface="Arial" panose="020B0604020202090204"/>
                <a:ea typeface="Arial" panose="020B0604020202090204"/>
                <a:cs typeface="Arial" panose="020B0604020202090204"/>
              </a:defRPr>
            </a:lvl3pPr>
            <a:lvl4pPr algn="l">
              <a:defRPr sz="1725" b="1">
                <a:solidFill>
                  <a:srgbClr val="FFFFFF"/>
                </a:solidFill>
                <a:latin typeface="Arial" panose="020B0604020202090204"/>
                <a:ea typeface="Arial" panose="020B0604020202090204"/>
                <a:cs typeface="Arial" panose="020B0604020202090204"/>
              </a:defRPr>
            </a:lvl4pPr>
            <a:lvl5pPr algn="l">
              <a:defRPr sz="1725" b="1">
                <a:solidFill>
                  <a:srgbClr val="FFFFFF"/>
                </a:solidFill>
                <a:latin typeface="Arial" panose="020B0604020202090204"/>
                <a:ea typeface="Arial" panose="020B0604020202090204"/>
                <a:cs typeface="Arial" panose="020B0604020202090204"/>
              </a:defRPr>
            </a:lvl5pPr>
            <a:lvl6pPr algn="l">
              <a:defRPr sz="1725" b="1">
                <a:solidFill>
                  <a:srgbClr val="FFFFFF"/>
                </a:solidFill>
                <a:latin typeface="Arial" panose="020B0604020202090204"/>
                <a:ea typeface="Arial" panose="020B0604020202090204"/>
                <a:cs typeface="Arial" panose="020B0604020202090204"/>
              </a:defRPr>
            </a:lvl6pPr>
            <a:lvl7pPr algn="l">
              <a:defRPr sz="1725" b="1">
                <a:solidFill>
                  <a:srgbClr val="FFFFFF"/>
                </a:solidFill>
                <a:latin typeface="Arial" panose="020B0604020202090204"/>
                <a:ea typeface="Arial" panose="020B0604020202090204"/>
                <a:cs typeface="Arial" panose="020B0604020202090204"/>
              </a:defRPr>
            </a:lvl7pPr>
            <a:lvl8pPr algn="l">
              <a:defRPr sz="1725" b="1">
                <a:solidFill>
                  <a:srgbClr val="FFFFFF"/>
                </a:solidFill>
                <a:latin typeface="Arial" panose="020B0604020202090204"/>
                <a:ea typeface="Arial" panose="020B0604020202090204"/>
                <a:cs typeface="Arial" panose="020B0604020202090204"/>
              </a:defRPr>
            </a:lvl8pPr>
            <a:lvl9pPr algn="l">
              <a:defRPr sz="1725" b="1">
                <a:solidFill>
                  <a:srgbClr val="FFFFFF"/>
                </a:solidFill>
                <a:latin typeface="Arial" panose="020B0604020202090204"/>
                <a:ea typeface="Arial" panose="020B0604020202090204"/>
                <a:cs typeface="Arial" panose="020B0604020202090204"/>
              </a:defRPr>
            </a:lvl9pPr>
          </a:lstStyle>
          <a:p>
            <a:pPr algn="l">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Signal</a:t>
            </a:r>
            <a:endParaRPr sz="1725" b="1">
              <a:solidFill>
                <a:srgbClr val="FFFFFF"/>
              </a:solidFill>
              <a:latin typeface="Arial" panose="020B0604020202090204"/>
              <a:ea typeface="Arial" panose="020B0604020202090204"/>
              <a:cs typeface="Arial" panose="020B0604020202090204"/>
            </a:endParaRPr>
          </a:p>
        </p:txBody>
      </p:sp>
      <p:sp>
        <p:nvSpPr>
          <p:cNvPr id="6" name="矩形 5"/>
          <p:cNvSpPr>
            <a:spLocks noGrp="1"/>
          </p:cNvSpPr>
          <p:nvPr/>
        </p:nvSpPr>
        <p:spPr>
          <a:xfrm>
            <a:off x="3810000" y="1276350"/>
            <a:ext cx="7239000" cy="419100"/>
          </a:xfrm>
          <a:prstGeom prst="rect">
            <a:avLst/>
          </a:prstGeom>
          <a:noFill/>
          <a:ln w="0">
            <a:noFill/>
            <a:prstDash val="solid"/>
          </a:ln>
        </p:spPr>
        <p:txBody>
          <a:bodyPr wrap="square" lIns="0" tIns="0" rIns="0" bIns="0" anchor="t">
            <a:normAutofit/>
          </a:bodyPr>
          <a:lstStyle>
            <a:defPPr algn="l">
              <a:defRPr sz="1500" b="0">
                <a:solidFill>
                  <a:srgbClr val="C8D3D5"/>
                </a:solidFill>
                <a:latin typeface="Arial" panose="020B0604020202090204"/>
                <a:ea typeface="Arial" panose="020B0604020202090204"/>
                <a:cs typeface="Arial" panose="020B0604020202090204"/>
              </a:defRPr>
            </a:defPPr>
            <a:lvl1pPr algn="l">
              <a:defRPr sz="1500" b="0">
                <a:solidFill>
                  <a:srgbClr val="C8D3D5"/>
                </a:solidFill>
                <a:latin typeface="Arial" panose="020B0604020202090204"/>
                <a:ea typeface="Arial" panose="020B0604020202090204"/>
                <a:cs typeface="Arial" panose="020B0604020202090204"/>
              </a:defRPr>
            </a:lvl1pPr>
            <a:lvl2pPr algn="l">
              <a:defRPr sz="1500" b="0">
                <a:solidFill>
                  <a:srgbClr val="C8D3D5"/>
                </a:solidFill>
                <a:latin typeface="Arial" panose="020B0604020202090204"/>
                <a:ea typeface="Arial" panose="020B0604020202090204"/>
                <a:cs typeface="Arial" panose="020B0604020202090204"/>
              </a:defRPr>
            </a:lvl2pPr>
            <a:lvl3pPr algn="l">
              <a:defRPr sz="1500" b="0">
                <a:solidFill>
                  <a:srgbClr val="C8D3D5"/>
                </a:solidFill>
                <a:latin typeface="Arial" panose="020B0604020202090204"/>
                <a:ea typeface="Arial" panose="020B0604020202090204"/>
                <a:cs typeface="Arial" panose="020B0604020202090204"/>
              </a:defRPr>
            </a:lvl3pPr>
            <a:lvl4pPr algn="l">
              <a:defRPr sz="1500" b="0">
                <a:solidFill>
                  <a:srgbClr val="C8D3D5"/>
                </a:solidFill>
                <a:latin typeface="Arial" panose="020B0604020202090204"/>
                <a:ea typeface="Arial" panose="020B0604020202090204"/>
                <a:cs typeface="Arial" panose="020B0604020202090204"/>
              </a:defRPr>
            </a:lvl4pPr>
            <a:lvl5pPr algn="l">
              <a:defRPr sz="1500" b="0">
                <a:solidFill>
                  <a:srgbClr val="C8D3D5"/>
                </a:solidFill>
                <a:latin typeface="Arial" panose="020B0604020202090204"/>
                <a:ea typeface="Arial" panose="020B0604020202090204"/>
                <a:cs typeface="Arial" panose="020B0604020202090204"/>
              </a:defRPr>
            </a:lvl5pPr>
            <a:lvl6pPr algn="l">
              <a:defRPr sz="1500" b="0">
                <a:solidFill>
                  <a:srgbClr val="C8D3D5"/>
                </a:solidFill>
                <a:latin typeface="Arial" panose="020B0604020202090204"/>
                <a:ea typeface="Arial" panose="020B0604020202090204"/>
                <a:cs typeface="Arial" panose="020B0604020202090204"/>
              </a:defRPr>
            </a:lvl6pPr>
            <a:lvl7pPr algn="l">
              <a:defRPr sz="1500" b="0">
                <a:solidFill>
                  <a:srgbClr val="C8D3D5"/>
                </a:solidFill>
                <a:latin typeface="Arial" panose="020B0604020202090204"/>
                <a:ea typeface="Arial" panose="020B0604020202090204"/>
                <a:cs typeface="Arial" panose="020B0604020202090204"/>
              </a:defRPr>
            </a:lvl7pPr>
            <a:lvl8pPr algn="l">
              <a:defRPr sz="1500" b="0">
                <a:solidFill>
                  <a:srgbClr val="C8D3D5"/>
                </a:solidFill>
                <a:latin typeface="Arial" panose="020B0604020202090204"/>
                <a:ea typeface="Arial" panose="020B0604020202090204"/>
                <a:cs typeface="Arial" panose="020B0604020202090204"/>
              </a:defRPr>
            </a:lvl8pPr>
            <a:lvl9pPr algn="l">
              <a:defRPr sz="1500" b="0">
                <a:solidFill>
                  <a:srgbClr val="C8D3D5"/>
                </a:solidFill>
                <a:latin typeface="Arial" panose="020B0604020202090204"/>
                <a:ea typeface="Arial" panose="020B0604020202090204"/>
                <a:cs typeface="Arial" panose="020B0604020202090204"/>
              </a:defRPr>
            </a:lvl9pPr>
          </a:lstStyle>
          <a:p>
            <a:pPr algn="l">
              <a:lnSpc>
                <a:spcPct val="102000"/>
              </a:lnSpc>
              <a:buNone/>
              <a:defRPr sz="1500" b="0">
                <a:solidFill>
                  <a:srgbClr val="C8D3D5"/>
                </a:solidFill>
                <a:latin typeface="Arial" panose="020B0604020202090204"/>
                <a:ea typeface="Arial" panose="020B0604020202090204"/>
                <a:cs typeface="Arial" panose="020B0604020202090204"/>
              </a:defRPr>
            </a:pPr>
            <a:r>
              <a:rPr sz="1500" b="0">
                <a:solidFill>
                  <a:srgbClr val="C8D3D5"/>
                </a:solidFill>
                <a:latin typeface="Arial" panose="020B0604020202090204"/>
                <a:ea typeface="Arial" panose="020B0604020202090204"/>
                <a:cs typeface="Arial" panose="020B0604020202090204"/>
              </a:rPr>
              <a:t>Human and LLM text produce different local TPS dynamics</a:t>
            </a:r>
            <a:endParaRPr sz="1500" b="0">
              <a:solidFill>
                <a:srgbClr val="C8D3D5"/>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14375" y="2114550"/>
            <a:ext cx="514350" cy="514350"/>
          </a:xfrm>
          <a:prstGeom prst="rect">
            <a:avLst/>
          </a:prstGeom>
          <a:noFill/>
          <a:ln w="0">
            <a:noFill/>
            <a:prstDash val="solid"/>
          </a:ln>
        </p:spPr>
        <p:txBody>
          <a:bodyPr wrap="square" lIns="0" tIns="0" rIns="0" bIns="0" anchor="ctr">
            <a:normAutofit/>
          </a:bodyPr>
          <a:lstStyle>
            <a:defPPr algn="ctr">
              <a:defRPr sz="1875" b="1">
                <a:solidFill>
                  <a:srgbClr val="E7684A"/>
                </a:solidFill>
                <a:latin typeface="Arial" panose="020B0604020202090204"/>
                <a:ea typeface="Arial" panose="020B0604020202090204"/>
                <a:cs typeface="Arial" panose="020B0604020202090204"/>
              </a:defRPr>
            </a:defPPr>
            <a:lvl1pPr algn="ctr">
              <a:defRPr sz="1875" b="1">
                <a:solidFill>
                  <a:srgbClr val="E7684A"/>
                </a:solidFill>
                <a:latin typeface="Arial" panose="020B0604020202090204"/>
                <a:ea typeface="Arial" panose="020B0604020202090204"/>
                <a:cs typeface="Arial" panose="020B0604020202090204"/>
              </a:defRPr>
            </a:lvl1pPr>
            <a:lvl2pPr algn="ctr">
              <a:defRPr sz="1875" b="1">
                <a:solidFill>
                  <a:srgbClr val="E7684A"/>
                </a:solidFill>
                <a:latin typeface="Arial" panose="020B0604020202090204"/>
                <a:ea typeface="Arial" panose="020B0604020202090204"/>
                <a:cs typeface="Arial" panose="020B0604020202090204"/>
              </a:defRPr>
            </a:lvl2pPr>
            <a:lvl3pPr algn="ctr">
              <a:defRPr sz="1875" b="1">
                <a:solidFill>
                  <a:srgbClr val="E7684A"/>
                </a:solidFill>
                <a:latin typeface="Arial" panose="020B0604020202090204"/>
                <a:ea typeface="Arial" panose="020B0604020202090204"/>
                <a:cs typeface="Arial" panose="020B0604020202090204"/>
              </a:defRPr>
            </a:lvl3pPr>
            <a:lvl4pPr algn="ctr">
              <a:defRPr sz="1875" b="1">
                <a:solidFill>
                  <a:srgbClr val="E7684A"/>
                </a:solidFill>
                <a:latin typeface="Arial" panose="020B0604020202090204"/>
                <a:ea typeface="Arial" panose="020B0604020202090204"/>
                <a:cs typeface="Arial" panose="020B0604020202090204"/>
              </a:defRPr>
            </a:lvl4pPr>
            <a:lvl5pPr algn="ctr">
              <a:defRPr sz="1875" b="1">
                <a:solidFill>
                  <a:srgbClr val="E7684A"/>
                </a:solidFill>
                <a:latin typeface="Arial" panose="020B0604020202090204"/>
                <a:ea typeface="Arial" panose="020B0604020202090204"/>
                <a:cs typeface="Arial" panose="020B0604020202090204"/>
              </a:defRPr>
            </a:lvl5pPr>
            <a:lvl6pPr algn="ctr">
              <a:defRPr sz="1875" b="1">
                <a:solidFill>
                  <a:srgbClr val="E7684A"/>
                </a:solidFill>
                <a:latin typeface="Arial" panose="020B0604020202090204"/>
                <a:ea typeface="Arial" panose="020B0604020202090204"/>
                <a:cs typeface="Arial" panose="020B0604020202090204"/>
              </a:defRPr>
            </a:lvl6pPr>
            <a:lvl7pPr algn="ctr">
              <a:defRPr sz="1875" b="1">
                <a:solidFill>
                  <a:srgbClr val="E7684A"/>
                </a:solidFill>
                <a:latin typeface="Arial" panose="020B0604020202090204"/>
                <a:ea typeface="Arial" panose="020B0604020202090204"/>
                <a:cs typeface="Arial" panose="020B0604020202090204"/>
              </a:defRPr>
            </a:lvl7pPr>
            <a:lvl8pPr algn="ctr">
              <a:defRPr sz="1875" b="1">
                <a:solidFill>
                  <a:srgbClr val="E7684A"/>
                </a:solidFill>
                <a:latin typeface="Arial" panose="020B0604020202090204"/>
                <a:ea typeface="Arial" panose="020B0604020202090204"/>
                <a:cs typeface="Arial" panose="020B0604020202090204"/>
              </a:defRPr>
            </a:lvl8pPr>
            <a:lvl9pPr algn="ctr">
              <a:defRPr sz="1875" b="1">
                <a:solidFill>
                  <a:srgbClr val="E7684A"/>
                </a:solidFill>
                <a:latin typeface="Arial" panose="020B0604020202090204"/>
                <a:ea typeface="Arial" panose="020B0604020202090204"/>
                <a:cs typeface="Arial" panose="020B0604020202090204"/>
              </a:defRPr>
            </a:lvl9pPr>
          </a:lstStyle>
          <a:p>
            <a:pPr algn="ctr">
              <a:lnSpc>
                <a:spcPct val="102000"/>
              </a:lnSpc>
              <a:buNone/>
              <a:defRPr sz="1875" b="1">
                <a:solidFill>
                  <a:srgbClr val="E7684A"/>
                </a:solidFill>
                <a:latin typeface="Arial" panose="020B0604020202090204"/>
                <a:ea typeface="Arial" panose="020B0604020202090204"/>
                <a:cs typeface="Arial" panose="020B0604020202090204"/>
              </a:defRPr>
            </a:pPr>
            <a:r>
              <a:rPr sz="1875" b="1">
                <a:solidFill>
                  <a:srgbClr val="E7684A"/>
                </a:solidFill>
                <a:latin typeface="Arial" panose="020B0604020202090204"/>
                <a:ea typeface="Arial" panose="020B0604020202090204"/>
                <a:cs typeface="Arial" panose="020B0604020202090204"/>
              </a:rPr>
              <a:t>2</a:t>
            </a:r>
            <a:endParaRPr sz="1875" b="1">
              <a:solidFill>
                <a:srgbClr val="E7684A"/>
              </a:solidFill>
              <a:latin typeface="Arial" panose="020B0604020202090204"/>
              <a:ea typeface="Arial" panose="020B0604020202090204"/>
              <a:cs typeface="Arial" panose="020B0604020202090204"/>
            </a:endParaRPr>
          </a:p>
        </p:txBody>
      </p:sp>
      <p:sp>
        <p:nvSpPr>
          <p:cNvPr id="8" name="矩形 7"/>
          <p:cNvSpPr>
            <a:spLocks noGrp="1"/>
          </p:cNvSpPr>
          <p:nvPr/>
        </p:nvSpPr>
        <p:spPr>
          <a:xfrm>
            <a:off x="1524000" y="2152650"/>
            <a:ext cx="2095500" cy="342900"/>
          </a:xfrm>
          <a:prstGeom prst="rect">
            <a:avLst/>
          </a:prstGeom>
          <a:noFill/>
          <a:ln w="0">
            <a:noFill/>
            <a:prstDash val="solid"/>
          </a:ln>
        </p:spPr>
        <p:txBody>
          <a:bodyPr wrap="square" lIns="0" tIns="0" rIns="0" bIns="0" anchor="t">
            <a:normAutofit/>
          </a:bodyPr>
          <a:lstStyle>
            <a:defPPr algn="l">
              <a:defRPr sz="1725" b="1">
                <a:solidFill>
                  <a:srgbClr val="FFFFFF"/>
                </a:solidFill>
                <a:latin typeface="Arial" panose="020B0604020202090204"/>
                <a:ea typeface="Arial" panose="020B0604020202090204"/>
                <a:cs typeface="Arial" panose="020B0604020202090204"/>
              </a:defRPr>
            </a:defPPr>
            <a:lvl1pPr algn="l">
              <a:defRPr sz="1725" b="1">
                <a:solidFill>
                  <a:srgbClr val="FFFFFF"/>
                </a:solidFill>
                <a:latin typeface="Arial" panose="020B0604020202090204"/>
                <a:ea typeface="Arial" panose="020B0604020202090204"/>
                <a:cs typeface="Arial" panose="020B0604020202090204"/>
              </a:defRPr>
            </a:lvl1pPr>
            <a:lvl2pPr algn="l">
              <a:defRPr sz="1725" b="1">
                <a:solidFill>
                  <a:srgbClr val="FFFFFF"/>
                </a:solidFill>
                <a:latin typeface="Arial" panose="020B0604020202090204"/>
                <a:ea typeface="Arial" panose="020B0604020202090204"/>
                <a:cs typeface="Arial" panose="020B0604020202090204"/>
              </a:defRPr>
            </a:lvl2pPr>
            <a:lvl3pPr algn="l">
              <a:defRPr sz="1725" b="1">
                <a:solidFill>
                  <a:srgbClr val="FFFFFF"/>
                </a:solidFill>
                <a:latin typeface="Arial" panose="020B0604020202090204"/>
                <a:ea typeface="Arial" panose="020B0604020202090204"/>
                <a:cs typeface="Arial" panose="020B0604020202090204"/>
              </a:defRPr>
            </a:lvl3pPr>
            <a:lvl4pPr algn="l">
              <a:defRPr sz="1725" b="1">
                <a:solidFill>
                  <a:srgbClr val="FFFFFF"/>
                </a:solidFill>
                <a:latin typeface="Arial" panose="020B0604020202090204"/>
                <a:ea typeface="Arial" panose="020B0604020202090204"/>
                <a:cs typeface="Arial" panose="020B0604020202090204"/>
              </a:defRPr>
            </a:lvl4pPr>
            <a:lvl5pPr algn="l">
              <a:defRPr sz="1725" b="1">
                <a:solidFill>
                  <a:srgbClr val="FFFFFF"/>
                </a:solidFill>
                <a:latin typeface="Arial" panose="020B0604020202090204"/>
                <a:ea typeface="Arial" panose="020B0604020202090204"/>
                <a:cs typeface="Arial" panose="020B0604020202090204"/>
              </a:defRPr>
            </a:lvl5pPr>
            <a:lvl6pPr algn="l">
              <a:defRPr sz="1725" b="1">
                <a:solidFill>
                  <a:srgbClr val="FFFFFF"/>
                </a:solidFill>
                <a:latin typeface="Arial" panose="020B0604020202090204"/>
                <a:ea typeface="Arial" panose="020B0604020202090204"/>
                <a:cs typeface="Arial" panose="020B0604020202090204"/>
              </a:defRPr>
            </a:lvl6pPr>
            <a:lvl7pPr algn="l">
              <a:defRPr sz="1725" b="1">
                <a:solidFill>
                  <a:srgbClr val="FFFFFF"/>
                </a:solidFill>
                <a:latin typeface="Arial" panose="020B0604020202090204"/>
                <a:ea typeface="Arial" panose="020B0604020202090204"/>
                <a:cs typeface="Arial" panose="020B0604020202090204"/>
              </a:defRPr>
            </a:lvl7pPr>
            <a:lvl8pPr algn="l">
              <a:defRPr sz="1725" b="1">
                <a:solidFill>
                  <a:srgbClr val="FFFFFF"/>
                </a:solidFill>
                <a:latin typeface="Arial" panose="020B0604020202090204"/>
                <a:ea typeface="Arial" panose="020B0604020202090204"/>
                <a:cs typeface="Arial" panose="020B0604020202090204"/>
              </a:defRPr>
            </a:lvl8pPr>
            <a:lvl9pPr algn="l">
              <a:defRPr sz="1725" b="1">
                <a:solidFill>
                  <a:srgbClr val="FFFFFF"/>
                </a:solidFill>
                <a:latin typeface="Arial" panose="020B0604020202090204"/>
                <a:ea typeface="Arial" panose="020B0604020202090204"/>
                <a:cs typeface="Arial" panose="020B0604020202090204"/>
              </a:defRPr>
            </a:lvl9pPr>
          </a:lstStyle>
          <a:p>
            <a:pPr algn="l">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Method</a:t>
            </a:r>
            <a:endParaRPr sz="1725" b="1">
              <a:solidFill>
                <a:srgbClr val="FFFFFF"/>
              </a:solidFill>
              <a:latin typeface="Arial" panose="020B0604020202090204"/>
              <a:ea typeface="Arial" panose="020B0604020202090204"/>
              <a:cs typeface="Arial" panose="020B0604020202090204"/>
            </a:endParaRPr>
          </a:p>
        </p:txBody>
      </p:sp>
      <p:sp>
        <p:nvSpPr>
          <p:cNvPr id="9" name="矩形 8"/>
          <p:cNvSpPr>
            <a:spLocks noGrp="1"/>
          </p:cNvSpPr>
          <p:nvPr/>
        </p:nvSpPr>
        <p:spPr>
          <a:xfrm>
            <a:off x="3810000" y="2152650"/>
            <a:ext cx="7239000" cy="419100"/>
          </a:xfrm>
          <a:prstGeom prst="rect">
            <a:avLst/>
          </a:prstGeom>
          <a:noFill/>
          <a:ln w="0">
            <a:noFill/>
            <a:prstDash val="solid"/>
          </a:ln>
        </p:spPr>
        <p:txBody>
          <a:bodyPr wrap="square" lIns="0" tIns="0" rIns="0" bIns="0" anchor="t">
            <a:normAutofit/>
          </a:bodyPr>
          <a:lstStyle>
            <a:defPPr algn="l">
              <a:defRPr sz="1500" b="0">
                <a:solidFill>
                  <a:srgbClr val="C8D3D5"/>
                </a:solidFill>
                <a:latin typeface="Arial" panose="020B0604020202090204"/>
                <a:ea typeface="Arial" panose="020B0604020202090204"/>
                <a:cs typeface="Arial" panose="020B0604020202090204"/>
              </a:defRPr>
            </a:defPPr>
            <a:lvl1pPr algn="l">
              <a:defRPr sz="1500" b="0">
                <a:solidFill>
                  <a:srgbClr val="C8D3D5"/>
                </a:solidFill>
                <a:latin typeface="Arial" panose="020B0604020202090204"/>
                <a:ea typeface="Arial" panose="020B0604020202090204"/>
                <a:cs typeface="Arial" panose="020B0604020202090204"/>
              </a:defRPr>
            </a:lvl1pPr>
            <a:lvl2pPr algn="l">
              <a:defRPr sz="1500" b="0">
                <a:solidFill>
                  <a:srgbClr val="C8D3D5"/>
                </a:solidFill>
                <a:latin typeface="Arial" panose="020B0604020202090204"/>
                <a:ea typeface="Arial" panose="020B0604020202090204"/>
                <a:cs typeface="Arial" panose="020B0604020202090204"/>
              </a:defRPr>
            </a:lvl2pPr>
            <a:lvl3pPr algn="l">
              <a:defRPr sz="1500" b="0">
                <a:solidFill>
                  <a:srgbClr val="C8D3D5"/>
                </a:solidFill>
                <a:latin typeface="Arial" panose="020B0604020202090204"/>
                <a:ea typeface="Arial" panose="020B0604020202090204"/>
                <a:cs typeface="Arial" panose="020B0604020202090204"/>
              </a:defRPr>
            </a:lvl3pPr>
            <a:lvl4pPr algn="l">
              <a:defRPr sz="1500" b="0">
                <a:solidFill>
                  <a:srgbClr val="C8D3D5"/>
                </a:solidFill>
                <a:latin typeface="Arial" panose="020B0604020202090204"/>
                <a:ea typeface="Arial" panose="020B0604020202090204"/>
                <a:cs typeface="Arial" panose="020B0604020202090204"/>
              </a:defRPr>
            </a:lvl4pPr>
            <a:lvl5pPr algn="l">
              <a:defRPr sz="1500" b="0">
                <a:solidFill>
                  <a:srgbClr val="C8D3D5"/>
                </a:solidFill>
                <a:latin typeface="Arial" panose="020B0604020202090204"/>
                <a:ea typeface="Arial" panose="020B0604020202090204"/>
                <a:cs typeface="Arial" panose="020B0604020202090204"/>
              </a:defRPr>
            </a:lvl5pPr>
            <a:lvl6pPr algn="l">
              <a:defRPr sz="1500" b="0">
                <a:solidFill>
                  <a:srgbClr val="C8D3D5"/>
                </a:solidFill>
                <a:latin typeface="Arial" panose="020B0604020202090204"/>
                <a:ea typeface="Arial" panose="020B0604020202090204"/>
                <a:cs typeface="Arial" panose="020B0604020202090204"/>
              </a:defRPr>
            </a:lvl6pPr>
            <a:lvl7pPr algn="l">
              <a:defRPr sz="1500" b="0">
                <a:solidFill>
                  <a:srgbClr val="C8D3D5"/>
                </a:solidFill>
                <a:latin typeface="Arial" panose="020B0604020202090204"/>
                <a:ea typeface="Arial" panose="020B0604020202090204"/>
                <a:cs typeface="Arial" panose="020B0604020202090204"/>
              </a:defRPr>
            </a:lvl7pPr>
            <a:lvl8pPr algn="l">
              <a:defRPr sz="1500" b="0">
                <a:solidFill>
                  <a:srgbClr val="C8D3D5"/>
                </a:solidFill>
                <a:latin typeface="Arial" panose="020B0604020202090204"/>
                <a:ea typeface="Arial" panose="020B0604020202090204"/>
                <a:cs typeface="Arial" panose="020B0604020202090204"/>
              </a:defRPr>
            </a:lvl8pPr>
            <a:lvl9pPr algn="l">
              <a:defRPr sz="1500" b="0">
                <a:solidFill>
                  <a:srgbClr val="C8D3D5"/>
                </a:solidFill>
                <a:latin typeface="Arial" panose="020B0604020202090204"/>
                <a:ea typeface="Arial" panose="020B0604020202090204"/>
                <a:cs typeface="Arial" panose="020B0604020202090204"/>
              </a:defRPr>
            </a:lvl9pPr>
          </a:lstStyle>
          <a:p>
            <a:pPr algn="l">
              <a:lnSpc>
                <a:spcPct val="102000"/>
              </a:lnSpc>
              <a:buNone/>
              <a:defRPr sz="1500" b="0">
                <a:solidFill>
                  <a:srgbClr val="C8D3D5"/>
                </a:solidFill>
                <a:latin typeface="Arial" panose="020B0604020202090204"/>
                <a:ea typeface="Arial" panose="020B0604020202090204"/>
                <a:cs typeface="Arial" panose="020B0604020202090204"/>
              </a:defRPr>
            </a:pPr>
            <a:r>
              <a:rPr sz="1500" b="0">
                <a:solidFill>
                  <a:srgbClr val="C8D3D5"/>
                </a:solidFill>
                <a:latin typeface="Arial" panose="020B0604020202090204"/>
                <a:ea typeface="Arial" panose="020B0604020202090204"/>
                <a:cs typeface="Arial" panose="020B0604020202090204"/>
              </a:rPr>
              <a:t>Lastde combines multiscale entropy with average likelihood</a:t>
            </a:r>
            <a:endParaRPr sz="1500" b="0">
              <a:solidFill>
                <a:srgbClr val="C8D3D5"/>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714375" y="2990850"/>
            <a:ext cx="514350" cy="514350"/>
          </a:xfrm>
          <a:prstGeom prst="rect">
            <a:avLst/>
          </a:prstGeom>
          <a:noFill/>
          <a:ln w="0">
            <a:noFill/>
            <a:prstDash val="solid"/>
          </a:ln>
        </p:spPr>
        <p:txBody>
          <a:bodyPr wrap="square" lIns="0" tIns="0" rIns="0" bIns="0" anchor="ctr">
            <a:normAutofit/>
          </a:bodyPr>
          <a:lstStyle>
            <a:defPPr algn="ctr">
              <a:defRPr sz="1875" b="1">
                <a:solidFill>
                  <a:srgbClr val="C99B27"/>
                </a:solidFill>
                <a:latin typeface="Arial" panose="020B0604020202090204"/>
                <a:ea typeface="Arial" panose="020B0604020202090204"/>
                <a:cs typeface="Arial" panose="020B0604020202090204"/>
              </a:defRPr>
            </a:defPPr>
            <a:lvl1pPr algn="ctr">
              <a:defRPr sz="1875" b="1">
                <a:solidFill>
                  <a:srgbClr val="C99B27"/>
                </a:solidFill>
                <a:latin typeface="Arial" panose="020B0604020202090204"/>
                <a:ea typeface="Arial" panose="020B0604020202090204"/>
                <a:cs typeface="Arial" panose="020B0604020202090204"/>
              </a:defRPr>
            </a:lvl1pPr>
            <a:lvl2pPr algn="ctr">
              <a:defRPr sz="1875" b="1">
                <a:solidFill>
                  <a:srgbClr val="C99B27"/>
                </a:solidFill>
                <a:latin typeface="Arial" panose="020B0604020202090204"/>
                <a:ea typeface="Arial" panose="020B0604020202090204"/>
                <a:cs typeface="Arial" panose="020B0604020202090204"/>
              </a:defRPr>
            </a:lvl2pPr>
            <a:lvl3pPr algn="ctr">
              <a:defRPr sz="1875" b="1">
                <a:solidFill>
                  <a:srgbClr val="C99B27"/>
                </a:solidFill>
                <a:latin typeface="Arial" panose="020B0604020202090204"/>
                <a:ea typeface="Arial" panose="020B0604020202090204"/>
                <a:cs typeface="Arial" panose="020B0604020202090204"/>
              </a:defRPr>
            </a:lvl3pPr>
            <a:lvl4pPr algn="ctr">
              <a:defRPr sz="1875" b="1">
                <a:solidFill>
                  <a:srgbClr val="C99B27"/>
                </a:solidFill>
                <a:latin typeface="Arial" panose="020B0604020202090204"/>
                <a:ea typeface="Arial" panose="020B0604020202090204"/>
                <a:cs typeface="Arial" panose="020B0604020202090204"/>
              </a:defRPr>
            </a:lvl4pPr>
            <a:lvl5pPr algn="ctr">
              <a:defRPr sz="1875" b="1">
                <a:solidFill>
                  <a:srgbClr val="C99B27"/>
                </a:solidFill>
                <a:latin typeface="Arial" panose="020B0604020202090204"/>
                <a:ea typeface="Arial" panose="020B0604020202090204"/>
                <a:cs typeface="Arial" panose="020B0604020202090204"/>
              </a:defRPr>
            </a:lvl5pPr>
            <a:lvl6pPr algn="ctr">
              <a:defRPr sz="1875" b="1">
                <a:solidFill>
                  <a:srgbClr val="C99B27"/>
                </a:solidFill>
                <a:latin typeface="Arial" panose="020B0604020202090204"/>
                <a:ea typeface="Arial" panose="020B0604020202090204"/>
                <a:cs typeface="Arial" panose="020B0604020202090204"/>
              </a:defRPr>
            </a:lvl6pPr>
            <a:lvl7pPr algn="ctr">
              <a:defRPr sz="1875" b="1">
                <a:solidFill>
                  <a:srgbClr val="C99B27"/>
                </a:solidFill>
                <a:latin typeface="Arial" panose="020B0604020202090204"/>
                <a:ea typeface="Arial" panose="020B0604020202090204"/>
                <a:cs typeface="Arial" panose="020B0604020202090204"/>
              </a:defRPr>
            </a:lvl7pPr>
            <a:lvl8pPr algn="ctr">
              <a:defRPr sz="1875" b="1">
                <a:solidFill>
                  <a:srgbClr val="C99B27"/>
                </a:solidFill>
                <a:latin typeface="Arial" panose="020B0604020202090204"/>
                <a:ea typeface="Arial" panose="020B0604020202090204"/>
                <a:cs typeface="Arial" panose="020B0604020202090204"/>
              </a:defRPr>
            </a:lvl8pPr>
            <a:lvl9pPr algn="ctr">
              <a:defRPr sz="1875" b="1">
                <a:solidFill>
                  <a:srgbClr val="C99B27"/>
                </a:solidFill>
                <a:latin typeface="Arial" panose="020B0604020202090204"/>
                <a:ea typeface="Arial" panose="020B0604020202090204"/>
                <a:cs typeface="Arial" panose="020B0604020202090204"/>
              </a:defRPr>
            </a:lvl9pPr>
          </a:lstStyle>
          <a:p>
            <a:pPr algn="ctr">
              <a:lnSpc>
                <a:spcPct val="102000"/>
              </a:lnSpc>
              <a:buNone/>
              <a:defRPr sz="1875" b="1">
                <a:solidFill>
                  <a:srgbClr val="C99B27"/>
                </a:solidFill>
                <a:latin typeface="Arial" panose="020B0604020202090204"/>
                <a:ea typeface="Arial" panose="020B0604020202090204"/>
                <a:cs typeface="Arial" panose="020B0604020202090204"/>
              </a:defRPr>
            </a:pPr>
            <a:r>
              <a:rPr sz="1875" b="1">
                <a:solidFill>
                  <a:srgbClr val="C99B27"/>
                </a:solidFill>
                <a:latin typeface="Arial" panose="020B0604020202090204"/>
                <a:ea typeface="Arial" panose="020B0604020202090204"/>
                <a:cs typeface="Arial" panose="020B0604020202090204"/>
              </a:rPr>
              <a:t>3</a:t>
            </a:r>
            <a:endParaRPr sz="1875" b="1">
              <a:solidFill>
                <a:srgbClr val="C99B27"/>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1524000" y="3028950"/>
            <a:ext cx="2095500" cy="342900"/>
          </a:xfrm>
          <a:prstGeom prst="rect">
            <a:avLst/>
          </a:prstGeom>
          <a:noFill/>
          <a:ln w="0">
            <a:noFill/>
            <a:prstDash val="solid"/>
          </a:ln>
        </p:spPr>
        <p:txBody>
          <a:bodyPr wrap="square" lIns="0" tIns="0" rIns="0" bIns="0" anchor="t">
            <a:normAutofit/>
          </a:bodyPr>
          <a:lstStyle>
            <a:defPPr algn="l">
              <a:defRPr sz="1725" b="1">
                <a:solidFill>
                  <a:srgbClr val="FFFFFF"/>
                </a:solidFill>
                <a:latin typeface="Arial" panose="020B0604020202090204"/>
                <a:ea typeface="Arial" panose="020B0604020202090204"/>
                <a:cs typeface="Arial" panose="020B0604020202090204"/>
              </a:defRPr>
            </a:defPPr>
            <a:lvl1pPr algn="l">
              <a:defRPr sz="1725" b="1">
                <a:solidFill>
                  <a:srgbClr val="FFFFFF"/>
                </a:solidFill>
                <a:latin typeface="Arial" panose="020B0604020202090204"/>
                <a:ea typeface="Arial" panose="020B0604020202090204"/>
                <a:cs typeface="Arial" panose="020B0604020202090204"/>
              </a:defRPr>
            </a:lvl1pPr>
            <a:lvl2pPr algn="l">
              <a:defRPr sz="1725" b="1">
                <a:solidFill>
                  <a:srgbClr val="FFFFFF"/>
                </a:solidFill>
                <a:latin typeface="Arial" panose="020B0604020202090204"/>
                <a:ea typeface="Arial" panose="020B0604020202090204"/>
                <a:cs typeface="Arial" panose="020B0604020202090204"/>
              </a:defRPr>
            </a:lvl2pPr>
            <a:lvl3pPr algn="l">
              <a:defRPr sz="1725" b="1">
                <a:solidFill>
                  <a:srgbClr val="FFFFFF"/>
                </a:solidFill>
                <a:latin typeface="Arial" panose="020B0604020202090204"/>
                <a:ea typeface="Arial" panose="020B0604020202090204"/>
                <a:cs typeface="Arial" panose="020B0604020202090204"/>
              </a:defRPr>
            </a:lvl3pPr>
            <a:lvl4pPr algn="l">
              <a:defRPr sz="1725" b="1">
                <a:solidFill>
                  <a:srgbClr val="FFFFFF"/>
                </a:solidFill>
                <a:latin typeface="Arial" panose="020B0604020202090204"/>
                <a:ea typeface="Arial" panose="020B0604020202090204"/>
                <a:cs typeface="Arial" panose="020B0604020202090204"/>
              </a:defRPr>
            </a:lvl4pPr>
            <a:lvl5pPr algn="l">
              <a:defRPr sz="1725" b="1">
                <a:solidFill>
                  <a:srgbClr val="FFFFFF"/>
                </a:solidFill>
                <a:latin typeface="Arial" panose="020B0604020202090204"/>
                <a:ea typeface="Arial" panose="020B0604020202090204"/>
                <a:cs typeface="Arial" panose="020B0604020202090204"/>
              </a:defRPr>
            </a:lvl5pPr>
            <a:lvl6pPr algn="l">
              <a:defRPr sz="1725" b="1">
                <a:solidFill>
                  <a:srgbClr val="FFFFFF"/>
                </a:solidFill>
                <a:latin typeface="Arial" panose="020B0604020202090204"/>
                <a:ea typeface="Arial" panose="020B0604020202090204"/>
                <a:cs typeface="Arial" panose="020B0604020202090204"/>
              </a:defRPr>
            </a:lvl6pPr>
            <a:lvl7pPr algn="l">
              <a:defRPr sz="1725" b="1">
                <a:solidFill>
                  <a:srgbClr val="FFFFFF"/>
                </a:solidFill>
                <a:latin typeface="Arial" panose="020B0604020202090204"/>
                <a:ea typeface="Arial" panose="020B0604020202090204"/>
                <a:cs typeface="Arial" panose="020B0604020202090204"/>
              </a:defRPr>
            </a:lvl7pPr>
            <a:lvl8pPr algn="l">
              <a:defRPr sz="1725" b="1">
                <a:solidFill>
                  <a:srgbClr val="FFFFFF"/>
                </a:solidFill>
                <a:latin typeface="Arial" panose="020B0604020202090204"/>
                <a:ea typeface="Arial" panose="020B0604020202090204"/>
                <a:cs typeface="Arial" panose="020B0604020202090204"/>
              </a:defRPr>
            </a:lvl8pPr>
            <a:lvl9pPr algn="l">
              <a:defRPr sz="1725" b="1">
                <a:solidFill>
                  <a:srgbClr val="FFFFFF"/>
                </a:solidFill>
                <a:latin typeface="Arial" panose="020B0604020202090204"/>
                <a:ea typeface="Arial" panose="020B0604020202090204"/>
                <a:cs typeface="Arial" panose="020B0604020202090204"/>
              </a:defRPr>
            </a:lvl9pPr>
          </a:lstStyle>
          <a:p>
            <a:pPr algn="l">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Extension</a:t>
            </a:r>
            <a:endParaRPr sz="1725" b="1">
              <a:solidFill>
                <a:srgbClr val="FFFFFF"/>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3810000" y="3028950"/>
            <a:ext cx="7239000" cy="419100"/>
          </a:xfrm>
          <a:prstGeom prst="rect">
            <a:avLst/>
          </a:prstGeom>
          <a:noFill/>
          <a:ln w="0">
            <a:noFill/>
            <a:prstDash val="solid"/>
          </a:ln>
        </p:spPr>
        <p:txBody>
          <a:bodyPr wrap="square" lIns="0" tIns="0" rIns="0" bIns="0" anchor="t">
            <a:normAutofit/>
          </a:bodyPr>
          <a:lstStyle>
            <a:defPPr algn="l">
              <a:defRPr sz="1500" b="0">
                <a:solidFill>
                  <a:srgbClr val="C8D3D5"/>
                </a:solidFill>
                <a:latin typeface="Arial" panose="020B0604020202090204"/>
                <a:ea typeface="Arial" panose="020B0604020202090204"/>
                <a:cs typeface="Arial" panose="020B0604020202090204"/>
              </a:defRPr>
            </a:defPPr>
            <a:lvl1pPr algn="l">
              <a:defRPr sz="1500" b="0">
                <a:solidFill>
                  <a:srgbClr val="C8D3D5"/>
                </a:solidFill>
                <a:latin typeface="Arial" panose="020B0604020202090204"/>
                <a:ea typeface="Arial" panose="020B0604020202090204"/>
                <a:cs typeface="Arial" panose="020B0604020202090204"/>
              </a:defRPr>
            </a:lvl1pPr>
            <a:lvl2pPr algn="l">
              <a:defRPr sz="1500" b="0">
                <a:solidFill>
                  <a:srgbClr val="C8D3D5"/>
                </a:solidFill>
                <a:latin typeface="Arial" panose="020B0604020202090204"/>
                <a:ea typeface="Arial" panose="020B0604020202090204"/>
                <a:cs typeface="Arial" panose="020B0604020202090204"/>
              </a:defRPr>
            </a:lvl2pPr>
            <a:lvl3pPr algn="l">
              <a:defRPr sz="1500" b="0">
                <a:solidFill>
                  <a:srgbClr val="C8D3D5"/>
                </a:solidFill>
                <a:latin typeface="Arial" panose="020B0604020202090204"/>
                <a:ea typeface="Arial" panose="020B0604020202090204"/>
                <a:cs typeface="Arial" panose="020B0604020202090204"/>
              </a:defRPr>
            </a:lvl3pPr>
            <a:lvl4pPr algn="l">
              <a:defRPr sz="1500" b="0">
                <a:solidFill>
                  <a:srgbClr val="C8D3D5"/>
                </a:solidFill>
                <a:latin typeface="Arial" panose="020B0604020202090204"/>
                <a:ea typeface="Arial" panose="020B0604020202090204"/>
                <a:cs typeface="Arial" panose="020B0604020202090204"/>
              </a:defRPr>
            </a:lvl4pPr>
            <a:lvl5pPr algn="l">
              <a:defRPr sz="1500" b="0">
                <a:solidFill>
                  <a:srgbClr val="C8D3D5"/>
                </a:solidFill>
                <a:latin typeface="Arial" panose="020B0604020202090204"/>
                <a:ea typeface="Arial" panose="020B0604020202090204"/>
                <a:cs typeface="Arial" panose="020B0604020202090204"/>
              </a:defRPr>
            </a:lvl5pPr>
            <a:lvl6pPr algn="l">
              <a:defRPr sz="1500" b="0">
                <a:solidFill>
                  <a:srgbClr val="C8D3D5"/>
                </a:solidFill>
                <a:latin typeface="Arial" panose="020B0604020202090204"/>
                <a:ea typeface="Arial" panose="020B0604020202090204"/>
                <a:cs typeface="Arial" panose="020B0604020202090204"/>
              </a:defRPr>
            </a:lvl6pPr>
            <a:lvl7pPr algn="l">
              <a:defRPr sz="1500" b="0">
                <a:solidFill>
                  <a:srgbClr val="C8D3D5"/>
                </a:solidFill>
                <a:latin typeface="Arial" panose="020B0604020202090204"/>
                <a:ea typeface="Arial" panose="020B0604020202090204"/>
                <a:cs typeface="Arial" panose="020B0604020202090204"/>
              </a:defRPr>
            </a:lvl7pPr>
            <a:lvl8pPr algn="l">
              <a:defRPr sz="1500" b="0">
                <a:solidFill>
                  <a:srgbClr val="C8D3D5"/>
                </a:solidFill>
                <a:latin typeface="Arial" panose="020B0604020202090204"/>
                <a:ea typeface="Arial" panose="020B0604020202090204"/>
                <a:cs typeface="Arial" panose="020B0604020202090204"/>
              </a:defRPr>
            </a:lvl8pPr>
            <a:lvl9pPr algn="l">
              <a:defRPr sz="1500" b="0">
                <a:solidFill>
                  <a:srgbClr val="C8D3D5"/>
                </a:solidFill>
                <a:latin typeface="Arial" panose="020B0604020202090204"/>
                <a:ea typeface="Arial" panose="020B0604020202090204"/>
                <a:cs typeface="Arial" panose="020B0604020202090204"/>
              </a:defRPr>
            </a:lvl9pPr>
          </a:lstStyle>
          <a:p>
            <a:pPr algn="l">
              <a:lnSpc>
                <a:spcPct val="102000"/>
              </a:lnSpc>
              <a:buNone/>
              <a:defRPr sz="1500" b="0">
                <a:solidFill>
                  <a:srgbClr val="C8D3D5"/>
                </a:solidFill>
                <a:latin typeface="Arial" panose="020B0604020202090204"/>
                <a:ea typeface="Arial" panose="020B0604020202090204"/>
                <a:cs typeface="Arial" panose="020B0604020202090204"/>
              </a:defRPr>
            </a:pPr>
            <a:r>
              <a:rPr sz="1500" b="0">
                <a:solidFill>
                  <a:srgbClr val="C8D3D5"/>
                </a:solidFill>
                <a:latin typeface="Arial" panose="020B0604020202090204"/>
                <a:ea typeface="Arial" panose="020B0604020202090204"/>
                <a:cs typeface="Arial" panose="020B0604020202090204"/>
              </a:rPr>
              <a:t>Lastde++ normalizes scores with 100 conditional samples</a:t>
            </a:r>
            <a:endParaRPr sz="1500" b="0">
              <a:solidFill>
                <a:srgbClr val="C8D3D5"/>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714375" y="3867150"/>
            <a:ext cx="514350" cy="514350"/>
          </a:xfrm>
          <a:prstGeom prst="rect">
            <a:avLst/>
          </a:prstGeom>
          <a:noFill/>
          <a:ln w="0">
            <a:noFill/>
            <a:prstDash val="solid"/>
          </a:ln>
        </p:spPr>
        <p:txBody>
          <a:bodyPr wrap="square" lIns="0" tIns="0" rIns="0" bIns="0" anchor="ctr">
            <a:normAutofit/>
          </a:bodyPr>
          <a:lstStyle>
            <a:defPPr algn="ctr">
              <a:defRPr sz="1875" b="1">
                <a:solidFill>
                  <a:srgbClr val="147A78"/>
                </a:solidFill>
                <a:latin typeface="Arial" panose="020B0604020202090204"/>
                <a:ea typeface="Arial" panose="020B0604020202090204"/>
                <a:cs typeface="Arial" panose="020B0604020202090204"/>
              </a:defRPr>
            </a:defPPr>
            <a:lvl1pPr algn="ctr">
              <a:defRPr sz="1875" b="1">
                <a:solidFill>
                  <a:srgbClr val="147A78"/>
                </a:solidFill>
                <a:latin typeface="Arial" panose="020B0604020202090204"/>
                <a:ea typeface="Arial" panose="020B0604020202090204"/>
                <a:cs typeface="Arial" panose="020B0604020202090204"/>
              </a:defRPr>
            </a:lvl1pPr>
            <a:lvl2pPr algn="ctr">
              <a:defRPr sz="1875" b="1">
                <a:solidFill>
                  <a:srgbClr val="147A78"/>
                </a:solidFill>
                <a:latin typeface="Arial" panose="020B0604020202090204"/>
                <a:ea typeface="Arial" panose="020B0604020202090204"/>
                <a:cs typeface="Arial" panose="020B0604020202090204"/>
              </a:defRPr>
            </a:lvl2pPr>
            <a:lvl3pPr algn="ctr">
              <a:defRPr sz="1875" b="1">
                <a:solidFill>
                  <a:srgbClr val="147A78"/>
                </a:solidFill>
                <a:latin typeface="Arial" panose="020B0604020202090204"/>
                <a:ea typeface="Arial" panose="020B0604020202090204"/>
                <a:cs typeface="Arial" panose="020B0604020202090204"/>
              </a:defRPr>
            </a:lvl3pPr>
            <a:lvl4pPr algn="ctr">
              <a:defRPr sz="1875" b="1">
                <a:solidFill>
                  <a:srgbClr val="147A78"/>
                </a:solidFill>
                <a:latin typeface="Arial" panose="020B0604020202090204"/>
                <a:ea typeface="Arial" panose="020B0604020202090204"/>
                <a:cs typeface="Arial" panose="020B0604020202090204"/>
              </a:defRPr>
            </a:lvl4pPr>
            <a:lvl5pPr algn="ctr">
              <a:defRPr sz="1875" b="1">
                <a:solidFill>
                  <a:srgbClr val="147A78"/>
                </a:solidFill>
                <a:latin typeface="Arial" panose="020B0604020202090204"/>
                <a:ea typeface="Arial" panose="020B0604020202090204"/>
                <a:cs typeface="Arial" panose="020B0604020202090204"/>
              </a:defRPr>
            </a:lvl5pPr>
            <a:lvl6pPr algn="ctr">
              <a:defRPr sz="1875" b="1">
                <a:solidFill>
                  <a:srgbClr val="147A78"/>
                </a:solidFill>
                <a:latin typeface="Arial" panose="020B0604020202090204"/>
                <a:ea typeface="Arial" panose="020B0604020202090204"/>
                <a:cs typeface="Arial" panose="020B0604020202090204"/>
              </a:defRPr>
            </a:lvl6pPr>
            <a:lvl7pPr algn="ctr">
              <a:defRPr sz="1875" b="1">
                <a:solidFill>
                  <a:srgbClr val="147A78"/>
                </a:solidFill>
                <a:latin typeface="Arial" panose="020B0604020202090204"/>
                <a:ea typeface="Arial" panose="020B0604020202090204"/>
                <a:cs typeface="Arial" panose="020B0604020202090204"/>
              </a:defRPr>
            </a:lvl7pPr>
            <a:lvl8pPr algn="ctr">
              <a:defRPr sz="1875" b="1">
                <a:solidFill>
                  <a:srgbClr val="147A78"/>
                </a:solidFill>
                <a:latin typeface="Arial" panose="020B0604020202090204"/>
                <a:ea typeface="Arial" panose="020B0604020202090204"/>
                <a:cs typeface="Arial" panose="020B0604020202090204"/>
              </a:defRPr>
            </a:lvl8pPr>
            <a:lvl9pPr algn="ctr">
              <a:defRPr sz="1875" b="1">
                <a:solidFill>
                  <a:srgbClr val="147A78"/>
                </a:solidFill>
                <a:latin typeface="Arial" panose="020B0604020202090204"/>
                <a:ea typeface="Arial" panose="020B0604020202090204"/>
                <a:cs typeface="Arial" panose="020B0604020202090204"/>
              </a:defRPr>
            </a:lvl9pPr>
          </a:lstStyle>
          <a:p>
            <a:pPr algn="ctr">
              <a:lnSpc>
                <a:spcPct val="102000"/>
              </a:lnSpc>
              <a:buNone/>
              <a:defRPr sz="1875" b="1">
                <a:solidFill>
                  <a:srgbClr val="147A78"/>
                </a:solidFill>
                <a:latin typeface="Arial" panose="020B0604020202090204"/>
                <a:ea typeface="Arial" panose="020B0604020202090204"/>
                <a:cs typeface="Arial" panose="020B0604020202090204"/>
              </a:defRPr>
            </a:pPr>
            <a:r>
              <a:rPr sz="1875" b="1">
                <a:solidFill>
                  <a:srgbClr val="147A78"/>
                </a:solidFill>
                <a:latin typeface="Arial" panose="020B0604020202090204"/>
                <a:ea typeface="Arial" panose="020B0604020202090204"/>
                <a:cs typeface="Arial" panose="020B0604020202090204"/>
              </a:rPr>
              <a:t>4</a:t>
            </a:r>
            <a:endParaRPr sz="1875" b="1">
              <a:solidFill>
                <a:srgbClr val="147A78"/>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1524000" y="3905250"/>
            <a:ext cx="2095500" cy="342900"/>
          </a:xfrm>
          <a:prstGeom prst="rect">
            <a:avLst/>
          </a:prstGeom>
          <a:noFill/>
          <a:ln w="0">
            <a:noFill/>
            <a:prstDash val="solid"/>
          </a:ln>
        </p:spPr>
        <p:txBody>
          <a:bodyPr wrap="square" lIns="0" tIns="0" rIns="0" bIns="0" anchor="t">
            <a:normAutofit/>
          </a:bodyPr>
          <a:lstStyle>
            <a:defPPr algn="l">
              <a:defRPr sz="1725" b="1">
                <a:solidFill>
                  <a:srgbClr val="FFFFFF"/>
                </a:solidFill>
                <a:latin typeface="Arial" panose="020B0604020202090204"/>
                <a:ea typeface="Arial" panose="020B0604020202090204"/>
                <a:cs typeface="Arial" panose="020B0604020202090204"/>
              </a:defRPr>
            </a:defPPr>
            <a:lvl1pPr algn="l">
              <a:defRPr sz="1725" b="1">
                <a:solidFill>
                  <a:srgbClr val="FFFFFF"/>
                </a:solidFill>
                <a:latin typeface="Arial" panose="020B0604020202090204"/>
                <a:ea typeface="Arial" panose="020B0604020202090204"/>
                <a:cs typeface="Arial" panose="020B0604020202090204"/>
              </a:defRPr>
            </a:lvl1pPr>
            <a:lvl2pPr algn="l">
              <a:defRPr sz="1725" b="1">
                <a:solidFill>
                  <a:srgbClr val="FFFFFF"/>
                </a:solidFill>
                <a:latin typeface="Arial" panose="020B0604020202090204"/>
                <a:ea typeface="Arial" panose="020B0604020202090204"/>
                <a:cs typeface="Arial" panose="020B0604020202090204"/>
              </a:defRPr>
            </a:lvl2pPr>
            <a:lvl3pPr algn="l">
              <a:defRPr sz="1725" b="1">
                <a:solidFill>
                  <a:srgbClr val="FFFFFF"/>
                </a:solidFill>
                <a:latin typeface="Arial" panose="020B0604020202090204"/>
                <a:ea typeface="Arial" panose="020B0604020202090204"/>
                <a:cs typeface="Arial" panose="020B0604020202090204"/>
              </a:defRPr>
            </a:lvl3pPr>
            <a:lvl4pPr algn="l">
              <a:defRPr sz="1725" b="1">
                <a:solidFill>
                  <a:srgbClr val="FFFFFF"/>
                </a:solidFill>
                <a:latin typeface="Arial" panose="020B0604020202090204"/>
                <a:ea typeface="Arial" panose="020B0604020202090204"/>
                <a:cs typeface="Arial" panose="020B0604020202090204"/>
              </a:defRPr>
            </a:lvl4pPr>
            <a:lvl5pPr algn="l">
              <a:defRPr sz="1725" b="1">
                <a:solidFill>
                  <a:srgbClr val="FFFFFF"/>
                </a:solidFill>
                <a:latin typeface="Arial" panose="020B0604020202090204"/>
                <a:ea typeface="Arial" panose="020B0604020202090204"/>
                <a:cs typeface="Arial" panose="020B0604020202090204"/>
              </a:defRPr>
            </a:lvl5pPr>
            <a:lvl6pPr algn="l">
              <a:defRPr sz="1725" b="1">
                <a:solidFill>
                  <a:srgbClr val="FFFFFF"/>
                </a:solidFill>
                <a:latin typeface="Arial" panose="020B0604020202090204"/>
                <a:ea typeface="Arial" panose="020B0604020202090204"/>
                <a:cs typeface="Arial" panose="020B0604020202090204"/>
              </a:defRPr>
            </a:lvl6pPr>
            <a:lvl7pPr algn="l">
              <a:defRPr sz="1725" b="1">
                <a:solidFill>
                  <a:srgbClr val="FFFFFF"/>
                </a:solidFill>
                <a:latin typeface="Arial" panose="020B0604020202090204"/>
                <a:ea typeface="Arial" panose="020B0604020202090204"/>
                <a:cs typeface="Arial" panose="020B0604020202090204"/>
              </a:defRPr>
            </a:lvl7pPr>
            <a:lvl8pPr algn="l">
              <a:defRPr sz="1725" b="1">
                <a:solidFill>
                  <a:srgbClr val="FFFFFF"/>
                </a:solidFill>
                <a:latin typeface="Arial" panose="020B0604020202090204"/>
                <a:ea typeface="Arial" panose="020B0604020202090204"/>
                <a:cs typeface="Arial" panose="020B0604020202090204"/>
              </a:defRPr>
            </a:lvl8pPr>
            <a:lvl9pPr algn="l">
              <a:defRPr sz="1725" b="1">
                <a:solidFill>
                  <a:srgbClr val="FFFFFF"/>
                </a:solidFill>
                <a:latin typeface="Arial" panose="020B0604020202090204"/>
                <a:ea typeface="Arial" panose="020B0604020202090204"/>
                <a:cs typeface="Arial" panose="020B0604020202090204"/>
              </a:defRPr>
            </a:lvl9pPr>
          </a:lstStyle>
          <a:p>
            <a:pPr algn="l">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Evidence</a:t>
            </a:r>
            <a:endParaRPr sz="1725" b="1">
              <a:solidFill>
                <a:srgbClr val="FFFFFF"/>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3810000" y="3905250"/>
            <a:ext cx="7239000" cy="419100"/>
          </a:xfrm>
          <a:prstGeom prst="rect">
            <a:avLst/>
          </a:prstGeom>
          <a:noFill/>
          <a:ln w="0">
            <a:noFill/>
            <a:prstDash val="solid"/>
          </a:ln>
        </p:spPr>
        <p:txBody>
          <a:bodyPr wrap="square" lIns="0" tIns="0" rIns="0" bIns="0" anchor="t">
            <a:normAutofit/>
          </a:bodyPr>
          <a:lstStyle>
            <a:defPPr algn="l">
              <a:defRPr sz="1500" b="0">
                <a:solidFill>
                  <a:srgbClr val="C8D3D5"/>
                </a:solidFill>
                <a:latin typeface="Arial" panose="020B0604020202090204"/>
                <a:ea typeface="Arial" panose="020B0604020202090204"/>
                <a:cs typeface="Arial" panose="020B0604020202090204"/>
              </a:defRPr>
            </a:defPPr>
            <a:lvl1pPr algn="l">
              <a:defRPr sz="1500" b="0">
                <a:solidFill>
                  <a:srgbClr val="C8D3D5"/>
                </a:solidFill>
                <a:latin typeface="Arial" panose="020B0604020202090204"/>
                <a:ea typeface="Arial" panose="020B0604020202090204"/>
                <a:cs typeface="Arial" panose="020B0604020202090204"/>
              </a:defRPr>
            </a:lvl1pPr>
            <a:lvl2pPr algn="l">
              <a:defRPr sz="1500" b="0">
                <a:solidFill>
                  <a:srgbClr val="C8D3D5"/>
                </a:solidFill>
                <a:latin typeface="Arial" panose="020B0604020202090204"/>
                <a:ea typeface="Arial" panose="020B0604020202090204"/>
                <a:cs typeface="Arial" panose="020B0604020202090204"/>
              </a:defRPr>
            </a:lvl2pPr>
            <a:lvl3pPr algn="l">
              <a:defRPr sz="1500" b="0">
                <a:solidFill>
                  <a:srgbClr val="C8D3D5"/>
                </a:solidFill>
                <a:latin typeface="Arial" panose="020B0604020202090204"/>
                <a:ea typeface="Arial" panose="020B0604020202090204"/>
                <a:cs typeface="Arial" panose="020B0604020202090204"/>
              </a:defRPr>
            </a:lvl3pPr>
            <a:lvl4pPr algn="l">
              <a:defRPr sz="1500" b="0">
                <a:solidFill>
                  <a:srgbClr val="C8D3D5"/>
                </a:solidFill>
                <a:latin typeface="Arial" panose="020B0604020202090204"/>
                <a:ea typeface="Arial" panose="020B0604020202090204"/>
                <a:cs typeface="Arial" panose="020B0604020202090204"/>
              </a:defRPr>
            </a:lvl4pPr>
            <a:lvl5pPr algn="l">
              <a:defRPr sz="1500" b="0">
                <a:solidFill>
                  <a:srgbClr val="C8D3D5"/>
                </a:solidFill>
                <a:latin typeface="Arial" panose="020B0604020202090204"/>
                <a:ea typeface="Arial" panose="020B0604020202090204"/>
                <a:cs typeface="Arial" panose="020B0604020202090204"/>
              </a:defRPr>
            </a:lvl5pPr>
            <a:lvl6pPr algn="l">
              <a:defRPr sz="1500" b="0">
                <a:solidFill>
                  <a:srgbClr val="C8D3D5"/>
                </a:solidFill>
                <a:latin typeface="Arial" panose="020B0604020202090204"/>
                <a:ea typeface="Arial" panose="020B0604020202090204"/>
                <a:cs typeface="Arial" panose="020B0604020202090204"/>
              </a:defRPr>
            </a:lvl6pPr>
            <a:lvl7pPr algn="l">
              <a:defRPr sz="1500" b="0">
                <a:solidFill>
                  <a:srgbClr val="C8D3D5"/>
                </a:solidFill>
                <a:latin typeface="Arial" panose="020B0604020202090204"/>
                <a:ea typeface="Arial" panose="020B0604020202090204"/>
                <a:cs typeface="Arial" panose="020B0604020202090204"/>
              </a:defRPr>
            </a:lvl7pPr>
            <a:lvl8pPr algn="l">
              <a:defRPr sz="1500" b="0">
                <a:solidFill>
                  <a:srgbClr val="C8D3D5"/>
                </a:solidFill>
                <a:latin typeface="Arial" panose="020B0604020202090204"/>
                <a:ea typeface="Arial" panose="020B0604020202090204"/>
                <a:cs typeface="Arial" panose="020B0604020202090204"/>
              </a:defRPr>
            </a:lvl8pPr>
            <a:lvl9pPr algn="l">
              <a:defRPr sz="1500" b="0">
                <a:solidFill>
                  <a:srgbClr val="C8D3D5"/>
                </a:solidFill>
                <a:latin typeface="Arial" panose="020B0604020202090204"/>
                <a:ea typeface="Arial" panose="020B0604020202090204"/>
                <a:cs typeface="Arial" panose="020B0604020202090204"/>
              </a:defRPr>
            </a:lvl9pPr>
          </a:lstStyle>
          <a:p>
            <a:pPr algn="l">
              <a:lnSpc>
                <a:spcPct val="102000"/>
              </a:lnSpc>
              <a:buNone/>
              <a:defRPr sz="1500" b="0">
                <a:solidFill>
                  <a:srgbClr val="C8D3D5"/>
                </a:solidFill>
                <a:latin typeface="Arial" panose="020B0604020202090204"/>
                <a:ea typeface="Arial" panose="020B0604020202090204"/>
                <a:cs typeface="Arial" panose="020B0604020202090204"/>
              </a:defRPr>
            </a:pPr>
            <a:r>
              <a:rPr sz="1500" b="0">
                <a:solidFill>
                  <a:srgbClr val="C8D3D5"/>
                </a:solidFill>
                <a:latin typeface="Arial" panose="020B0604020202090204"/>
                <a:ea typeface="Arial" panose="020B0604020202090204"/>
                <a:cs typeface="Arial" panose="020B0604020202090204"/>
              </a:rPr>
              <a:t>Reported gains are strongest in the black-box averages</a:t>
            </a:r>
            <a:endParaRPr sz="1500" b="0">
              <a:solidFill>
                <a:srgbClr val="C8D3D5"/>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714375" y="4743450"/>
            <a:ext cx="514350" cy="514350"/>
          </a:xfrm>
          <a:prstGeom prst="rect">
            <a:avLst/>
          </a:prstGeom>
          <a:noFill/>
          <a:ln w="0">
            <a:noFill/>
            <a:prstDash val="solid"/>
          </a:ln>
        </p:spPr>
        <p:txBody>
          <a:bodyPr wrap="square" lIns="0" tIns="0" rIns="0" bIns="0" anchor="ctr">
            <a:normAutofit/>
          </a:bodyPr>
          <a:lstStyle>
            <a:defPPr algn="ctr">
              <a:defRPr sz="1875" b="1">
                <a:solidFill>
                  <a:srgbClr val="E7684A"/>
                </a:solidFill>
                <a:latin typeface="Arial" panose="020B0604020202090204"/>
                <a:ea typeface="Arial" panose="020B0604020202090204"/>
                <a:cs typeface="Arial" panose="020B0604020202090204"/>
              </a:defRPr>
            </a:defPPr>
            <a:lvl1pPr algn="ctr">
              <a:defRPr sz="1875" b="1">
                <a:solidFill>
                  <a:srgbClr val="E7684A"/>
                </a:solidFill>
                <a:latin typeface="Arial" panose="020B0604020202090204"/>
                <a:ea typeface="Arial" panose="020B0604020202090204"/>
                <a:cs typeface="Arial" panose="020B0604020202090204"/>
              </a:defRPr>
            </a:lvl1pPr>
            <a:lvl2pPr algn="ctr">
              <a:defRPr sz="1875" b="1">
                <a:solidFill>
                  <a:srgbClr val="E7684A"/>
                </a:solidFill>
                <a:latin typeface="Arial" panose="020B0604020202090204"/>
                <a:ea typeface="Arial" panose="020B0604020202090204"/>
                <a:cs typeface="Arial" panose="020B0604020202090204"/>
              </a:defRPr>
            </a:lvl2pPr>
            <a:lvl3pPr algn="ctr">
              <a:defRPr sz="1875" b="1">
                <a:solidFill>
                  <a:srgbClr val="E7684A"/>
                </a:solidFill>
                <a:latin typeface="Arial" panose="020B0604020202090204"/>
                <a:ea typeface="Arial" panose="020B0604020202090204"/>
                <a:cs typeface="Arial" panose="020B0604020202090204"/>
              </a:defRPr>
            </a:lvl3pPr>
            <a:lvl4pPr algn="ctr">
              <a:defRPr sz="1875" b="1">
                <a:solidFill>
                  <a:srgbClr val="E7684A"/>
                </a:solidFill>
                <a:latin typeface="Arial" panose="020B0604020202090204"/>
                <a:ea typeface="Arial" panose="020B0604020202090204"/>
                <a:cs typeface="Arial" panose="020B0604020202090204"/>
              </a:defRPr>
            </a:lvl4pPr>
            <a:lvl5pPr algn="ctr">
              <a:defRPr sz="1875" b="1">
                <a:solidFill>
                  <a:srgbClr val="E7684A"/>
                </a:solidFill>
                <a:latin typeface="Arial" panose="020B0604020202090204"/>
                <a:ea typeface="Arial" panose="020B0604020202090204"/>
                <a:cs typeface="Arial" panose="020B0604020202090204"/>
              </a:defRPr>
            </a:lvl5pPr>
            <a:lvl6pPr algn="ctr">
              <a:defRPr sz="1875" b="1">
                <a:solidFill>
                  <a:srgbClr val="E7684A"/>
                </a:solidFill>
                <a:latin typeface="Arial" panose="020B0604020202090204"/>
                <a:ea typeface="Arial" panose="020B0604020202090204"/>
                <a:cs typeface="Arial" panose="020B0604020202090204"/>
              </a:defRPr>
            </a:lvl6pPr>
            <a:lvl7pPr algn="ctr">
              <a:defRPr sz="1875" b="1">
                <a:solidFill>
                  <a:srgbClr val="E7684A"/>
                </a:solidFill>
                <a:latin typeface="Arial" panose="020B0604020202090204"/>
                <a:ea typeface="Arial" panose="020B0604020202090204"/>
                <a:cs typeface="Arial" panose="020B0604020202090204"/>
              </a:defRPr>
            </a:lvl7pPr>
            <a:lvl8pPr algn="ctr">
              <a:defRPr sz="1875" b="1">
                <a:solidFill>
                  <a:srgbClr val="E7684A"/>
                </a:solidFill>
                <a:latin typeface="Arial" panose="020B0604020202090204"/>
                <a:ea typeface="Arial" panose="020B0604020202090204"/>
                <a:cs typeface="Arial" panose="020B0604020202090204"/>
              </a:defRPr>
            </a:lvl8pPr>
            <a:lvl9pPr algn="ctr">
              <a:defRPr sz="1875" b="1">
                <a:solidFill>
                  <a:srgbClr val="E7684A"/>
                </a:solidFill>
                <a:latin typeface="Arial" panose="020B0604020202090204"/>
                <a:ea typeface="Arial" panose="020B0604020202090204"/>
                <a:cs typeface="Arial" panose="020B0604020202090204"/>
              </a:defRPr>
            </a:lvl9pPr>
          </a:lstStyle>
          <a:p>
            <a:pPr algn="ctr">
              <a:lnSpc>
                <a:spcPct val="102000"/>
              </a:lnSpc>
              <a:buNone/>
              <a:defRPr sz="1875" b="1">
                <a:solidFill>
                  <a:srgbClr val="E7684A"/>
                </a:solidFill>
                <a:latin typeface="Arial" panose="020B0604020202090204"/>
                <a:ea typeface="Arial" panose="020B0604020202090204"/>
                <a:cs typeface="Arial" panose="020B0604020202090204"/>
              </a:defRPr>
            </a:pPr>
            <a:r>
              <a:rPr sz="1875" b="1">
                <a:solidFill>
                  <a:srgbClr val="E7684A"/>
                </a:solidFill>
                <a:latin typeface="Arial" panose="020B0604020202090204"/>
                <a:ea typeface="Arial" panose="020B0604020202090204"/>
                <a:cs typeface="Arial" panose="020B0604020202090204"/>
              </a:rPr>
              <a:t>5</a:t>
            </a:r>
            <a:endParaRPr sz="1875" b="1">
              <a:solidFill>
                <a:srgbClr val="E7684A"/>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1524000" y="4781550"/>
            <a:ext cx="2095500" cy="342900"/>
          </a:xfrm>
          <a:prstGeom prst="rect">
            <a:avLst/>
          </a:prstGeom>
          <a:noFill/>
          <a:ln w="0">
            <a:noFill/>
            <a:prstDash val="solid"/>
          </a:ln>
        </p:spPr>
        <p:txBody>
          <a:bodyPr wrap="square" lIns="0" tIns="0" rIns="0" bIns="0" anchor="t">
            <a:normAutofit/>
          </a:bodyPr>
          <a:lstStyle>
            <a:defPPr algn="l">
              <a:defRPr sz="1725" b="1">
                <a:solidFill>
                  <a:srgbClr val="FFFFFF"/>
                </a:solidFill>
                <a:latin typeface="Arial" panose="020B0604020202090204"/>
                <a:ea typeface="Arial" panose="020B0604020202090204"/>
                <a:cs typeface="Arial" panose="020B0604020202090204"/>
              </a:defRPr>
            </a:defPPr>
            <a:lvl1pPr algn="l">
              <a:defRPr sz="1725" b="1">
                <a:solidFill>
                  <a:srgbClr val="FFFFFF"/>
                </a:solidFill>
                <a:latin typeface="Arial" panose="020B0604020202090204"/>
                <a:ea typeface="Arial" panose="020B0604020202090204"/>
                <a:cs typeface="Arial" panose="020B0604020202090204"/>
              </a:defRPr>
            </a:lvl1pPr>
            <a:lvl2pPr algn="l">
              <a:defRPr sz="1725" b="1">
                <a:solidFill>
                  <a:srgbClr val="FFFFFF"/>
                </a:solidFill>
                <a:latin typeface="Arial" panose="020B0604020202090204"/>
                <a:ea typeface="Arial" panose="020B0604020202090204"/>
                <a:cs typeface="Arial" panose="020B0604020202090204"/>
              </a:defRPr>
            </a:lvl2pPr>
            <a:lvl3pPr algn="l">
              <a:defRPr sz="1725" b="1">
                <a:solidFill>
                  <a:srgbClr val="FFFFFF"/>
                </a:solidFill>
                <a:latin typeface="Arial" panose="020B0604020202090204"/>
                <a:ea typeface="Arial" panose="020B0604020202090204"/>
                <a:cs typeface="Arial" panose="020B0604020202090204"/>
              </a:defRPr>
            </a:lvl3pPr>
            <a:lvl4pPr algn="l">
              <a:defRPr sz="1725" b="1">
                <a:solidFill>
                  <a:srgbClr val="FFFFFF"/>
                </a:solidFill>
                <a:latin typeface="Arial" panose="020B0604020202090204"/>
                <a:ea typeface="Arial" panose="020B0604020202090204"/>
                <a:cs typeface="Arial" panose="020B0604020202090204"/>
              </a:defRPr>
            </a:lvl4pPr>
            <a:lvl5pPr algn="l">
              <a:defRPr sz="1725" b="1">
                <a:solidFill>
                  <a:srgbClr val="FFFFFF"/>
                </a:solidFill>
                <a:latin typeface="Arial" panose="020B0604020202090204"/>
                <a:ea typeface="Arial" panose="020B0604020202090204"/>
                <a:cs typeface="Arial" panose="020B0604020202090204"/>
              </a:defRPr>
            </a:lvl5pPr>
            <a:lvl6pPr algn="l">
              <a:defRPr sz="1725" b="1">
                <a:solidFill>
                  <a:srgbClr val="FFFFFF"/>
                </a:solidFill>
                <a:latin typeface="Arial" panose="020B0604020202090204"/>
                <a:ea typeface="Arial" panose="020B0604020202090204"/>
                <a:cs typeface="Arial" panose="020B0604020202090204"/>
              </a:defRPr>
            </a:lvl6pPr>
            <a:lvl7pPr algn="l">
              <a:defRPr sz="1725" b="1">
                <a:solidFill>
                  <a:srgbClr val="FFFFFF"/>
                </a:solidFill>
                <a:latin typeface="Arial" panose="020B0604020202090204"/>
                <a:ea typeface="Arial" panose="020B0604020202090204"/>
                <a:cs typeface="Arial" panose="020B0604020202090204"/>
              </a:defRPr>
            </a:lvl7pPr>
            <a:lvl8pPr algn="l">
              <a:defRPr sz="1725" b="1">
                <a:solidFill>
                  <a:srgbClr val="FFFFFF"/>
                </a:solidFill>
                <a:latin typeface="Arial" panose="020B0604020202090204"/>
                <a:ea typeface="Arial" panose="020B0604020202090204"/>
                <a:cs typeface="Arial" panose="020B0604020202090204"/>
              </a:defRPr>
            </a:lvl8pPr>
            <a:lvl9pPr algn="l">
              <a:defRPr sz="1725" b="1">
                <a:solidFill>
                  <a:srgbClr val="FFFFFF"/>
                </a:solidFill>
                <a:latin typeface="Arial" panose="020B0604020202090204"/>
                <a:ea typeface="Arial" panose="020B0604020202090204"/>
                <a:cs typeface="Arial" panose="020B0604020202090204"/>
              </a:defRPr>
            </a:lvl9pPr>
          </a:lstStyle>
          <a:p>
            <a:pPr algn="l">
              <a:lnSpc>
                <a:spcPct val="102000"/>
              </a:lnSpc>
              <a:buNone/>
              <a:defRPr sz="1725" b="1">
                <a:solidFill>
                  <a:srgbClr val="FFFFFF"/>
                </a:solidFill>
                <a:latin typeface="Arial" panose="020B0604020202090204"/>
                <a:ea typeface="Arial" panose="020B0604020202090204"/>
                <a:cs typeface="Arial" panose="020B0604020202090204"/>
              </a:defRPr>
            </a:pPr>
            <a:r>
              <a:rPr sz="1725" b="1">
                <a:solidFill>
                  <a:srgbClr val="FFFFFF"/>
                </a:solidFill>
                <a:latin typeface="Arial" panose="020B0604020202090204"/>
                <a:ea typeface="Arial" panose="020B0604020202090204"/>
                <a:cs typeface="Arial" panose="020B0604020202090204"/>
              </a:rPr>
              <a:t>Boundary</a:t>
            </a:r>
            <a:endParaRPr sz="1725" b="1">
              <a:solidFill>
                <a:srgbClr val="FFFFFF"/>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3810000" y="4781550"/>
            <a:ext cx="7239000" cy="419100"/>
          </a:xfrm>
          <a:prstGeom prst="rect">
            <a:avLst/>
          </a:prstGeom>
          <a:noFill/>
          <a:ln w="0">
            <a:noFill/>
            <a:prstDash val="solid"/>
          </a:ln>
        </p:spPr>
        <p:txBody>
          <a:bodyPr wrap="square" lIns="0" tIns="0" rIns="0" bIns="0" anchor="t">
            <a:normAutofit/>
          </a:bodyPr>
          <a:lstStyle>
            <a:defPPr algn="l">
              <a:defRPr sz="1500" b="0">
                <a:solidFill>
                  <a:srgbClr val="C8D3D5"/>
                </a:solidFill>
                <a:latin typeface="Arial" panose="020B0604020202090204"/>
                <a:ea typeface="Arial" panose="020B0604020202090204"/>
                <a:cs typeface="Arial" panose="020B0604020202090204"/>
              </a:defRPr>
            </a:defPPr>
            <a:lvl1pPr algn="l">
              <a:defRPr sz="1500" b="0">
                <a:solidFill>
                  <a:srgbClr val="C8D3D5"/>
                </a:solidFill>
                <a:latin typeface="Arial" panose="020B0604020202090204"/>
                <a:ea typeface="Arial" panose="020B0604020202090204"/>
                <a:cs typeface="Arial" panose="020B0604020202090204"/>
              </a:defRPr>
            </a:lvl1pPr>
            <a:lvl2pPr algn="l">
              <a:defRPr sz="1500" b="0">
                <a:solidFill>
                  <a:srgbClr val="C8D3D5"/>
                </a:solidFill>
                <a:latin typeface="Arial" panose="020B0604020202090204"/>
                <a:ea typeface="Arial" panose="020B0604020202090204"/>
                <a:cs typeface="Arial" panose="020B0604020202090204"/>
              </a:defRPr>
            </a:lvl2pPr>
            <a:lvl3pPr algn="l">
              <a:defRPr sz="1500" b="0">
                <a:solidFill>
                  <a:srgbClr val="C8D3D5"/>
                </a:solidFill>
                <a:latin typeface="Arial" panose="020B0604020202090204"/>
                <a:ea typeface="Arial" panose="020B0604020202090204"/>
                <a:cs typeface="Arial" panose="020B0604020202090204"/>
              </a:defRPr>
            </a:lvl3pPr>
            <a:lvl4pPr algn="l">
              <a:defRPr sz="1500" b="0">
                <a:solidFill>
                  <a:srgbClr val="C8D3D5"/>
                </a:solidFill>
                <a:latin typeface="Arial" panose="020B0604020202090204"/>
                <a:ea typeface="Arial" panose="020B0604020202090204"/>
                <a:cs typeface="Arial" panose="020B0604020202090204"/>
              </a:defRPr>
            </a:lvl4pPr>
            <a:lvl5pPr algn="l">
              <a:defRPr sz="1500" b="0">
                <a:solidFill>
                  <a:srgbClr val="C8D3D5"/>
                </a:solidFill>
                <a:latin typeface="Arial" panose="020B0604020202090204"/>
                <a:ea typeface="Arial" panose="020B0604020202090204"/>
                <a:cs typeface="Arial" panose="020B0604020202090204"/>
              </a:defRPr>
            </a:lvl5pPr>
            <a:lvl6pPr algn="l">
              <a:defRPr sz="1500" b="0">
                <a:solidFill>
                  <a:srgbClr val="C8D3D5"/>
                </a:solidFill>
                <a:latin typeface="Arial" panose="020B0604020202090204"/>
                <a:ea typeface="Arial" panose="020B0604020202090204"/>
                <a:cs typeface="Arial" panose="020B0604020202090204"/>
              </a:defRPr>
            </a:lvl6pPr>
            <a:lvl7pPr algn="l">
              <a:defRPr sz="1500" b="0">
                <a:solidFill>
                  <a:srgbClr val="C8D3D5"/>
                </a:solidFill>
                <a:latin typeface="Arial" panose="020B0604020202090204"/>
                <a:ea typeface="Arial" panose="020B0604020202090204"/>
                <a:cs typeface="Arial" panose="020B0604020202090204"/>
              </a:defRPr>
            </a:lvl7pPr>
            <a:lvl8pPr algn="l">
              <a:defRPr sz="1500" b="0">
                <a:solidFill>
                  <a:srgbClr val="C8D3D5"/>
                </a:solidFill>
                <a:latin typeface="Arial" panose="020B0604020202090204"/>
                <a:ea typeface="Arial" panose="020B0604020202090204"/>
                <a:cs typeface="Arial" panose="020B0604020202090204"/>
              </a:defRPr>
            </a:lvl8pPr>
            <a:lvl9pPr algn="l">
              <a:defRPr sz="1500" b="0">
                <a:solidFill>
                  <a:srgbClr val="C8D3D5"/>
                </a:solidFill>
                <a:latin typeface="Arial" panose="020B0604020202090204"/>
                <a:ea typeface="Arial" panose="020B0604020202090204"/>
                <a:cs typeface="Arial" panose="020B0604020202090204"/>
              </a:defRPr>
            </a:lvl9pPr>
          </a:lstStyle>
          <a:p>
            <a:pPr algn="l">
              <a:lnSpc>
                <a:spcPct val="102000"/>
              </a:lnSpc>
              <a:buNone/>
              <a:defRPr sz="1500" b="0">
                <a:solidFill>
                  <a:srgbClr val="C8D3D5"/>
                </a:solidFill>
                <a:latin typeface="Arial" panose="020B0604020202090204"/>
                <a:ea typeface="Arial" panose="020B0604020202090204"/>
                <a:cs typeface="Arial" panose="020B0604020202090204"/>
              </a:defRPr>
            </a:pPr>
            <a:r>
              <a:rPr sz="1500" b="0">
                <a:solidFill>
                  <a:srgbClr val="C8D3D5"/>
                </a:solidFill>
                <a:latin typeface="Arial" panose="020B0604020202090204"/>
                <a:ea typeface="Arial" panose="020B0604020202090204"/>
                <a:cs typeface="Arial" panose="020B0604020202090204"/>
              </a:rPr>
              <a:t>Length, proxy choice and paraphrasing still affect reliability</a:t>
            </a:r>
            <a:endParaRPr sz="1500" b="0">
              <a:solidFill>
                <a:srgbClr val="C8D3D5"/>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4712</Words>
  <Application>WPS 文字</Application>
  <PresentationFormat>Converted Presentation</PresentationFormat>
  <Paragraphs>372</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Arial</vt:lpstr>
      <vt:lpstr>微软雅黑</vt:lpstr>
      <vt:lpstr>方正雅意黑 GB18030L2</vt:lpstr>
      <vt:lpstr>宋体</vt:lpstr>
      <vt:lpstr>Arial Unicode MS</vt:lpstr>
      <vt:lpstr>Aptos</vt:lpstr>
      <vt:lpstr>Helvetica Neue</vt:lpstr>
      <vt:lpstr>汉仪书宋二KW</vt:lpstr>
      <vt:lpstr>Calibri</vt:lpstr>
      <vt:lpstr>宋体-简</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p:lastModifiedBy>
  <cp:revision>2</cp:revision>
  <dcterms:created xsi:type="dcterms:W3CDTF">2026-10-26T05:09:36Z</dcterms:created>
  <dcterms:modified xsi:type="dcterms:W3CDTF">2026-10-26T05:09:36Z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2052-12.1.28492.28492</vt:lpwstr>
  </property>
  <property fmtid="{D5CDD505-2E9C-101B-9397-08002B2CF9AE}" pid="3" name="ICV">
    <vt:lpwstr>6DF122F3DD89DB4B90E0DE6A0EE398FA_43</vt:lpwstr>
  </property>
</Properties>
</file>