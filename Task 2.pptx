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I'll present an ICLR 2025 paper on detecting LLM-generated text without any training. The key question is simple: given a piece of text, can we tell whether a human or a machine wrote it? This paper's answer is surprisingly elegant — it looks not at the words themselves, but at the sequence of token probabilities a language model assigns, and treats that sequence as a time series. From this viewpoint, the authors build two detectors, Lastde and Lastde++, and show they beat state-of-the-art methods like Fast-DetectGPT in both white-box and black-box settings. I'll first motivate why training-free detection matters, then walk through the core insight, the method, the results, robustness, and finally — honestly — the limitations, which will be useful for our critical discussion afterwards.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set the scene. Large language models now produce text that is hard for people to distinguish from human writing, and this creates real risks — fake news, cheating, and a subtler one: if AI text keeps circulating and gets used to train future models, quality degrades, a phenomenon called model collapse. So we need detectors. One line of work trains classifiers on labeled data. These work well in-domain, but they're expensive, they overfit, and their accuracy drops sharply when you move to a new domain or a new model. The other line — and this paper's home — is training-free: use the target language model's own probabilities, no labels, no training. These are attractive, but the paper points out a blind spot: they summarize the whole text with one global statistic, like average log-likelihood. Nobody looks at how the probabilities fluctuate along the text. And there's a second pain point: the best sampling-based methods need thousands of model calls, which is too slow in practice; the fast one, Fast-DetectGPT, loses a lot of power in black-box settings. So the authors' bet, stated at the end of Section 2, is that the local, temporal structure of the probability sequence carries discriminative signal that everyone has been ignoring.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central insight. Take a piece of text and an off-the-shelf language model. For every token, the model tells us how probable that token was, given all previous tokens. If we write these probabilities down in order, we get a sequence — the token probability sequence, or TPS, defined in Equation 1. Here's the key move: the position in this sequence behaves exactly like a time axis. The first token's probability, the second token's probability, and so on — this is literally a one-dimensional signal. And that reframing is powerful, because signal processing has a mature toolbox for characterizing how signals fluctuate. The authors borrow one specific tool, diversity entropy, which was invented to diagnose machine faults and to analyze ECG heartbeats. The intuition they build on is this: language models are trained to minimize perplexity, so when a model writes, its token probabilities tend to be high and stable — a smooth signal. Human writing, produced without any probability objective, should fluctuate more. That's the hypothesis. The rest of the paper is about measuring this fluctuation properly and turning it into a detection score.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the intuition survive contact with data? Yes — and the visual evidence is quite convincing. Figure 1(a) in the paper shows two TPS curves generated from the same 30-token prompt: one from a human, one from a language model. You can immediately see the human curve jumping up and down sharply, while the model's curve stays relatively smooth. The paper quantifies this more rigorously with Figure 9: they compute diversity entropy at multiple smoothing scales and plot the curves. The human curve lies above the model curve at every single scale — not just on one dataset or one model, but across languages, scenarios, and models. One subtle point: both curves fall as the smoothing scale increases. That's expected — if you smooth any signal enough, it becomes nearly periodic and hence 'simple' in the diversity-entropy sense. What matters is the gap between the two curves. So the task now is: build a concrete statistic that captures this local fluctuation, and combine it with the global likelihood signal. That's exactly the next three slides.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technical heart, so let's take it step by step — the paper's Figure 2 walks through the same pipeline on a seven-token example, and it's worth having on screen. Step one: to separate long-term trends from local detail, we smooth the TPS with moving averages at several window sizes \tau — that's the 'multi-scale' part. Step two: within each smoothed sequence, we slide a window of size s across it, extracting small segments, three consecutive probabilities, say. Step three: for each pair of neighboring segments we compute their cosine similarity. If the sequence is smooth locally, adjacent segments point in nearly the same direction and similarity is close to one; if the sequence jumps around, similarities scatter. Step four: we drop all these similarities into a histogram over \varepsilon equally-spaced bins on the interval from minus one to one, turning the signal into a probability distribution. Step five: we compute the Shannon entropy of that distribution and normalize it by \ln\varepsilon, giving a number between zero and one — the diversity entropy, or DE. High entropy means the similarities are spread out, i.e., the text fluctuates a lot; low entropy means the similarities clump together, i.e., the text is smooth. Finally, MDE is just the vector of DE values across all smoothing scales — a compact fingerprint of the text's local dynamics, from fine to coarse. Notice the design philosophy: first expand the sequence into many local views, then compress them into one distribution. The entropy then measures how 'diverse' the local behavior is — hence the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we have MDE, how do we turn it into a single number we can threshold? The answer is a ratio, Equation 9. The numerator is the familiar global statistic: the average log-likelihood of the text under the model — high when the model finds the text probable. The denominator is an aggregation of the MDE vector — by default, its standard deviation — capturing how much the text fluctuates locally. For LLM-written text, the numerator is large and the denominator is small, so the score is high. For human text, the numerator is smaller and the denominator larger, so the score is low — the paper reports a practical boundary around −40 in Appendix E. This single formula is Lastde, and it needs exactly one model pass over the text: infer the TPS, compute both statistics, and divide. The power of fusing global and local views is not decorative — in the ablation study, Table 11, combining them improves AUROC by more than ten points over either component used alone. That's the paper's central methodological claim: the local view adds information the global view cannot see.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Lastde gives a single score per text, but where should the decision threshold go? That depends on the model and dataset — awkward in practice. Lastde++ solves this by standardizing the score. Here's the idea, shown in Equations 10 and 11: take the text, let a model generate about a hundred short continuations from its prefix — the paper borrows the fast-sampling trick from Bao et al., Fast-DetectGPT's authors — compute Lastde on each sample, and use their mean and standard deviation to z-score the original text's Lastde value. If the text itself looks just like what the model would generate, its standardized score lands near zero or above; if it looks foreign to the model, the score is strongly negative or positive relative to the samples. The payoff is twofold. First, only a hundred samples are needed — one percent of Fast-DetectGPT's ten thousand — and in the white-box case the same model generates and scores, so one model call per sample. Second, standardization makes scores comparable across models: LLM texts cluster around 4, human texts around 0, with the boundary near 2.0. And empirically, ten Lastde++ samples already beat Fast-DetectGPT's hundred, which we'll see on the results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numbers. Table 1 is the white-box setting: the detector has direct access to the probabilities of the very model that generated the text, which is the easiest case. Lastde, using a single score and no sampling at all, averages 95.89 across twelve models and three datasets — more than five points above DetectLRR, the best single-score baseline. On the LLaMA family and Gemma, the lead grows to roughly eight points. Lastde++ averages 98.85, and on ten of the twelve models it clears 98.4. Compare that with Fast-DetectGPT's 97.82 — and remember, Fast-DetectGPT used ten thousand samples where Lastde++ used a hundred. So in the white-box setting the message is: the paper's local-statistic fusion is not just better than other single-score methods, it's competitive with the strongest sampling-based method at one percent of the compute.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more realistic and more interesting setting: black-box. In practice we can't know which model wrote a text — or the model is proprietary and we can't touch its probabilities — so we score everything with one fixed proxy model, here GPT-J. Table 2 shows the results over eleven open models plus GPT-4-Turbo. The striking number is Lastde: a single score, no sampling, reaches 86.38 on average — six points above DetectLRR, and it actually matches Fast-DetectGPT's 85.68, which is a sampling-based method using ten thousand samples. That directly validates the hypothesis: the local information everyone else ignored is worth a lot in black-box. Add the sampling standardization and Lastde++ reaches 91.47 — almost six points clear of Fast-DetectGPT. Even on GPT-4-Turbo, a closed model never seen by the proxy, Lastde++ achieves 88.21. One caveat to flag: every method loses accuracy compared with white-box, and Figure 8 shows results depend on the proxy chosen — we'll return to this in the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robust is this to adversaries? Two tests matter. First, paraphrasing: if a student rewrites AI text with a paraphraser, does the detector still catch it? Table 3 shows everyone loses accuracy — but Lastde++ loses the least in nearly every cell. For example, in white-box XSum, Fast-DetectGPT drops by 10.60 points while Lastde++ drops by 8.48. Second, cross-lingual detection: what if the text isn't English? Figure 7 shows Lastde++ outperforming Fast-DetectGPT on German and English WMT16 data by about four and a half and five points respectively, and on Chinese Zhihu texts — economy, food, history — it holds a slight edge in most comparisons. The paper also checks decoding strategies — temperature, top-p, top-k sampling — and Lastde++ keeps per-dataset averages above 94 percent, with the biggest margins, up to eight points, on top-k. So the method's advantage isn't fragile to how the text was generated or lightly edited.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fair to the paper — and to prepare our own critical discussion — let me list what it does not establish. First, robustness is partial: paraphrasing still hurts, and the authors explicitly admit in the Ethics Statement that performance drops if an adversary swaps in an arbitrary proxy model. Second, the evaluation is entirely within the training-free family — no comparison against fine-tuned classifiers, no significance testing, and no wall-clock latency numbers, even though speed is a selling point. Third, the fast-sampling machinery is imported from Bao et al.'s Fast-DetectGPT and not re-derived, so the efficiency argument rests on that prior work. Fourth, the threshold that makes scores usable in practice is fitted with labeled data in Appendix G — the authors concede this partially conflicts with the training-free spirit. Finally, for closed-source tests the hyperparameters are changed from the defaults — for instance \varepsilon is set to 1 for Lastde in Table 8 — and the paper doesn't fully justify these deviations. None of this negates the results, but it's exactly the kind of evidence gap worth probing further.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this paper's contribution is a change of viewpoint. By reading the token probability sequence as a time series, it finds discriminative signal in local fluctuations that global-statistic detectors miss — and it converts that signal into two practical detectors that lead the training-free family in both white-box and black-box settings, while using a hundredth of the sampling budget of the previous best. The headline numbers — 98.85 white-box, 91.47 black-box — speak for themselves. But good papers leave questions, and this one leaves several: we still don't have a mechanistic explanation of why human probability traces fluctuate more; the proxy model has to be chosen somehow; and setting decision thresholds without labels remains unsolved. Those gaps are, I think, the most interesting directions for future work — and for our own critical analysis. Thank you, and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98064"/>
            <a:ext cx="1554480" cy="3657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691640"/>
            <a:ext cx="10817352" cy="1051560"/>
          </a:xfrm>
          <a:prstGeom prst="rect">
            <a:avLst/>
          </a:prstGeom>
          <a:noFill/>
        </p:spPr>
        <p:txBody>
          <a:bodyPr wrap="square" anchor="b" lIns="0" rIns="0" tIns="0" bIns="0">
            <a:spAutoFit/>
          </a:bodyPr>
          <a:lstStyle/>
          <a:p>
            <a:pPr algn="l"/>
            <a:r>
              <a:rPr sz="3000" b="1">
                <a:solidFill>
                  <a:srgbClr val="FFFFFF"/>
                </a:solidFill>
              </a:rPr>
              <a:t>Training-Free LLM-Generated Text Detection by Mining Token Probability Sequences</a:t>
            </a:r>
          </a:p>
        </p:txBody>
      </p:sp>
      <p:sp>
        <p:nvSpPr>
          <p:cNvPr id="5" name="TextBox 4"/>
          <p:cNvSpPr txBox="1"/>
          <p:nvPr/>
        </p:nvSpPr>
        <p:spPr>
          <a:xfrm>
            <a:off x="685800" y="2926080"/>
            <a:ext cx="10817352" cy="457200"/>
          </a:xfrm>
          <a:prstGeom prst="rect">
            <a:avLst/>
          </a:prstGeom>
          <a:noFill/>
        </p:spPr>
        <p:txBody>
          <a:bodyPr wrap="square" anchor="t" lIns="0" rIns="0" tIns="0" bIns="0">
            <a:spAutoFit/>
          </a:bodyPr>
          <a:lstStyle/>
          <a:p>
            <a:pPr algn="l"/>
            <a:r>
              <a:rPr sz="1600" b="1">
                <a:solidFill>
                  <a:srgbClr val="C9A227"/>
                </a:solidFill>
              </a:rPr>
              <a:t>Xu et al.  ·  ICLR 2025  ·  Lastde &amp; Lastde++</a:t>
            </a:r>
          </a:p>
        </p:txBody>
      </p:sp>
      <p:sp>
        <p:nvSpPr>
          <p:cNvPr id="6" name="TextBox 5"/>
          <p:cNvSpPr txBox="1"/>
          <p:nvPr/>
        </p:nvSpPr>
        <p:spPr>
          <a:xfrm>
            <a:off x="777240" y="3703320"/>
            <a:ext cx="10607040" cy="2651760"/>
          </a:xfrm>
          <a:prstGeom prst="rect">
            <a:avLst/>
          </a:prstGeom>
          <a:noFill/>
        </p:spPr>
        <p:txBody>
          <a:bodyPr wrap="square" anchor="t" lIns="0" rIns="0" tIns="0" bIns="0">
            <a:spAutoFit/>
          </a:bodyPr>
          <a:lstStyle/>
          <a:p>
            <a:pPr>
              <a:lnSpc>
                <a:spcPct val="110000"/>
              </a:lnSpc>
              <a:spcAft>
                <a:spcPts val="900"/>
              </a:spcAft>
            </a:pPr>
            <a:r>
              <a:rPr sz="1450" b="1">
                <a:solidFill>
                  <a:srgbClr val="C9A227"/>
                </a:solidFill>
              </a:rPr>
              <a:t>▪  </a:t>
            </a:r>
            <a:r>
              <a:rPr sz="1450" b="0" i="0">
                <a:solidFill>
                  <a:srgbClr val="FFFFFF"/>
                </a:solidFill>
              </a:rPr>
              <a:t>Paper: </a:t>
            </a:r>
            <a:r>
              <a:rPr sz="1450" b="0" i="1">
                <a:solidFill>
                  <a:srgbClr val="FFFFFF"/>
                </a:solidFill>
              </a:rPr>
              <a:t>Xu et al., ICLR 2025</a:t>
            </a:r>
            <a:r>
              <a:rPr sz="1450" b="0" i="0">
                <a:solidFill>
                  <a:srgbClr val="FFFFFF"/>
                </a:solidFill>
              </a:rPr>
              <a:t> — introduces </a:t>
            </a:r>
            <a:r>
              <a:rPr sz="1450" b="1" i="0">
                <a:solidFill>
                  <a:srgbClr val="FFFFFF"/>
                </a:solidFill>
              </a:rPr>
              <a:t>Lastde</a:t>
            </a:r>
            <a:r>
              <a:rPr sz="1450" b="0" i="0">
                <a:solidFill>
                  <a:srgbClr val="FFFFFF"/>
                </a:solidFill>
              </a:rPr>
              <a:t> and </a:t>
            </a:r>
            <a:r>
              <a:rPr sz="1450" b="1" i="0">
                <a:solidFill>
                  <a:srgbClr val="FFFFFF"/>
                </a:solidFill>
              </a:rPr>
              <a:t>Lastde++</a:t>
            </a:r>
            <a:r>
              <a:rPr sz="1450" b="0" i="0">
                <a:solidFill>
                  <a:srgbClr val="FFFFFF"/>
                </a:solidFill>
              </a:rPr>
              <a:t>, two training-free LLM-text detectors</a:t>
            </a:r>
          </a:p>
          <a:p>
            <a:pPr>
              <a:lnSpc>
                <a:spcPct val="110000"/>
              </a:lnSpc>
              <a:spcAft>
                <a:spcPts val="900"/>
              </a:spcAft>
            </a:pPr>
            <a:r>
              <a:rPr sz="1450" b="1">
                <a:solidFill>
                  <a:srgbClr val="C9A227"/>
                </a:solidFill>
              </a:rPr>
              <a:t>▪  </a:t>
            </a:r>
            <a:r>
              <a:rPr sz="1450" b="0" i="0">
                <a:solidFill>
                  <a:srgbClr val="FFFFFF"/>
                </a:solidFill>
              </a:rPr>
              <a:t>Central idea: treat the </a:t>
            </a:r>
            <a:r>
              <a:rPr sz="1450" b="1" i="0">
                <a:solidFill>
                  <a:srgbClr val="FFFFFF"/>
                </a:solidFill>
              </a:rPr>
              <a:t>Token Probability Sequence (TPS)</a:t>
            </a:r>
            <a:r>
              <a:rPr sz="1450" b="0" i="0">
                <a:solidFill>
                  <a:srgbClr val="FFFFFF"/>
                </a:solidFill>
              </a:rPr>
              <a:t> as a </a:t>
            </a:r>
            <a:r>
              <a:rPr sz="1450" b="0" i="1">
                <a:solidFill>
                  <a:srgbClr val="FFFFFF"/>
                </a:solidFill>
              </a:rPr>
              <a:t>time series</a:t>
            </a:r>
            <a:r>
              <a:rPr sz="1450" b="0" i="0">
                <a:solidFill>
                  <a:srgbClr val="FFFFFF"/>
                </a:solidFill>
              </a:rPr>
              <a:t> and mine its local dynamics</a:t>
            </a:r>
          </a:p>
          <a:p>
            <a:pPr>
              <a:lnSpc>
                <a:spcPct val="110000"/>
              </a:lnSpc>
              <a:spcAft>
                <a:spcPts val="900"/>
              </a:spcAft>
            </a:pPr>
            <a:r>
              <a:rPr sz="1450" b="1">
                <a:solidFill>
                  <a:srgbClr val="C9A227"/>
                </a:solidFill>
              </a:rPr>
              <a:t>▪  </a:t>
            </a:r>
            <a:r>
              <a:rPr sz="1450" b="0" i="0">
                <a:solidFill>
                  <a:srgbClr val="FFFFFF"/>
                </a:solidFill>
              </a:rPr>
              <a:t>Combines a global statistic (Log-Likelihood) with a new local statistic (Multi-scale Diversity Entropy)</a:t>
            </a:r>
          </a:p>
          <a:p>
            <a:pPr>
              <a:lnSpc>
                <a:spcPct val="110000"/>
              </a:lnSpc>
              <a:spcAft>
                <a:spcPts val="900"/>
              </a:spcAft>
            </a:pPr>
            <a:r>
              <a:rPr sz="1450" b="1">
                <a:solidFill>
                  <a:srgbClr val="C9A227"/>
                </a:solidFill>
              </a:rPr>
              <a:t>▪  </a:t>
            </a:r>
            <a:r>
              <a:rPr sz="1450" b="0" i="0">
                <a:solidFill>
                  <a:srgbClr val="FFFFFF"/>
                </a:solidFill>
              </a:rPr>
              <a:t>Evaluation scope: 6 datasets, 18 source models, white-box &amp; black-box, cross-lingual, and paraphrase attacks (Sections 4–5)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Why Training-Free Detection — and Why Existing Methods Fall Short</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0" i="0">
                <a:solidFill>
                  <a:srgbClr val="212121"/>
                </a:solidFill>
              </a:rPr>
              <a:t>LLM misuse — fake news, academic dishonesty, training-data pollution (model collapse) — calls for reliable detectors (Section 1)</a:t>
            </a:r>
          </a:p>
          <a:p>
            <a:pPr>
              <a:lnSpc>
                <a:spcPct val="106000"/>
              </a:lnSpc>
              <a:spcAft>
                <a:spcPts val="900"/>
              </a:spcAft>
            </a:pPr>
            <a:r>
              <a:rPr sz="1500" b="1">
                <a:solidFill>
                  <a:srgbClr val="C9A227"/>
                </a:solidFill>
              </a:rPr>
              <a:t>▪  </a:t>
            </a:r>
            <a:r>
              <a:rPr sz="1500" b="1" i="0">
                <a:solidFill>
                  <a:srgbClr val="212121"/>
                </a:solidFill>
              </a:rPr>
              <a:t>Training-based</a:t>
            </a:r>
            <a:r>
              <a:rPr sz="1500" b="0" i="0">
                <a:solidFill>
                  <a:srgbClr val="212121"/>
                </a:solidFill>
              </a:rPr>
              <a:t> detectors (e.g., fine-tuned classifiers): expensive labeled data + training, overfit to in-domain distributions, generalize poorly across domains/models (Section 1)</a:t>
            </a:r>
          </a:p>
          <a:p>
            <a:pPr>
              <a:lnSpc>
                <a:spcPct val="106000"/>
              </a:lnSpc>
              <a:spcAft>
                <a:spcPts val="900"/>
              </a:spcAft>
            </a:pPr>
            <a:r>
              <a:rPr sz="1500" b="1">
                <a:solidFill>
                  <a:srgbClr val="C9A227"/>
                </a:solidFill>
              </a:rPr>
              <a:t>▪  </a:t>
            </a:r>
            <a:r>
              <a:rPr sz="1500" b="1" i="0">
                <a:solidFill>
                  <a:srgbClr val="212121"/>
                </a:solidFill>
              </a:rPr>
              <a:t>Training-free</a:t>
            </a:r>
            <a:r>
              <a:rPr sz="1500" b="0" i="0">
                <a:solidFill>
                  <a:srgbClr val="212121"/>
                </a:solidFill>
              </a:rPr>
              <a:t> detectors: cheap and interpretable, but existing ones use only </a:t>
            </a:r>
            <a:r>
              <a:rPr sz="1500" b="1" i="0">
                <a:solidFill>
                  <a:srgbClr val="212121"/>
                </a:solidFill>
              </a:rPr>
              <a:t>global statistics</a:t>
            </a:r>
            <a:r>
              <a:rPr sz="1500" b="0" i="0">
                <a:solidFill>
                  <a:srgbClr val="212121"/>
                </a:solidFill>
              </a:rPr>
              <a:t> (likelihood, rank) and ignore </a:t>
            </a:r>
            <a:r>
              <a:rPr sz="1500" b="0" i="1">
                <a:solidFill>
                  <a:srgbClr val="212121"/>
                </a:solidFill>
              </a:rPr>
              <a:t>local</a:t>
            </a:r>
            <a:r>
              <a:rPr sz="1500" b="0" i="0">
                <a:solidFill>
                  <a:srgbClr val="212121"/>
                </a:solidFill>
              </a:rPr>
              <a:t> patterns (Abstract, Section 1)</a:t>
            </a:r>
          </a:p>
          <a:p>
            <a:pPr>
              <a:lnSpc>
                <a:spcPct val="106000"/>
              </a:lnSpc>
              <a:spcAft>
                <a:spcPts val="900"/>
              </a:spcAft>
            </a:pPr>
            <a:r>
              <a:rPr sz="1500" b="1">
                <a:solidFill>
                  <a:srgbClr val="C9A227"/>
                </a:solidFill>
              </a:rPr>
              <a:t>▪  </a:t>
            </a:r>
            <a:r>
              <a:rPr sz="1500" b="0" i="0">
                <a:solidFill>
                  <a:srgbClr val="212121"/>
                </a:solidFill>
              </a:rPr>
              <a:t>Efficiency dilemma: DetectGPT-family methods are too slow for real-time use; Fast-DetectGPT (≈340× faster) is much weaker in black-box (Section 2)</a:t>
            </a:r>
          </a:p>
          <a:p>
            <a:pPr>
              <a:lnSpc>
                <a:spcPct val="106000"/>
              </a:lnSpc>
              <a:spcAft>
                <a:spcPts val="900"/>
              </a:spcAft>
            </a:pPr>
            <a:r>
              <a:rPr sz="1500" b="1">
                <a:solidFill>
                  <a:srgbClr val="C9A227"/>
                </a:solidFill>
              </a:rPr>
              <a:t>▪  </a:t>
            </a:r>
            <a:r>
              <a:rPr sz="1500" b="0" i="0">
                <a:solidFill>
                  <a:srgbClr val="212121"/>
                </a:solidFill>
              </a:rPr>
              <a:t>Core hypothesis: the TPS contains unexploited </a:t>
            </a:r>
            <a:r>
              <a:rPr sz="1500" b="1" i="0">
                <a:solidFill>
                  <a:srgbClr val="212121"/>
                </a:solidFill>
              </a:rPr>
              <a:t>local geometric information</a:t>
            </a:r>
            <a:r>
              <a:rPr sz="1500" b="0" i="0">
                <a:solidFill>
                  <a:srgbClr val="212121"/>
                </a:solidFill>
              </a:rPr>
              <a:t> — mining it should close the black-box gap (Section 2)</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The Token Probability Sequence (TPS): A New Lens on AI Text</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TPS:</a:t>
            </a:r>
            <a:r>
              <a:rPr sz="1500" b="0" i="0">
                <a:solidFill>
                  <a:srgbClr val="212121"/>
                </a:solidFill>
              </a:rPr>
              <a:t> positional sequence of per-token conditional log-probabilities,</a:t>
            </a:r>
          </a:p>
          <a:p>
            <a:pPr>
              <a:lnSpc>
                <a:spcPct val="106000"/>
              </a:lnSpc>
              <a:spcAft>
                <a:spcPts val="900"/>
              </a:spcAft>
            </a:pPr>
            <a:r>
              <a:rPr sz="1500" b="1">
                <a:solidFill>
                  <a:srgbClr val="C9A227"/>
                </a:solidFill>
              </a:rPr>
              <a:t>▪  </a:t>
            </a:r>
            <a:r>
              <a:rPr sz="1500" b="0" i="0">
                <a:solidFill>
                  <a:srgbClr val="212121"/>
                </a:solidFill>
              </a:rPr>
              <a:t>Token position plays the role of </a:t>
            </a:r>
            <a:r>
              <a:rPr sz="1500" b="1" i="0">
                <a:solidFill>
                  <a:srgbClr val="212121"/>
                </a:solidFill>
              </a:rPr>
              <a:t>time</a:t>
            </a:r>
            <a:r>
              <a:rPr sz="1500" b="0" i="0">
                <a:solidFill>
                  <a:srgbClr val="212121"/>
                </a:solidFill>
              </a:rPr>
              <a:t> — this paper is the first to bring </a:t>
            </a:r>
            <a:r>
              <a:rPr sz="1500" b="0" i="1">
                <a:solidFill>
                  <a:srgbClr val="212121"/>
                </a:solidFill>
              </a:rPr>
              <a:t>time-series analysis</a:t>
            </a:r>
            <a:r>
              <a:rPr sz="1500" b="0" i="0">
                <a:solidFill>
                  <a:srgbClr val="212121"/>
                </a:solidFill>
              </a:rPr>
              <a:t> into AI-text detection (Abstract)</a:t>
            </a:r>
          </a:p>
          <a:p>
            <a:pPr>
              <a:lnSpc>
                <a:spcPct val="106000"/>
              </a:lnSpc>
              <a:spcAft>
                <a:spcPts val="900"/>
              </a:spcAft>
            </a:pPr>
            <a:r>
              <a:rPr sz="1500" b="1">
                <a:solidFill>
                  <a:srgbClr val="C9A227"/>
                </a:solidFill>
              </a:rPr>
              <a:t>▪  </a:t>
            </a:r>
            <a:r>
              <a:rPr sz="1500" b="0" i="0">
                <a:solidFill>
                  <a:srgbClr val="212121"/>
                </a:solidFill>
              </a:rPr>
              <a:t>LLMs are trained to minimize perplexity, so their TPS should be "compact"; the </a:t>
            </a:r>
            <a:r>
              <a:rPr sz="1500" b="0" i="1">
                <a:solidFill>
                  <a:srgbClr val="212121"/>
                </a:solidFill>
              </a:rPr>
              <a:t>local fluctuation</a:t>
            </a:r>
            <a:r>
              <a:rPr sz="1500" b="0" i="0">
                <a:solidFill>
                  <a:srgbClr val="212121"/>
                </a:solidFill>
              </a:rPr>
              <a:t> becomes the discriminative cue (Appendix E)</a:t>
            </a:r>
          </a:p>
          <a:p>
            <a:pPr>
              <a:lnSpc>
                <a:spcPct val="106000"/>
              </a:lnSpc>
              <a:spcAft>
                <a:spcPts val="900"/>
              </a:spcAft>
            </a:pPr>
            <a:r>
              <a:rPr sz="1500" b="1">
                <a:solidFill>
                  <a:srgbClr val="C9A227"/>
                </a:solidFill>
              </a:rPr>
              <a:t>▪  </a:t>
            </a:r>
            <a:r>
              <a:rPr sz="1500" b="0" i="0">
                <a:solidFill>
                  <a:srgbClr val="212121"/>
                </a:solidFill>
              </a:rPr>
              <a:t>Tool borrowed from signal processing: </a:t>
            </a:r>
            <a:r>
              <a:rPr sz="1500" b="1" i="0">
                <a:solidFill>
                  <a:srgbClr val="212121"/>
                </a:solidFill>
              </a:rPr>
              <a:t>Diversity Entropy</a:t>
            </a:r>
            <a:r>
              <a:rPr sz="1500" b="0" i="0">
                <a:solidFill>
                  <a:srgbClr val="212121"/>
                </a:solidFill>
              </a:rPr>
              <a:t> (Wang et al., 2020), originally used for fault diagnosis and ECG analysis (Section 3.1)</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000" b="1">
                <a:solidFill>
                  <a:srgbClr val="FFFFFF"/>
                </a:solidFill>
              </a:rPr>
              <a:t>Visual Evidence: Abrupt Human Fluctuations vs. Stable LLM Probabilities</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Figure 1(a):</a:t>
            </a:r>
            <a:r>
              <a:rPr sz="1500" b="0" i="0">
                <a:solidFill>
                  <a:srgbClr val="212121"/>
                </a:solidFill>
              </a:rPr>
              <a:t> under the same 30-token prefix, the human TPS fluctuates visibly more abruptly than the LLM TPS</a:t>
            </a:r>
          </a:p>
          <a:p>
            <a:pPr>
              <a:lnSpc>
                <a:spcPct val="106000"/>
              </a:lnSpc>
              <a:spcAft>
                <a:spcPts val="900"/>
              </a:spcAft>
            </a:pPr>
            <a:r>
              <a:rPr sz="1500" b="1">
                <a:solidFill>
                  <a:srgbClr val="C9A227"/>
                </a:solidFill>
              </a:rPr>
              <a:t>▪  </a:t>
            </a:r>
            <a:r>
              <a:rPr sz="1500" b="1" i="0">
                <a:solidFill>
                  <a:srgbClr val="212121"/>
                </a:solidFill>
              </a:rPr>
              <a:t>MDE curves (Figure 9):</a:t>
            </a:r>
            <a:r>
              <a:rPr sz="1500" b="0" i="0">
                <a:solidFill>
                  <a:srgbClr val="212121"/>
                </a:solidFill>
              </a:rPr>
              <a:t> human DE stays </a:t>
            </a:r>
            <a:r>
              <a:rPr sz="1500" b="0" i="1">
                <a:solidFill>
                  <a:srgbClr val="212121"/>
                </a:solidFill>
              </a:rPr>
              <a:t>above</a:t>
            </a:r>
            <a:r>
              <a:rPr sz="1500" b="0" i="0">
                <a:solidFill>
                  <a:srgbClr val="212121"/>
                </a:solidFill>
              </a:rPr>
              <a:t> LLM DE at every smoothing scale — a robust gap</a:t>
            </a:r>
          </a:p>
          <a:p>
            <a:pPr>
              <a:lnSpc>
                <a:spcPct val="106000"/>
              </a:lnSpc>
              <a:spcAft>
                <a:spcPts val="900"/>
              </a:spcAft>
            </a:pPr>
            <a:r>
              <a:rPr sz="1500" b="1">
                <a:solidFill>
                  <a:srgbClr val="C9A227"/>
                </a:solidFill>
              </a:rPr>
              <a:t>▪  </a:t>
            </a:r>
            <a:r>
              <a:rPr sz="1500" b="0" i="0">
                <a:solidFill>
                  <a:srgbClr val="212121"/>
                </a:solidFill>
              </a:rPr>
              <a:t>The gap holds across </a:t>
            </a:r>
            <a:r>
              <a:rPr sz="1500" b="1" i="0">
                <a:solidFill>
                  <a:srgbClr val="212121"/>
                </a:solidFill>
              </a:rPr>
              <a:t>languages, scenarios, and models</a:t>
            </a:r>
            <a:r>
              <a:rPr sz="1500" b="0" i="0">
                <a:solidFill>
                  <a:srgbClr val="212121"/>
                </a:solidFill>
              </a:rPr>
              <a:t> (Figure 9), confirming it is a general signature, not an artifact</a:t>
            </a:r>
          </a:p>
          <a:p>
            <a:pPr>
              <a:lnSpc>
                <a:spcPct val="106000"/>
              </a:lnSpc>
              <a:spcAft>
                <a:spcPts val="900"/>
              </a:spcAft>
            </a:pPr>
            <a:r>
              <a:rPr sz="1500" b="1">
                <a:solidFill>
                  <a:srgbClr val="C9A227"/>
                </a:solidFill>
              </a:rPr>
              <a:t>▪  </a:t>
            </a:r>
            <a:r>
              <a:rPr sz="1500" b="0" i="0">
                <a:solidFill>
                  <a:srgbClr val="212121"/>
                </a:solidFill>
              </a:rPr>
              <a:t>Both curves decline as scale grows: heavy smoothing pushes any sequence toward a periodic/deterministic state (Appendix E)</a:t>
            </a:r>
          </a:p>
          <a:p>
            <a:pPr>
              <a:lnSpc>
                <a:spcPct val="106000"/>
              </a:lnSpc>
              <a:spcAft>
                <a:spcPts val="900"/>
              </a:spcAft>
            </a:pPr>
            <a:r>
              <a:rPr sz="1500" b="1">
                <a:solidFill>
                  <a:srgbClr val="C9A227"/>
                </a:solidFill>
              </a:rPr>
              <a:t>▪  </a:t>
            </a:r>
            <a:r>
              <a:rPr sz="1500" b="0" i="0">
                <a:solidFill>
                  <a:srgbClr val="212121"/>
                </a:solidFill>
              </a:rPr>
              <a:t>This motivates a statistic that quantifies </a:t>
            </a:r>
            <a:r>
              <a:rPr sz="1500" b="0" i="1">
                <a:solidFill>
                  <a:srgbClr val="212121"/>
                </a:solidFill>
              </a:rPr>
              <a:t>local</a:t>
            </a:r>
            <a:r>
              <a:rPr sz="1500" b="0" i="0">
                <a:solidFill>
                  <a:srgbClr val="212121"/>
                </a:solidFill>
              </a:rPr>
              <a:t> fluctuation — the basis of DE/MDE</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Methodology I: Mining Local Dynamics — DE and MDE</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0" i="0">
                <a:solidFill>
                  <a:srgbClr val="212121"/>
                </a:solidFill>
              </a:rPr>
              <a:t>Five-stage pipeline (Figure 2, Section 3.1):</a:t>
            </a:r>
          </a:p>
          <a:p>
            <a:pPr lvl="1" marL="274320">
              <a:lnSpc>
                <a:spcPct val="106000"/>
              </a:lnSpc>
              <a:spcAft>
                <a:spcPts val="500"/>
              </a:spcAft>
            </a:pPr>
            <a:r>
              <a:rPr sz="1350">
                <a:solidFill>
                  <a:srgbClr val="595959"/>
                </a:solidFill>
              </a:rPr>
              <a:t>–  </a:t>
            </a:r>
            <a:r>
              <a:rPr sz="1350" b="0" i="0">
                <a:solidFill>
                  <a:srgbClr val="595959"/>
                </a:solidFill>
              </a:rPr>
              <a:t>1. </a:t>
            </a:r>
            <a:r>
              <a:rPr sz="1350" b="1" i="0">
                <a:solidFill>
                  <a:srgbClr val="595959"/>
                </a:solidFill>
              </a:rPr>
              <a:t>Multi-scale moving average:</a:t>
            </a:r>
            <a:r>
              <a:rPr sz="1350" b="0" i="0">
                <a:solidFill>
                  <a:srgbClr val="595959"/>
                </a:solidFill>
              </a:rPr>
              <a:t> </a:t>
            </a:r>
            <a:r>
              <a:rPr sz="1350" b="0" i="0">
                <a:solidFill>
                  <a:srgbClr val="595959"/>
                </a:solidFill>
                <a:latin typeface="Cambria Math"/>
              </a:rPr>
              <a:t>\log \hat{p}_\theta^{(\tau)}(j)=\tfrac{1}{\tau}\sum_{i=j}^{j+\tau-1}\log p_\theta(t_i\mid t_{&lt;i})</a:t>
            </a:r>
            <a:r>
              <a:rPr sz="1350" b="0" i="0">
                <a:solidFill>
                  <a:srgbClr val="595959"/>
                </a:solidFill>
              </a:rPr>
              <a:t> (Eq. 2)</a:t>
            </a:r>
          </a:p>
          <a:p>
            <a:pPr lvl="1" marL="274320">
              <a:lnSpc>
                <a:spcPct val="106000"/>
              </a:lnSpc>
              <a:spcAft>
                <a:spcPts val="500"/>
              </a:spcAft>
            </a:pPr>
            <a:r>
              <a:rPr sz="1350">
                <a:solidFill>
                  <a:srgbClr val="595959"/>
                </a:solidFill>
              </a:rPr>
              <a:t>–  </a:t>
            </a:r>
            <a:r>
              <a:rPr sz="1350" b="0" i="0">
                <a:solidFill>
                  <a:srgbClr val="595959"/>
                </a:solidFill>
              </a:rPr>
              <a:t>2. </a:t>
            </a:r>
            <a:r>
              <a:rPr sz="1350" b="1" i="0">
                <a:solidFill>
                  <a:srgbClr val="595959"/>
                </a:solidFill>
              </a:rPr>
              <a:t>Sliding-window segmentation</a:t>
            </a:r>
            <a:r>
              <a:rPr sz="1350" b="0" i="0">
                <a:solidFill>
                  <a:srgbClr val="595959"/>
                </a:solidFill>
              </a:rPr>
              <a:t> into </a:t>
            </a:r>
            <a:r>
              <a:rPr sz="1350" b="0" i="0">
                <a:solidFill>
                  <a:srgbClr val="595959"/>
                </a:solidFill>
                <a:latin typeface="Cambria Math"/>
              </a:rPr>
              <a:t>s</a:t>
            </a:r>
            <a:r>
              <a:rPr sz="1350" b="0" i="0">
                <a:solidFill>
                  <a:srgbClr val="595959"/>
                </a:solidFill>
              </a:rPr>
              <a:t>-probability segments, stride 1 (Eqs. 3–4)</a:t>
            </a:r>
          </a:p>
          <a:p>
            <a:pPr lvl="1" marL="274320">
              <a:lnSpc>
                <a:spcPct val="106000"/>
              </a:lnSpc>
              <a:spcAft>
                <a:spcPts val="500"/>
              </a:spcAft>
            </a:pPr>
            <a:r>
              <a:rPr sz="1350">
                <a:solidFill>
                  <a:srgbClr val="595959"/>
                </a:solidFill>
              </a:rPr>
              <a:t>–  </a:t>
            </a:r>
            <a:r>
              <a:rPr sz="1350" b="0" i="0">
                <a:solidFill>
                  <a:srgbClr val="595959"/>
                </a:solidFill>
              </a:rPr>
              <a:t>3. </a:t>
            </a:r>
            <a:r>
              <a:rPr sz="1350" b="1" i="0">
                <a:solidFill>
                  <a:srgbClr val="595959"/>
                </a:solidFill>
              </a:rPr>
              <a:t>Cosine similarity of adjacent segments</a:t>
            </a:r>
            <a:r>
              <a:rPr sz="1350" b="0" i="0">
                <a:solidFill>
                  <a:srgbClr val="595959"/>
                </a:solidFill>
              </a:rPr>
              <a:t> </a:t>
            </a:r>
            <a:r>
              <a:rPr sz="1350" b="0" i="0">
                <a:solidFill>
                  <a:srgbClr val="595959"/>
                </a:solidFill>
                <a:latin typeface="Cambria Math"/>
              </a:rPr>
              <a:t>d_k^{(\tau)}</a:t>
            </a:r>
            <a:r>
              <a:rPr sz="1350" b="0" i="0">
                <a:solidFill>
                  <a:srgbClr val="595959"/>
                </a:solidFill>
              </a:rPr>
              <a:t> (Eq. 5) — near 1 means small local fluctuation</a:t>
            </a:r>
          </a:p>
          <a:p>
            <a:pPr lvl="1" marL="274320">
              <a:lnSpc>
                <a:spcPct val="106000"/>
              </a:lnSpc>
              <a:spcAft>
                <a:spcPts val="500"/>
              </a:spcAft>
            </a:pPr>
            <a:r>
              <a:rPr sz="1350">
                <a:solidFill>
                  <a:srgbClr val="595959"/>
                </a:solidFill>
              </a:rPr>
              <a:t>–  </a:t>
            </a:r>
            <a:r>
              <a:rPr sz="1350" b="0" i="0">
                <a:solidFill>
                  <a:srgbClr val="595959"/>
                </a:solidFill>
              </a:rPr>
              <a:t>4. </a:t>
            </a:r>
            <a:r>
              <a:rPr sz="1350" b="1" i="0">
                <a:solidFill>
                  <a:srgbClr val="595959"/>
                </a:solidFill>
              </a:rPr>
              <a:t>Histogram</a:t>
            </a:r>
            <a:r>
              <a:rPr sz="1350" b="0" i="0">
                <a:solidFill>
                  <a:srgbClr val="595959"/>
                </a:solidFill>
              </a:rPr>
              <a:t> of similarities over </a:t>
            </a:r>
            <a:r>
              <a:rPr sz="1350" b="0" i="0">
                <a:solidFill>
                  <a:srgbClr val="595959"/>
                </a:solidFill>
                <a:latin typeface="Cambria Math"/>
              </a:rPr>
              <a:t>\varepsilon</a:t>
            </a:r>
            <a:r>
              <a:rPr sz="1350" b="0" i="0">
                <a:solidFill>
                  <a:srgbClr val="595959"/>
                </a:solidFill>
              </a:rPr>
              <a:t> equal bins of </a:t>
            </a:r>
            <a:r>
              <a:rPr sz="1350" b="0" i="0">
                <a:solidFill>
                  <a:srgbClr val="595959"/>
                </a:solidFill>
                <a:latin typeface="Cambria Math"/>
              </a:rPr>
              <a:t>[-1,1]</a:t>
            </a:r>
            <a:r>
              <a:rPr sz="1350" b="0" i="0">
                <a:solidFill>
                  <a:srgbClr val="595959"/>
                </a:solidFill>
              </a:rPr>
              <a:t> → probability states </a:t>
            </a:r>
            <a:r>
              <a:rPr sz="1350" b="0" i="0">
                <a:solidFill>
                  <a:srgbClr val="595959"/>
                </a:solidFill>
                <a:latin typeface="Cambria Math"/>
              </a:rPr>
              <a:t>P_i^{(\tau)}=c_i^{(\tau)}/\sum_k c_k^{(\tau)}</a:t>
            </a:r>
            <a:r>
              <a:rPr sz="1350" b="0" i="0">
                <a:solidFill>
                  <a:srgbClr val="595959"/>
                </a:solidFill>
              </a:rPr>
              <a:t> (Eq. 6)</a:t>
            </a:r>
          </a:p>
          <a:p>
            <a:pPr lvl="1" marL="274320">
              <a:lnSpc>
                <a:spcPct val="106000"/>
              </a:lnSpc>
              <a:spcAft>
                <a:spcPts val="500"/>
              </a:spcAft>
            </a:pPr>
            <a:r>
              <a:rPr sz="1350">
                <a:solidFill>
                  <a:srgbClr val="595959"/>
                </a:solidFill>
              </a:rPr>
              <a:t>–  </a:t>
            </a:r>
            <a:r>
              <a:rPr sz="1350" b="0" i="0">
                <a:solidFill>
                  <a:srgbClr val="595959"/>
                </a:solidFill>
              </a:rPr>
              <a:t>5. </a:t>
            </a:r>
            <a:r>
              <a:rPr sz="1350" b="1" i="0">
                <a:solidFill>
                  <a:srgbClr val="595959"/>
                </a:solidFill>
              </a:rPr>
              <a:t>Normalized Shannon entropy:</a:t>
            </a:r>
            <a:r>
              <a:rPr sz="1350" b="0" i="0">
                <a:solidFill>
                  <a:srgbClr val="595959"/>
                </a:solidFill>
              </a:rPr>
              <a:t> </a:t>
            </a:r>
            <a:r>
              <a:rPr sz="1350" b="0" i="0">
                <a:solidFill>
                  <a:srgbClr val="595959"/>
                </a:solidFill>
                <a:latin typeface="Cambria Math"/>
              </a:rPr>
              <a:t>DE(s,\varepsilon,\tau)=-\frac{1}{\ln\varepsilon}\sum_{i=1}^{\varepsilon}P_i^{(\tau)}\ln P_i^{(\tau)}\in[0,1]</a:t>
            </a:r>
            <a:r>
              <a:rPr sz="1350" b="0" i="0">
                <a:solidFill>
                  <a:srgbClr val="595959"/>
                </a:solidFill>
              </a:rPr>
              <a:t> (Eq. 8)</a:t>
            </a:r>
          </a:p>
          <a:p>
            <a:pPr>
              <a:lnSpc>
                <a:spcPct val="106000"/>
              </a:lnSpc>
              <a:spcAft>
                <a:spcPts val="900"/>
              </a:spcAft>
            </a:pPr>
            <a:r>
              <a:rPr sz="1500" b="1">
                <a:solidFill>
                  <a:srgbClr val="C9A227"/>
                </a:solidFill>
              </a:rPr>
              <a:t>▪  </a:t>
            </a:r>
            <a:r>
              <a:rPr sz="1500" b="0" i="0">
                <a:solidFill>
                  <a:srgbClr val="212121"/>
                </a:solidFill>
                <a:latin typeface="Cambria Math"/>
              </a:rPr>
              <a:t>DE=0</a:t>
            </a:r>
            <a:r>
              <a:rPr sz="1500" b="0" i="0">
                <a:solidFill>
                  <a:srgbClr val="212121"/>
                </a:solidFill>
              </a:rPr>
              <a:t>: smooth/deterministic signal; </a:t>
            </a:r>
            <a:r>
              <a:rPr sz="1500" b="0" i="0">
                <a:solidFill>
                  <a:srgbClr val="212121"/>
                </a:solidFill>
                <a:latin typeface="Cambria Math"/>
              </a:rPr>
              <a:t>DE=1</a:t>
            </a:r>
            <a:r>
              <a:rPr sz="1500" b="0" i="0">
                <a:solidFill>
                  <a:srgbClr val="212121"/>
                </a:solidFill>
              </a:rPr>
              <a:t>: maximal complexity (Section 3.1)</a:t>
            </a:r>
          </a:p>
          <a:p>
            <a:pPr>
              <a:lnSpc>
                <a:spcPct val="106000"/>
              </a:lnSpc>
              <a:spcAft>
                <a:spcPts val="900"/>
              </a:spcAft>
            </a:pPr>
            <a:r>
              <a:rPr sz="1500" b="1">
                <a:solidFill>
                  <a:srgbClr val="C9A227"/>
                </a:solidFill>
              </a:rPr>
              <a:t>▪  </a:t>
            </a:r>
            <a:r>
              <a:rPr sz="1500" b="1" i="0">
                <a:solidFill>
                  <a:srgbClr val="212121"/>
                </a:solidFill>
              </a:rPr>
              <a:t>MDE</a:t>
            </a:r>
            <a:r>
              <a:rPr sz="1500" b="0" i="0">
                <a:solidFill>
                  <a:srgbClr val="212121"/>
                </a:solidFill>
              </a:rPr>
              <a:t> stacks DE across scales </a:t>
            </a:r>
            <a:r>
              <a:rPr sz="1500" b="0" i="0">
                <a:solidFill>
                  <a:srgbClr val="212121"/>
                </a:solidFill>
                <a:latin typeface="Cambria Math"/>
              </a:rPr>
              <a:t>\tau=1,\dots,\tau'</a:t>
            </a:r>
            <a:r>
              <a:rPr sz="1500" b="0" i="0">
                <a:solidFill>
                  <a:srgbClr val="212121"/>
                </a:solidFill>
              </a:rPr>
              <a:t>: </a:t>
            </a:r>
            <a:r>
              <a:rPr sz="1500" b="0" i="0">
                <a:solidFill>
                  <a:srgbClr val="212121"/>
                </a:solidFill>
                <a:latin typeface="Cambria Math"/>
              </a:rPr>
              <a:t>MDE=\bigl(DE(s,\varepsilon,1),\dots,DE(s,\varepsilon,\tau')\bigr)</a:t>
            </a:r>
            <a:r>
              <a:rPr sz="1500" b="0" i="0">
                <a:solidFill>
                  <a:srgbClr val="212121"/>
                </a:solidFill>
              </a:rPr>
              <a:t> (Eq. 7) — coarse-to-fine dynamics</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Methodology II: Lastde — Fusing the Global and the Local</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Lastde score</a:t>
            </a:r>
            <a:r>
              <a:rPr sz="1500" b="0" i="0">
                <a:solidFill>
                  <a:srgbClr val="212121"/>
                </a:solidFill>
              </a:rPr>
              <a:t> (Eq. 9): </a:t>
            </a:r>
            <a:r>
              <a:rPr sz="1500" b="0" i="0">
                <a:solidFill>
                  <a:srgbClr val="212121"/>
                </a:solidFill>
                <a:latin typeface="Cambria Math"/>
              </a:rPr>
              <a:t>Lastde(t,\theta)=\dfrac{\frac{1}{n}\sum_{i=1}^{n}\log p_\theta(t_i\mid t_{&lt;i})}{Agg\bigl(DE(s,\varepsilon,1),\dots,DE(s,\varepsilon,\tau')\bigr)}</a:t>
            </a:r>
          </a:p>
          <a:p>
            <a:pPr>
              <a:lnSpc>
                <a:spcPct val="106000"/>
              </a:lnSpc>
              <a:spcAft>
                <a:spcPts val="900"/>
              </a:spcAft>
            </a:pPr>
            <a:r>
              <a:rPr sz="1500" b="1">
                <a:solidFill>
                  <a:srgbClr val="C9A227"/>
                </a:solidFill>
              </a:rPr>
              <a:t>▪  </a:t>
            </a:r>
            <a:r>
              <a:rPr sz="1500" b="0" i="0">
                <a:solidFill>
                  <a:srgbClr val="212121"/>
                </a:solidFill>
              </a:rPr>
              <a:t>Numerator = </a:t>
            </a:r>
            <a:r>
              <a:rPr sz="1500" b="1" i="0">
                <a:solidFill>
                  <a:srgbClr val="212121"/>
                </a:solidFill>
              </a:rPr>
              <a:t>Log-Likelihood</a:t>
            </a:r>
            <a:r>
              <a:rPr sz="1500" b="0" i="0">
                <a:solidFill>
                  <a:srgbClr val="212121"/>
                </a:solidFill>
              </a:rPr>
              <a:t> (global view); denominator = </a:t>
            </a:r>
            <a:r>
              <a:rPr sz="1500" b="1" i="0">
                <a:solidFill>
                  <a:srgbClr val="212121"/>
                </a:solidFill>
              </a:rPr>
              <a:t>Agg-MDE</a:t>
            </a:r>
            <a:r>
              <a:rPr sz="1500" b="0" i="0">
                <a:solidFill>
                  <a:srgbClr val="212121"/>
                </a:solidFill>
              </a:rPr>
              <a:t> (local view), with </a:t>
            </a:r>
            <a:r>
              <a:rPr sz="1500" b="0" i="0">
                <a:solidFill>
                  <a:srgbClr val="212121"/>
                </a:solidFill>
                <a:latin typeface="Cambria Math"/>
              </a:rPr>
              <a:t>Agg=Std</a:t>
            </a:r>
            <a:r>
              <a:rPr sz="1500" b="0" i="0">
                <a:solidFill>
                  <a:srgbClr val="212121"/>
                </a:solidFill>
              </a:rPr>
              <a:t> by default (Section 3.2)</a:t>
            </a:r>
          </a:p>
          <a:p>
            <a:pPr>
              <a:lnSpc>
                <a:spcPct val="106000"/>
              </a:lnSpc>
              <a:spcAft>
                <a:spcPts val="900"/>
              </a:spcAft>
            </a:pPr>
            <a:r>
              <a:rPr sz="1500" b="1">
                <a:solidFill>
                  <a:srgbClr val="C9A227"/>
                </a:solidFill>
              </a:rPr>
              <a:t>▪  </a:t>
            </a:r>
            <a:r>
              <a:rPr sz="1500" b="0" i="0">
                <a:solidFill>
                  <a:srgbClr val="212121"/>
                </a:solidFill>
              </a:rPr>
              <a:t>Default hyperparameters: </a:t>
            </a:r>
            <a:r>
              <a:rPr sz="1500" b="0" i="0">
                <a:solidFill>
                  <a:srgbClr val="212121"/>
                </a:solidFill>
                <a:latin typeface="Cambria Math"/>
              </a:rPr>
              <a:t>s=3</a:t>
            </a:r>
            <a:r>
              <a:rPr sz="1500" b="0" i="0">
                <a:solidFill>
                  <a:srgbClr val="212121"/>
                </a:solidFill>
              </a:rPr>
              <a:t>, </a:t>
            </a:r>
            <a:r>
              <a:rPr sz="1500" b="0" i="0">
                <a:solidFill>
                  <a:srgbClr val="212121"/>
                </a:solidFill>
                <a:latin typeface="Cambria Math"/>
              </a:rPr>
              <a:t>\varepsilon=10n</a:t>
            </a:r>
            <a:r>
              <a:rPr sz="1500" b="0" i="0">
                <a:solidFill>
                  <a:srgbClr val="212121"/>
                </a:solidFill>
              </a:rPr>
              <a:t>, </a:t>
            </a:r>
            <a:r>
              <a:rPr sz="1500" b="0" i="0">
                <a:solidFill>
                  <a:srgbClr val="212121"/>
                </a:solidFill>
                <a:latin typeface="Cambria Math"/>
              </a:rPr>
              <a:t>\tau'=5</a:t>
            </a:r>
            <a:r>
              <a:rPr sz="1500" b="0" i="0">
                <a:solidFill>
                  <a:srgbClr val="212121"/>
                </a:solidFill>
              </a:rPr>
              <a:t> (Section 3.2)</a:t>
            </a:r>
          </a:p>
          <a:p>
            <a:pPr>
              <a:lnSpc>
                <a:spcPct val="106000"/>
              </a:lnSpc>
              <a:spcAft>
                <a:spcPts val="900"/>
              </a:spcAft>
            </a:pPr>
            <a:r>
              <a:rPr sz="1500" b="1">
                <a:solidFill>
                  <a:srgbClr val="C9A227"/>
                </a:solidFill>
              </a:rPr>
              <a:t>▪  </a:t>
            </a:r>
            <a:r>
              <a:rPr sz="1500" b="0" i="0">
                <a:solidFill>
                  <a:srgbClr val="212121"/>
                </a:solidFill>
              </a:rPr>
              <a:t>Three-step framework: </a:t>
            </a:r>
            <a:r>
              <a:rPr sz="1500" b="1" i="0">
                <a:solidFill>
                  <a:srgbClr val="212121"/>
                </a:solidFill>
              </a:rPr>
              <a:t>inference → statistics → scoring</a:t>
            </a:r>
            <a:r>
              <a:rPr sz="1500" b="0" i="0">
                <a:solidFill>
                  <a:srgbClr val="212121"/>
                </a:solidFill>
              </a:rPr>
              <a:t> (Section 3.1, Figure 2)</a:t>
            </a:r>
          </a:p>
          <a:p>
            <a:pPr>
              <a:lnSpc>
                <a:spcPct val="106000"/>
              </a:lnSpc>
              <a:spcAft>
                <a:spcPts val="900"/>
              </a:spcAft>
            </a:pPr>
            <a:r>
              <a:rPr sz="1500" b="1">
                <a:solidFill>
                  <a:srgbClr val="C9A227"/>
                </a:solidFill>
              </a:rPr>
              <a:t>▪  </a:t>
            </a:r>
            <a:r>
              <a:rPr sz="1500" b="0" i="0">
                <a:solidFill>
                  <a:srgbClr val="212121"/>
                </a:solidFill>
              </a:rPr>
              <a:t>Human texts score lower, LLM texts higher; approximate boundary ≈ −40 (Appendix E, Figure 11)</a:t>
            </a:r>
          </a:p>
          <a:p>
            <a:pPr>
              <a:lnSpc>
                <a:spcPct val="106000"/>
              </a:lnSpc>
              <a:spcAft>
                <a:spcPts val="900"/>
              </a:spcAft>
            </a:pPr>
            <a:r>
              <a:rPr sz="1500" b="1">
                <a:solidFill>
                  <a:srgbClr val="C9A227"/>
                </a:solidFill>
              </a:rPr>
              <a:t>▪  </a:t>
            </a:r>
            <a:r>
              <a:rPr sz="1500" b="0" i="0">
                <a:solidFill>
                  <a:srgbClr val="212121"/>
                </a:solidFill>
              </a:rPr>
              <a:t>Fusion is decisive: combining likelihood with Agg-MDE can add </a:t>
            </a:r>
            <a:r>
              <a:rPr sz="1500" b="1" i="0">
                <a:solidFill>
                  <a:srgbClr val="212121"/>
                </a:solidFill>
              </a:rPr>
              <a:t>&gt;10 AUROC points</a:t>
            </a:r>
            <a:r>
              <a:rPr sz="1500" b="0" i="0">
                <a:solidFill>
                  <a:srgbClr val="212121"/>
                </a:solidFill>
              </a:rPr>
              <a:t> over either component alone (Table 11)</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Methodology III: Lastde++ — Fast Sampling for a Cleaner Signal</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Sampling discrepancy</a:t>
            </a:r>
            <a:r>
              <a:rPr sz="1500" b="0" i="0">
                <a:solidFill>
                  <a:srgbClr val="212121"/>
                </a:solidFill>
              </a:rPr>
              <a:t> (Eq. 10): </a:t>
            </a:r>
            <a:r>
              <a:rPr sz="1500" b="0" i="0">
                <a:solidFill>
                  <a:srgbClr val="212121"/>
                </a:solidFill>
                <a:latin typeface="Cambria Math"/>
              </a:rPr>
              <a:t>D(t,\theta,\tilde{\theta})=\dfrac{Lastde(t,\theta)-\tilde{\mu}}{\tilde{\sigma}}</a:t>
            </a:r>
            <a:r>
              <a:rPr sz="1500" b="0" i="0">
                <a:solidFill>
                  <a:srgbClr val="212121"/>
                </a:solidFill>
              </a:rPr>
              <a:t>,</a:t>
            </a:r>
          </a:p>
          <a:p>
            <a:pPr>
              <a:lnSpc>
                <a:spcPct val="106000"/>
              </a:lnSpc>
              <a:spcAft>
                <a:spcPts val="900"/>
              </a:spcAft>
            </a:pPr>
            <a:r>
              <a:rPr sz="1500" b="1">
                <a:solidFill>
                  <a:srgbClr val="C9A227"/>
                </a:solidFill>
              </a:rPr>
              <a:t>▪  </a:t>
            </a:r>
            <a:r>
              <a:rPr sz="1500" b="0" i="0">
                <a:solidFill>
                  <a:srgbClr val="212121"/>
                </a:solidFill>
              </a:rPr>
              <a:t>Fast-sampling scheme adopted from </a:t>
            </a:r>
            <a:r>
              <a:rPr sz="1500" b="1" i="0">
                <a:solidFill>
                  <a:srgbClr val="212121"/>
                </a:solidFill>
              </a:rPr>
              <a:t>Bao et al. (2024)</a:t>
            </a:r>
            <a:r>
              <a:rPr sz="1500" b="0" i="0">
                <a:solidFill>
                  <a:srgbClr val="212121"/>
                </a:solidFill>
              </a:rPr>
              <a:t>; the mechanics are not re-derived in this paper (Section 3.2)</a:t>
            </a:r>
          </a:p>
          <a:p>
            <a:pPr>
              <a:lnSpc>
                <a:spcPct val="106000"/>
              </a:lnSpc>
              <a:spcAft>
                <a:spcPts val="900"/>
              </a:spcAft>
            </a:pPr>
            <a:r>
              <a:rPr sz="1500" b="1">
                <a:solidFill>
                  <a:srgbClr val="C9A227"/>
                </a:solidFill>
              </a:rPr>
              <a:t>▪  </a:t>
            </a:r>
            <a:r>
              <a:rPr sz="1500" b="0" i="0">
                <a:solidFill>
                  <a:srgbClr val="212121"/>
                </a:solidFill>
              </a:rPr>
              <a:t>Only </a:t>
            </a:r>
            <a:r>
              <a:rPr sz="1500" b="1" i="0">
                <a:solidFill>
                  <a:srgbClr val="212121"/>
                </a:solidFill>
              </a:rPr>
              <a:t>100 samples</a:t>
            </a:r>
            <a:r>
              <a:rPr sz="1500" b="0" i="0">
                <a:solidFill>
                  <a:srgbClr val="212121"/>
                </a:solidFill>
              </a:rPr>
              <a:t> — 1/100 of Fast-DetectGPT's 10,000 — and with </a:t>
            </a:r>
            <a:r>
              <a:rPr sz="1500" b="0" i="0">
                <a:solidFill>
                  <a:srgbClr val="212121"/>
                </a:solidFill>
                <a:latin typeface="Cambria Math"/>
              </a:rPr>
              <a:t>\theta=\tilde{\theta}</a:t>
            </a:r>
            <a:r>
              <a:rPr sz="1500" b="0" i="0">
                <a:solidFill>
                  <a:srgbClr val="212121"/>
                </a:solidFill>
              </a:rPr>
              <a:t> a single model call suffices (Section 3.2)</a:t>
            </a:r>
          </a:p>
          <a:p>
            <a:pPr>
              <a:lnSpc>
                <a:spcPct val="106000"/>
              </a:lnSpc>
              <a:spcAft>
                <a:spcPts val="900"/>
              </a:spcAft>
            </a:pPr>
            <a:r>
              <a:rPr sz="1500" b="1">
                <a:solidFill>
                  <a:srgbClr val="C9A227"/>
                </a:solidFill>
              </a:rPr>
              <a:t>▪  </a:t>
            </a:r>
            <a:r>
              <a:rPr sz="1500" b="0" i="0">
                <a:solidFill>
                  <a:srgbClr val="212121"/>
                </a:solidFill>
              </a:rPr>
              <a:t>Defaults: </a:t>
            </a:r>
            <a:r>
              <a:rPr sz="1500" b="0" i="0">
                <a:solidFill>
                  <a:srgbClr val="212121"/>
                </a:solidFill>
                <a:latin typeface="Cambria Math"/>
              </a:rPr>
              <a:t>s=4</a:t>
            </a:r>
            <a:r>
              <a:rPr sz="1500" b="0" i="0">
                <a:solidFill>
                  <a:srgbClr val="212121"/>
                </a:solidFill>
              </a:rPr>
              <a:t>, </a:t>
            </a:r>
            <a:r>
              <a:rPr sz="1500" b="0" i="0">
                <a:solidFill>
                  <a:srgbClr val="212121"/>
                </a:solidFill>
                <a:latin typeface="Cambria Math"/>
              </a:rPr>
              <a:t>\varepsilon=8n</a:t>
            </a:r>
            <a:r>
              <a:rPr sz="1500" b="0" i="0">
                <a:solidFill>
                  <a:srgbClr val="212121"/>
                </a:solidFill>
              </a:rPr>
              <a:t>, </a:t>
            </a:r>
            <a:r>
              <a:rPr sz="1500" b="0" i="0">
                <a:solidFill>
                  <a:srgbClr val="212121"/>
                </a:solidFill>
                <a:latin typeface="Cambria Math"/>
              </a:rPr>
              <a:t>\tau'=15</a:t>
            </a:r>
            <a:r>
              <a:rPr sz="1500" b="0" i="0">
                <a:solidFill>
                  <a:srgbClr val="212121"/>
                </a:solidFill>
              </a:rPr>
              <a:t> (Section 3.2)</a:t>
            </a:r>
          </a:p>
          <a:p>
            <a:pPr>
              <a:lnSpc>
                <a:spcPct val="106000"/>
              </a:lnSpc>
              <a:spcAft>
                <a:spcPts val="900"/>
              </a:spcAft>
            </a:pPr>
            <a:r>
              <a:rPr sz="1500" b="1">
                <a:solidFill>
                  <a:srgbClr val="C9A227"/>
                </a:solidFill>
              </a:rPr>
              <a:t>▪  </a:t>
            </a:r>
            <a:r>
              <a:rPr sz="1500" b="0" i="0">
                <a:solidFill>
                  <a:srgbClr val="212121"/>
                </a:solidFill>
              </a:rPr>
              <a:t>Z-score standardization separates classes cleanly: LLM ≈ 4 vs. human ≈ 0, boundary ≈ 2.0 (Appendix E/G, Figure 12)</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000" b="1">
                <a:solidFill>
                  <a:srgbClr val="FFFFFF"/>
                </a:solidFill>
              </a:rPr>
              <a:t>Results I: White-Box — Outperforming Single-Score and Sampling Detectors</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0" i="0">
                <a:solidFill>
                  <a:srgbClr val="212121"/>
                </a:solidFill>
              </a:rPr>
              <a:t>Setting: </a:t>
            </a:r>
            <a:r>
              <a:rPr sz="1500" b="1" i="0">
                <a:solidFill>
                  <a:srgbClr val="212121"/>
                </a:solidFill>
              </a:rPr>
              <a:t>12 open-source source models</a:t>
            </a:r>
            <a:r>
              <a:rPr sz="1500" b="0" i="0">
                <a:solidFill>
                  <a:srgbClr val="212121"/>
                </a:solidFill>
              </a:rPr>
              <a:t>; AUROC averaged over XSum, SQuAD, WritingPrompts (Table 1)</a:t>
            </a:r>
          </a:p>
          <a:p>
            <a:pPr>
              <a:lnSpc>
                <a:spcPct val="106000"/>
              </a:lnSpc>
              <a:spcAft>
                <a:spcPts val="900"/>
              </a:spcAft>
            </a:pPr>
            <a:r>
              <a:rPr sz="1500" b="1">
                <a:solidFill>
                  <a:srgbClr val="C9A227"/>
                </a:solidFill>
              </a:rPr>
              <a:t>▪  </a:t>
            </a:r>
            <a:r>
              <a:rPr sz="1500" b="1" i="0">
                <a:solidFill>
                  <a:srgbClr val="212121"/>
                </a:solidFill>
              </a:rPr>
              <a:t>Lastde: 95.89</a:t>
            </a:r>
            <a:r>
              <a:rPr sz="1500" b="0" i="0">
                <a:solidFill>
                  <a:srgbClr val="212121"/>
                </a:solidFill>
              </a:rPr>
              <a:t> avg vs. </a:t>
            </a:r>
            <a:r>
              <a:rPr sz="1500" b="1" i="0">
                <a:solidFill>
                  <a:srgbClr val="212121"/>
                </a:solidFill>
              </a:rPr>
              <a:t>90.80</a:t>
            </a:r>
            <a:r>
              <a:rPr sz="1500" b="0" i="0">
                <a:solidFill>
                  <a:srgbClr val="212121"/>
                </a:solidFill>
              </a:rPr>
              <a:t> for the best single-score baseline DetectLRR (</a:t>
            </a:r>
            <a:r>
              <a:rPr sz="1500" b="1" i="0">
                <a:solidFill>
                  <a:srgbClr val="212121"/>
                </a:solidFill>
              </a:rPr>
              <a:t>+5.09</a:t>
            </a:r>
            <a:r>
              <a:rPr sz="1500" b="0" i="0">
                <a:solidFill>
                  <a:srgbClr val="212121"/>
                </a:solidFill>
              </a:rPr>
              <a:t>); ≈8-point lead on LLaMA series and Gemma (Table 1, Appendix C.1)</a:t>
            </a:r>
          </a:p>
          <a:p>
            <a:pPr>
              <a:lnSpc>
                <a:spcPct val="106000"/>
              </a:lnSpc>
              <a:spcAft>
                <a:spcPts val="900"/>
              </a:spcAft>
            </a:pPr>
            <a:r>
              <a:rPr sz="1500" b="1">
                <a:solidFill>
                  <a:srgbClr val="C9A227"/>
                </a:solidFill>
              </a:rPr>
              <a:t>▪  </a:t>
            </a:r>
            <a:r>
              <a:rPr sz="1500" b="1" i="0">
                <a:solidFill>
                  <a:srgbClr val="212121"/>
                </a:solidFill>
              </a:rPr>
              <a:t>Lastde++: 98.85</a:t>
            </a:r>
            <a:r>
              <a:rPr sz="1500" b="0" i="0">
                <a:solidFill>
                  <a:srgbClr val="212121"/>
                </a:solidFill>
              </a:rPr>
              <a:t> avg vs. </a:t>
            </a:r>
            <a:r>
              <a:rPr sz="1500" b="1" i="0">
                <a:solidFill>
                  <a:srgbClr val="212121"/>
                </a:solidFill>
              </a:rPr>
              <a:t>97.82</a:t>
            </a:r>
            <a:r>
              <a:rPr sz="1500" b="0" i="0">
                <a:solidFill>
                  <a:srgbClr val="212121"/>
                </a:solidFill>
              </a:rPr>
              <a:t> for Fast-DetectGPT (</a:t>
            </a:r>
            <a:r>
              <a:rPr sz="1500" b="1" i="0">
                <a:solidFill>
                  <a:srgbClr val="212121"/>
                </a:solidFill>
              </a:rPr>
              <a:t>+1.03</a:t>
            </a:r>
            <a:r>
              <a:rPr sz="1500" b="0" i="0">
                <a:solidFill>
                  <a:srgbClr val="212121"/>
                </a:solidFill>
              </a:rPr>
              <a:t>) — with </a:t>
            </a:r>
            <a:r>
              <a:rPr sz="1500" b="1" i="0">
                <a:solidFill>
                  <a:srgbClr val="212121"/>
                </a:solidFill>
              </a:rPr>
              <a:t>1/100 of the samples</a:t>
            </a:r>
            <a:r>
              <a:rPr sz="1500" b="0" i="0">
                <a:solidFill>
                  <a:srgbClr val="212121"/>
                </a:solidFill>
              </a:rPr>
              <a:t> (Table 1)</a:t>
            </a:r>
          </a:p>
          <a:p>
            <a:pPr>
              <a:lnSpc>
                <a:spcPct val="106000"/>
              </a:lnSpc>
              <a:spcAft>
                <a:spcPts val="900"/>
              </a:spcAft>
            </a:pPr>
            <a:r>
              <a:rPr sz="1500" b="1">
                <a:solidFill>
                  <a:srgbClr val="C9A227"/>
                </a:solidFill>
              </a:rPr>
              <a:t>▪  </a:t>
            </a:r>
            <a:r>
              <a:rPr sz="1500" b="0" i="0">
                <a:solidFill>
                  <a:srgbClr val="212121"/>
                </a:solidFill>
              </a:rPr>
              <a:t>10 of 12 source models reach </a:t>
            </a:r>
            <a:r>
              <a:rPr sz="1500" b="1" i="0">
                <a:solidFill>
                  <a:srgbClr val="212121"/>
                </a:solidFill>
              </a:rPr>
              <a:t>≥98.4 AUROC</a:t>
            </a:r>
            <a:r>
              <a:rPr sz="1500" b="0" i="0">
                <a:solidFill>
                  <a:srgbClr val="212121"/>
                </a:solidFill>
              </a:rPr>
              <a:t> with Lastde++ (Table 1)</a:t>
            </a:r>
          </a:p>
          <a:p>
            <a:pPr>
              <a:lnSpc>
                <a:spcPct val="106000"/>
              </a:lnSpc>
              <a:spcAft>
                <a:spcPts val="900"/>
              </a:spcAft>
            </a:pPr>
            <a:r>
              <a:rPr sz="1500" b="1">
                <a:solidFill>
                  <a:srgbClr val="C9A227"/>
                </a:solidFill>
              </a:rPr>
              <a:t>▪  </a:t>
            </a:r>
            <a:r>
              <a:rPr sz="1500" b="0" i="0">
                <a:solidFill>
                  <a:srgbClr val="212121"/>
                </a:solidFill>
              </a:rPr>
              <a:t>Takeaway: local dynamics carry real signal even when the generating model is fully known</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Results II: Black-Box — The Realistic Setting, and Where Lastde Shines</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0" i="0">
                <a:solidFill>
                  <a:srgbClr val="212121"/>
                </a:solidFill>
              </a:rPr>
              <a:t>Setting: </a:t>
            </a:r>
            <a:r>
              <a:rPr sz="1500" b="1" i="0">
                <a:solidFill>
                  <a:srgbClr val="212121"/>
                </a:solidFill>
              </a:rPr>
              <a:t>fixed proxy model GPT-J</a:t>
            </a:r>
            <a:r>
              <a:rPr sz="1500" b="0" i="0">
                <a:solidFill>
                  <a:srgbClr val="212121"/>
                </a:solidFill>
              </a:rPr>
              <a:t>; 11 open-source models + GPT-4-Turbo; AUROC averaged over XSum, WritingPrompts, Reddit (Table 2)</a:t>
            </a:r>
          </a:p>
          <a:p>
            <a:pPr>
              <a:lnSpc>
                <a:spcPct val="106000"/>
              </a:lnSpc>
              <a:spcAft>
                <a:spcPts val="900"/>
              </a:spcAft>
            </a:pPr>
            <a:r>
              <a:rPr sz="1500" b="1">
                <a:solidFill>
                  <a:srgbClr val="C9A227"/>
                </a:solidFill>
              </a:rPr>
              <a:t>▪  </a:t>
            </a:r>
            <a:r>
              <a:rPr sz="1500" b="1" i="0">
                <a:solidFill>
                  <a:srgbClr val="212121"/>
                </a:solidFill>
              </a:rPr>
              <a:t>Lastde (single score): 86.38</a:t>
            </a:r>
            <a:r>
              <a:rPr sz="1500" b="0" i="0">
                <a:solidFill>
                  <a:srgbClr val="212121"/>
                </a:solidFill>
              </a:rPr>
              <a:t> vs. </a:t>
            </a:r>
            <a:r>
              <a:rPr sz="1500" b="1" i="0">
                <a:solidFill>
                  <a:srgbClr val="212121"/>
                </a:solidFill>
              </a:rPr>
              <a:t>80.45</a:t>
            </a:r>
            <a:r>
              <a:rPr sz="1500" b="0" i="0">
                <a:solidFill>
                  <a:srgbClr val="212121"/>
                </a:solidFill>
              </a:rPr>
              <a:t> for DetectLRR (</a:t>
            </a:r>
            <a:r>
              <a:rPr sz="1500" b="1" i="0">
                <a:solidFill>
                  <a:srgbClr val="212121"/>
                </a:solidFill>
              </a:rPr>
              <a:t>+6.38</a:t>
            </a:r>
            <a:r>
              <a:rPr sz="1500" b="0" i="0">
                <a:solidFill>
                  <a:srgbClr val="212121"/>
                </a:solidFill>
              </a:rPr>
              <a:t>) — </a:t>
            </a:r>
            <a:r>
              <a:rPr sz="1500" b="0" i="1">
                <a:solidFill>
                  <a:srgbClr val="212121"/>
                </a:solidFill>
              </a:rPr>
              <a:t>matching</a:t>
            </a:r>
            <a:r>
              <a:rPr sz="1500" b="0" i="0">
                <a:solidFill>
                  <a:srgbClr val="212121"/>
                </a:solidFill>
              </a:rPr>
              <a:t> Fast-DetectGPT with zero sampling (Section 1, Table 2)</a:t>
            </a:r>
          </a:p>
          <a:p>
            <a:pPr>
              <a:lnSpc>
                <a:spcPct val="106000"/>
              </a:lnSpc>
              <a:spcAft>
                <a:spcPts val="900"/>
              </a:spcAft>
            </a:pPr>
            <a:r>
              <a:rPr sz="1500" b="1">
                <a:solidFill>
                  <a:srgbClr val="C9A227"/>
                </a:solidFill>
              </a:rPr>
              <a:t>▪  </a:t>
            </a:r>
            <a:r>
              <a:rPr sz="1500" b="1" i="0">
                <a:solidFill>
                  <a:srgbClr val="212121"/>
                </a:solidFill>
              </a:rPr>
              <a:t>Lastde++: 91.47</a:t>
            </a:r>
            <a:r>
              <a:rPr sz="1500" b="0" i="0">
                <a:solidFill>
                  <a:srgbClr val="212121"/>
                </a:solidFill>
              </a:rPr>
              <a:t> vs. </a:t>
            </a:r>
            <a:r>
              <a:rPr sz="1500" b="1" i="0">
                <a:solidFill>
                  <a:srgbClr val="212121"/>
                </a:solidFill>
              </a:rPr>
              <a:t>85.68</a:t>
            </a:r>
            <a:r>
              <a:rPr sz="1500" b="0" i="0">
                <a:solidFill>
                  <a:srgbClr val="212121"/>
                </a:solidFill>
              </a:rPr>
              <a:t> for Fast-DetectGPT (</a:t>
            </a:r>
            <a:r>
              <a:rPr sz="1500" b="1" i="0">
                <a:solidFill>
                  <a:srgbClr val="212121"/>
                </a:solidFill>
              </a:rPr>
              <a:t>+5.80</a:t>
            </a:r>
            <a:r>
              <a:rPr sz="1500" b="0" i="0">
                <a:solidFill>
                  <a:srgbClr val="212121"/>
                </a:solidFill>
              </a:rPr>
              <a:t>) (Table 2)</a:t>
            </a:r>
          </a:p>
          <a:p>
            <a:pPr>
              <a:lnSpc>
                <a:spcPct val="106000"/>
              </a:lnSpc>
              <a:spcAft>
                <a:spcPts val="900"/>
              </a:spcAft>
            </a:pPr>
            <a:r>
              <a:rPr sz="1500" b="1">
                <a:solidFill>
                  <a:srgbClr val="C9A227"/>
                </a:solidFill>
              </a:rPr>
              <a:t>▪  </a:t>
            </a:r>
            <a:r>
              <a:rPr sz="1500" b="0" i="0">
                <a:solidFill>
                  <a:srgbClr val="212121"/>
                </a:solidFill>
              </a:rPr>
              <a:t>Closed-source generalization: GPT-4-Turbo detected at </a:t>
            </a:r>
            <a:r>
              <a:rPr sz="1500" b="1" i="0">
                <a:solidFill>
                  <a:srgbClr val="212121"/>
                </a:solidFill>
              </a:rPr>
              <a:t>88.21</a:t>
            </a:r>
            <a:r>
              <a:rPr sz="1500" b="0" i="0">
                <a:solidFill>
                  <a:srgbClr val="212121"/>
                </a:solidFill>
              </a:rPr>
              <a:t> by Lastde++ (Table 2); GPT-4o / Claude-3-haiku covered in Appendix D (Table 8)</a:t>
            </a:r>
          </a:p>
          <a:p>
            <a:pPr>
              <a:lnSpc>
                <a:spcPct val="106000"/>
              </a:lnSpc>
              <a:spcAft>
                <a:spcPts val="900"/>
              </a:spcAft>
            </a:pPr>
            <a:r>
              <a:rPr sz="1500" b="1">
                <a:solidFill>
                  <a:srgbClr val="C9A227"/>
                </a:solidFill>
              </a:rPr>
              <a:t>▪  </a:t>
            </a:r>
            <a:r>
              <a:rPr sz="1500" b="0" i="0">
                <a:solidFill>
                  <a:srgbClr val="212121"/>
                </a:solidFill>
              </a:rPr>
              <a:t>All methods degrade vs. white-box; proxy choice matters (Figure 8) — the gap is where local statistics pay off</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Robustness: Paraphrasing Attacks and Cross-Lingual Detection</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Paraphrasing (T5-Paraphraser)</a:t>
            </a:r>
            <a:r>
              <a:rPr sz="1500" b="0" i="0">
                <a:solidFill>
                  <a:srgbClr val="212121"/>
                </a:solidFill>
              </a:rPr>
              <a:t> degrades all detectors; Lastde++ loses the least in nearly all settings (Table 3)</a:t>
            </a:r>
          </a:p>
          <a:p>
            <a:pPr lvl="1" marL="274320">
              <a:lnSpc>
                <a:spcPct val="106000"/>
              </a:lnSpc>
              <a:spcAft>
                <a:spcPts val="500"/>
              </a:spcAft>
            </a:pPr>
            <a:r>
              <a:rPr sz="1350">
                <a:solidFill>
                  <a:srgbClr val="595959"/>
                </a:solidFill>
              </a:rPr>
              <a:t>–  </a:t>
            </a:r>
            <a:r>
              <a:rPr sz="1350" b="0" i="0">
                <a:solidFill>
                  <a:srgbClr val="595959"/>
                </a:solidFill>
              </a:rPr>
              <a:t>White-box XSum: </a:t>
            </a:r>
            <a:r>
              <a:rPr sz="1350" b="1" i="0">
                <a:solidFill>
                  <a:srgbClr val="595959"/>
                </a:solidFill>
              </a:rPr>
              <a:t>−8.48</a:t>
            </a:r>
            <a:r>
              <a:rPr sz="1350" b="0" i="0">
                <a:solidFill>
                  <a:srgbClr val="595959"/>
                </a:solidFill>
              </a:rPr>
              <a:t> vs. </a:t>
            </a:r>
            <a:r>
              <a:rPr sz="1350" b="1" i="0">
                <a:solidFill>
                  <a:srgbClr val="595959"/>
                </a:solidFill>
              </a:rPr>
              <a:t>−10.60</a:t>
            </a:r>
            <a:r>
              <a:rPr sz="1350" b="0" i="0">
                <a:solidFill>
                  <a:srgbClr val="595959"/>
                </a:solidFill>
              </a:rPr>
              <a:t> for Fast-DetectGPT; WritingPrompts: −1.73 vs. −2.70 (Table 3)</a:t>
            </a:r>
          </a:p>
          <a:p>
            <a:pPr lvl="1" marL="274320">
              <a:lnSpc>
                <a:spcPct val="106000"/>
              </a:lnSpc>
              <a:spcAft>
                <a:spcPts val="500"/>
              </a:spcAft>
            </a:pPr>
            <a:r>
              <a:rPr sz="1350">
                <a:solidFill>
                  <a:srgbClr val="595959"/>
                </a:solidFill>
              </a:rPr>
              <a:t>–  </a:t>
            </a:r>
            <a:r>
              <a:rPr sz="1350" b="0" i="0">
                <a:solidFill>
                  <a:srgbClr val="595959"/>
                </a:solidFill>
              </a:rPr>
              <a:t>Black-box XSum: −9.14 vs. −9.45; WritingPrompts: −4.20 vs. −5.44 (Table 3)</a:t>
            </a:r>
          </a:p>
          <a:p>
            <a:pPr>
              <a:lnSpc>
                <a:spcPct val="106000"/>
              </a:lnSpc>
              <a:spcAft>
                <a:spcPts val="900"/>
              </a:spcAft>
            </a:pPr>
            <a:r>
              <a:rPr sz="1500" b="1">
                <a:solidFill>
                  <a:srgbClr val="C9A227"/>
                </a:solidFill>
              </a:rPr>
              <a:t>▪  </a:t>
            </a:r>
            <a:r>
              <a:rPr sz="1500" b="1" i="0">
                <a:solidFill>
                  <a:srgbClr val="212121"/>
                </a:solidFill>
              </a:rPr>
              <a:t>Cross-lingual (Figure 7):</a:t>
            </a:r>
            <a:r>
              <a:rPr sz="1500" b="0" i="0">
                <a:solidFill>
                  <a:srgbClr val="212121"/>
                </a:solidFill>
              </a:rPr>
              <a:t> Lastde++ beats Fast-DetectGPT by </a:t>
            </a:r>
            <a:r>
              <a:rPr sz="1500" b="1" i="0">
                <a:solidFill>
                  <a:srgbClr val="212121"/>
                </a:solidFill>
              </a:rPr>
              <a:t>+4.56</a:t>
            </a:r>
            <a:r>
              <a:rPr sz="1500" b="0" i="0">
                <a:solidFill>
                  <a:srgbClr val="212121"/>
                </a:solidFill>
              </a:rPr>
              <a:t> (WMT16 German) and </a:t>
            </a:r>
            <a:r>
              <a:rPr sz="1500" b="1" i="0">
                <a:solidFill>
                  <a:srgbClr val="212121"/>
                </a:solidFill>
              </a:rPr>
              <a:t>+5.24</a:t>
            </a:r>
            <a:r>
              <a:rPr sz="1500" b="0" i="0">
                <a:solidFill>
                  <a:srgbClr val="212121"/>
                </a:solidFill>
              </a:rPr>
              <a:t> (WMT16 English) on average AUROC</a:t>
            </a:r>
          </a:p>
          <a:p>
            <a:pPr>
              <a:lnSpc>
                <a:spcPct val="106000"/>
              </a:lnSpc>
              <a:spcAft>
                <a:spcPts val="900"/>
              </a:spcAft>
            </a:pPr>
            <a:r>
              <a:rPr sz="1500" b="1">
                <a:solidFill>
                  <a:srgbClr val="C9A227"/>
                </a:solidFill>
              </a:rPr>
              <a:t>▪  </a:t>
            </a:r>
            <a:r>
              <a:rPr sz="1500" b="1" i="0">
                <a:solidFill>
                  <a:srgbClr val="212121"/>
                </a:solidFill>
              </a:rPr>
              <a:t>Chinese (Zhihu, Figure 7):</a:t>
            </a:r>
            <a:r>
              <a:rPr sz="1500" b="0" i="0">
                <a:solidFill>
                  <a:srgbClr val="212121"/>
                </a:solidFill>
              </a:rPr>
              <a:t> economy/food/history show a slight edge for Lastde++ in most comparisons</a:t>
            </a:r>
          </a:p>
          <a:p>
            <a:pPr>
              <a:lnSpc>
                <a:spcPct val="106000"/>
              </a:lnSpc>
              <a:spcAft>
                <a:spcPts val="900"/>
              </a:spcAft>
            </a:pPr>
            <a:r>
              <a:rPr sz="1500" b="1">
                <a:solidFill>
                  <a:srgbClr val="C9A227"/>
                </a:solidFill>
              </a:rPr>
              <a:t>▪  </a:t>
            </a:r>
            <a:r>
              <a:rPr sz="1500" b="0" i="0">
                <a:solidFill>
                  <a:srgbClr val="212121"/>
                </a:solidFill>
              </a:rPr>
              <a:t>Additional robustness: per-dataset averages </a:t>
            </a:r>
            <a:r>
              <a:rPr sz="1500" b="1" i="0">
                <a:solidFill>
                  <a:srgbClr val="212121"/>
                </a:solidFill>
              </a:rPr>
              <a:t>&gt;94%</a:t>
            </a:r>
            <a:r>
              <a:rPr sz="1500" b="0" i="0">
                <a:solidFill>
                  <a:srgbClr val="212121"/>
                </a:solidFill>
              </a:rPr>
              <a:t> under varied decoding strategies (Table 15); 10 samples beat Fast-DetectGPT's 100 (Figure 4)</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200" b="1">
                <a:solidFill>
                  <a:srgbClr val="FFFFFF"/>
                </a:solidFill>
              </a:rPr>
              <a:t>Limitations: Honest Gaps in the Evidence</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0" i="0">
                <a:solidFill>
                  <a:srgbClr val="212121"/>
                </a:solidFill>
              </a:rPr>
              <a:t>Accuracy still degrades under paraphrasing and </a:t>
            </a:r>
            <a:r>
              <a:rPr sz="1500" b="1" i="0">
                <a:solidFill>
                  <a:srgbClr val="212121"/>
                </a:solidFill>
              </a:rPr>
              <a:t>arbitrary proxy replacement</a:t>
            </a:r>
            <a:r>
              <a:rPr sz="1500" b="0" i="0">
                <a:solidFill>
                  <a:srgbClr val="212121"/>
                </a:solidFill>
              </a:rPr>
              <a:t> (Ethics Statement) — robustness is relative, not absolute</a:t>
            </a:r>
          </a:p>
          <a:p>
            <a:pPr>
              <a:lnSpc>
                <a:spcPct val="106000"/>
              </a:lnSpc>
              <a:spcAft>
                <a:spcPts val="900"/>
              </a:spcAft>
            </a:pPr>
            <a:r>
              <a:rPr sz="1500" b="1">
                <a:solidFill>
                  <a:srgbClr val="C9A227"/>
                </a:solidFill>
              </a:rPr>
              <a:t>▪  </a:t>
            </a:r>
            <a:r>
              <a:rPr sz="1500" b="1" i="0">
                <a:solidFill>
                  <a:srgbClr val="212121"/>
                </a:solidFill>
              </a:rPr>
              <a:t>No comparison with training-based detectors</a:t>
            </a:r>
            <a:r>
              <a:rPr sz="1500" b="0" i="0">
                <a:solidFill>
                  <a:srgbClr val="212121"/>
                </a:solidFill>
              </a:rPr>
              <a:t>, </a:t>
            </a:r>
            <a:r>
              <a:rPr sz="1500" b="1" i="0">
                <a:solidFill>
                  <a:srgbClr val="212121"/>
                </a:solidFill>
              </a:rPr>
              <a:t>no statistical significance tests</a:t>
            </a:r>
            <a:r>
              <a:rPr sz="1500" b="0" i="0">
                <a:solidFill>
                  <a:srgbClr val="212121"/>
                </a:solidFill>
              </a:rPr>
              <a:t>, </a:t>
            </a:r>
            <a:r>
              <a:rPr sz="1500" b="1" i="0">
                <a:solidFill>
                  <a:srgbClr val="212121"/>
                </a:solidFill>
              </a:rPr>
              <a:t>no absolute latency figures</a:t>
            </a:r>
            <a:r>
              <a:rPr sz="1500" b="0" i="0">
                <a:solidFill>
                  <a:srgbClr val="212121"/>
                </a:solidFill>
              </a:rPr>
              <a:t> (Section 4.1)</a:t>
            </a:r>
          </a:p>
          <a:p>
            <a:pPr>
              <a:lnSpc>
                <a:spcPct val="106000"/>
              </a:lnSpc>
              <a:spcAft>
                <a:spcPts val="900"/>
              </a:spcAft>
            </a:pPr>
            <a:r>
              <a:rPr sz="1500" b="1">
                <a:solidFill>
                  <a:srgbClr val="C9A227"/>
                </a:solidFill>
              </a:rPr>
              <a:t>▪  </a:t>
            </a:r>
            <a:r>
              <a:rPr sz="1500" b="0" i="0">
                <a:solidFill>
                  <a:srgbClr val="212121"/>
                </a:solidFill>
              </a:rPr>
              <a:t>Fast-sampling mechanics are cited from Bao et al. (2024), </a:t>
            </a:r>
            <a:r>
              <a:rPr sz="1500" b="1" i="0">
                <a:solidFill>
                  <a:srgbClr val="212121"/>
                </a:solidFill>
              </a:rPr>
              <a:t>not re-derived</a:t>
            </a:r>
            <a:r>
              <a:rPr sz="1500" b="0" i="0">
                <a:solidFill>
                  <a:srgbClr val="212121"/>
                </a:solidFill>
              </a:rPr>
              <a:t> — the efficiency claim depends on that prior work (Section 3.2)</a:t>
            </a:r>
          </a:p>
          <a:p>
            <a:pPr>
              <a:lnSpc>
                <a:spcPct val="106000"/>
              </a:lnSpc>
              <a:spcAft>
                <a:spcPts val="900"/>
              </a:spcAft>
            </a:pPr>
            <a:r>
              <a:rPr sz="1500" b="1">
                <a:solidFill>
                  <a:srgbClr val="C9A227"/>
                </a:solidFill>
              </a:rPr>
              <a:t>▪  </a:t>
            </a:r>
            <a:r>
              <a:rPr sz="1500" b="0" i="0">
                <a:solidFill>
                  <a:srgbClr val="212121"/>
                </a:solidFill>
              </a:rPr>
              <a:t>Practical thresholding needs labels (logistic fit), which the authors acknowledge partially undermines "training-free" (Appendix G)</a:t>
            </a:r>
          </a:p>
          <a:p>
            <a:pPr>
              <a:lnSpc>
                <a:spcPct val="106000"/>
              </a:lnSpc>
              <a:spcAft>
                <a:spcPts val="900"/>
              </a:spcAft>
            </a:pPr>
            <a:r>
              <a:rPr sz="1500" b="1">
                <a:solidFill>
                  <a:srgbClr val="C9A227"/>
                </a:solidFill>
              </a:rPr>
              <a:t>▪  </a:t>
            </a:r>
            <a:r>
              <a:rPr sz="1500" b="0" i="0">
                <a:solidFill>
                  <a:srgbClr val="212121"/>
                </a:solidFill>
              </a:rPr>
              <a:t>Deviating hyperparameters for closed-source tests (e.g., </a:t>
            </a:r>
            <a:r>
              <a:rPr sz="1500" b="0" i="0">
                <a:solidFill>
                  <a:srgbClr val="212121"/>
                </a:solidFill>
                <a:latin typeface="Cambria Math"/>
              </a:rPr>
              <a:t>\varepsilon=1</a:t>
            </a:r>
            <a:r>
              <a:rPr sz="1500" b="0" i="0">
                <a:solidFill>
                  <a:srgbClr val="212121"/>
                </a:solidFill>
              </a:rPr>
              <a:t> in Table 8) without full justification (Appendix D)</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923544"/>
            <a:ext cx="1371600" cy="320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0" y="274320"/>
            <a:ext cx="3090672" cy="365760"/>
          </a:xfrm>
          <a:prstGeom prst="rect">
            <a:avLst/>
          </a:prstGeom>
          <a:noFill/>
        </p:spPr>
        <p:txBody>
          <a:bodyPr wrap="square" anchor="t" lIns="0" rIns="0" tIns="0" bIns="0">
            <a:spAutoFit/>
          </a:bodyPr>
          <a:lstStyle/>
          <a:p>
            <a:pPr algn="r"/>
            <a:r>
              <a:rPr sz="1000">
                <a:solidFill>
                  <a:srgbClr val="D9E2F3"/>
                </a:solidFill>
              </a:rPr>
              <a:t>LASTDE  ·  ICLR 2025</a:t>
            </a:r>
          </a:p>
        </p:txBody>
      </p:sp>
      <p:sp>
        <p:nvSpPr>
          <p:cNvPr id="5" name="TextBox 4"/>
          <p:cNvSpPr txBox="1"/>
          <p:nvPr/>
        </p:nvSpPr>
        <p:spPr>
          <a:xfrm>
            <a:off x="502920" y="137160"/>
            <a:ext cx="10972800" cy="621792"/>
          </a:xfrm>
          <a:prstGeom prst="rect">
            <a:avLst/>
          </a:prstGeom>
          <a:noFill/>
        </p:spPr>
        <p:txBody>
          <a:bodyPr wrap="square" anchor="ctr" lIns="0" rIns="0" tIns="0" bIns="0">
            <a:spAutoFit/>
          </a:bodyPr>
          <a:lstStyle/>
          <a:p>
            <a:pPr algn="l"/>
            <a:r>
              <a:rPr sz="2000" b="1">
                <a:solidFill>
                  <a:srgbClr val="FFFFFF"/>
                </a:solidFill>
              </a:rPr>
              <a:t>Conclusion: Local Dynamics Are the Missing Signal — and Open Questions Remain</a:t>
            </a:r>
          </a:p>
        </p:txBody>
      </p:sp>
      <p:sp>
        <p:nvSpPr>
          <p:cNvPr id="6" name="TextBox 5"/>
          <p:cNvSpPr txBox="1"/>
          <p:nvPr/>
        </p:nvSpPr>
        <p:spPr>
          <a:xfrm>
            <a:off x="502920" y="1207008"/>
            <a:ext cx="11201400" cy="5120640"/>
          </a:xfrm>
          <a:prstGeom prst="rect">
            <a:avLst/>
          </a:prstGeom>
          <a:noFill/>
        </p:spPr>
        <p:txBody>
          <a:bodyPr wrap="square" anchor="t" lIns="0" rIns="0" tIns="0" bIns="0">
            <a:spAutoFit/>
          </a:bodyPr>
          <a:lstStyle/>
          <a:p>
            <a:pPr>
              <a:lnSpc>
                <a:spcPct val="106000"/>
              </a:lnSpc>
              <a:spcAft>
                <a:spcPts val="900"/>
              </a:spcAft>
            </a:pPr>
            <a:r>
              <a:rPr sz="1500" b="1">
                <a:solidFill>
                  <a:srgbClr val="C9A227"/>
                </a:solidFill>
              </a:rPr>
              <a:t>▪  </a:t>
            </a:r>
            <a:r>
              <a:rPr sz="1500" b="1" i="0">
                <a:solidFill>
                  <a:srgbClr val="212121"/>
                </a:solidFill>
              </a:rPr>
              <a:t>Contributions:</a:t>
            </a:r>
            <a:r>
              <a:rPr sz="1500" b="0" i="0">
                <a:solidFill>
                  <a:srgbClr val="212121"/>
                </a:solidFill>
              </a:rPr>
              <a:t> first time-series viewpoint on the TPS; DE/MDE local features fused with global likelihood; SOTA at lower compute (100 vs. 10,000 samples) (Abstract, Section 3)</a:t>
            </a:r>
          </a:p>
          <a:p>
            <a:pPr>
              <a:lnSpc>
                <a:spcPct val="106000"/>
              </a:lnSpc>
              <a:spcAft>
                <a:spcPts val="900"/>
              </a:spcAft>
            </a:pPr>
            <a:r>
              <a:rPr sz="1500" b="1">
                <a:solidFill>
                  <a:srgbClr val="C9A227"/>
                </a:solidFill>
              </a:rPr>
              <a:t>▪  </a:t>
            </a:r>
            <a:r>
              <a:rPr sz="1500" b="0" i="0">
                <a:solidFill>
                  <a:srgbClr val="212121"/>
                </a:solidFill>
              </a:rPr>
              <a:t>Numbers to remember: white-box </a:t>
            </a:r>
            <a:r>
              <a:rPr sz="1500" b="1" i="0">
                <a:solidFill>
                  <a:srgbClr val="212121"/>
                </a:solidFill>
              </a:rPr>
              <a:t>95.89 / 98.85</a:t>
            </a:r>
            <a:r>
              <a:rPr sz="1500" b="0" i="0">
                <a:solidFill>
                  <a:srgbClr val="212121"/>
                </a:solidFill>
              </a:rPr>
              <a:t>; black-box </a:t>
            </a:r>
            <a:r>
              <a:rPr sz="1500" b="1" i="0">
                <a:solidFill>
                  <a:srgbClr val="212121"/>
                </a:solidFill>
              </a:rPr>
              <a:t>86.38 / 91.47</a:t>
            </a:r>
            <a:r>
              <a:rPr sz="1500" b="0" i="0">
                <a:solidFill>
                  <a:srgbClr val="212121"/>
                </a:solidFill>
              </a:rPr>
              <a:t> (Tables 1–2)</a:t>
            </a:r>
          </a:p>
          <a:p>
            <a:pPr>
              <a:lnSpc>
                <a:spcPct val="106000"/>
              </a:lnSpc>
              <a:spcAft>
                <a:spcPts val="900"/>
              </a:spcAft>
            </a:pPr>
            <a:r>
              <a:rPr sz="1500" b="1">
                <a:solidFill>
                  <a:srgbClr val="C9A227"/>
                </a:solidFill>
              </a:rPr>
              <a:t>▪  </a:t>
            </a:r>
            <a:r>
              <a:rPr sz="1500" b="1" i="0">
                <a:solidFill>
                  <a:srgbClr val="212121"/>
                </a:solidFill>
              </a:rPr>
              <a:t>Open questions:</a:t>
            </a:r>
            <a:r>
              <a:rPr sz="1500" b="0" i="0">
                <a:solidFill>
                  <a:srgbClr val="212121"/>
                </a:solidFill>
              </a:rPr>
              <a:t> </a:t>
            </a:r>
            <a:r>
              <a:rPr sz="1500" b="0" i="1">
                <a:solidFill>
                  <a:srgbClr val="212121"/>
                </a:solidFill>
              </a:rPr>
              <a:t>why</a:t>
            </a:r>
            <a:r>
              <a:rPr sz="1500" b="0" i="0">
                <a:solidFill>
                  <a:srgbClr val="212121"/>
                </a:solidFill>
              </a:rPr>
              <a:t> exactly do humans fluctuate more? How should the proxy model be chosen? Can thresholds be set without any labels?</a:t>
            </a:r>
          </a:p>
          <a:p>
            <a:pPr>
              <a:lnSpc>
                <a:spcPct val="106000"/>
              </a:lnSpc>
              <a:spcAft>
                <a:spcPts val="900"/>
              </a:spcAft>
            </a:pPr>
            <a:r>
              <a:rPr sz="1500" b="1">
                <a:solidFill>
                  <a:srgbClr val="C9A227"/>
                </a:solidFill>
              </a:rPr>
              <a:t>▪  </a:t>
            </a:r>
            <a:r>
              <a:rPr sz="1500" b="0" i="0">
                <a:solidFill>
                  <a:srgbClr val="212121"/>
                </a:solidFill>
              </a:rPr>
              <a:t>Broader message: interpretable, training-free detectors remain competitive — and have clear room to grow (Section 5, Ethics Statement)</a:t>
            </a:r>
          </a:p>
          <a:p>
            <a:pPr>
              <a:lnSpc>
                <a:spcPct val="106000"/>
              </a:lnSpc>
              <a:spcAft>
                <a:spcPts val="900"/>
              </a:spcAft>
            </a:pPr>
            <a:r>
              <a:rPr sz="1500" b="1">
                <a:solidFill>
                  <a:srgbClr val="C9A227"/>
                </a:solidFill>
              </a:rPr>
              <a:t>▪  </a:t>
            </a:r>
            <a:r>
              <a:rPr sz="1500" b="0" i="0">
                <a:solidFill>
                  <a:srgbClr val="212121"/>
                </a:solidFill>
              </a:rPr>
              <a:t>Thank you — discussion welcome</a:t>
            </a:r>
          </a:p>
        </p:txBody>
      </p:sp>
      <p:sp>
        <p:nvSpPr>
          <p:cNvPr id="7" name="TextBox 6"/>
          <p:cNvSpPr txBox="1"/>
          <p:nvPr/>
        </p:nvSpPr>
        <p:spPr>
          <a:xfrm>
            <a:off x="502920" y="6528816"/>
            <a:ext cx="6400800" cy="274320"/>
          </a:xfrm>
          <a:prstGeom prst="rect">
            <a:avLst/>
          </a:prstGeom>
          <a:noFill/>
        </p:spPr>
        <p:txBody>
          <a:bodyPr wrap="square" anchor="t" lIns="0" rIns="0" tIns="0" bIns="0">
            <a:spAutoFit/>
          </a:bodyPr>
          <a:lstStyle/>
          <a:p>
            <a:r>
              <a:rPr sz="900">
                <a:solidFill>
                  <a:srgbClr val="595959"/>
                </a:solidFill>
              </a:rPr>
              <a:t>Training-Free LLM-Generated Text Detection by Mining Token Probability Sequences</a:t>
            </a:r>
          </a:p>
        </p:txBody>
      </p:sp>
      <p:sp>
        <p:nvSpPr>
          <p:cNvPr id="8" name="TextBox 7"/>
          <p:cNvSpPr txBox="1"/>
          <p:nvPr/>
        </p:nvSpPr>
        <p:spPr>
          <a:xfrm>
            <a:off x="10469880" y="6528816"/>
            <a:ext cx="1216152" cy="274320"/>
          </a:xfrm>
          <a:prstGeom prst="rect">
            <a:avLst/>
          </a:prstGeom>
          <a:noFill/>
        </p:spPr>
        <p:txBody>
          <a:bodyPr wrap="square" anchor="t" lIns="0" rIns="0" tIns="0" bIns="0">
            <a:spAutoFit/>
          </a:bodyPr>
          <a:lstStyle/>
          <a:p>
            <a:pPr algn="r"/>
            <a:r>
              <a:rPr sz="900">
                <a:solidFill>
                  <a:srgbClr val="595959"/>
                </a:solidFill>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Lastde - ICLR 2025 - Presentation</dc:title>
  <dc:subject/>
  <dc:creator>AI Presentation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