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60" r:id="rId5"/>
    <p:sldId id="259" r:id="rId6"/>
    <p:sldId id="261" r:id="rId7"/>
    <p:sldId id="284" r:id="rId8"/>
    <p:sldId id="262" r:id="rId9"/>
    <p:sldId id="285" r:id="rId10"/>
    <p:sldId id="286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96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开场一句话：我们复现 ICLR 2025 的 Lastde，一篇免训练的 AI 文本检测论文。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路线页 15 秒：先讲原理，再讲方法，最后是我们自己的实验和发现。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强调：训练型不是不好，是换领域掉点；免训练的痛点是只用全局统计。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这页回答“概率怎么来的”，用真实 GPT-2 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这一页建立直觉：橙色针多且深，绿色贴顶。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核心动机：平均把顺序抹掉了。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五步是“切碎 → 比较 → 量化 → 汇总”。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只讲“哪个公式对应哪个函数”，不推导。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对应论文 3.1；强调“数格子”这个动作。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体现读懂了实验设计。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数字来自作者 README 的 Table 1/2。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把“唯一差别”说清楚。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先报数字，再说明“绝对值低于论文是因为代理模型小”。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主动暴露异常，为后面铺垫。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对应论文附录 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对应论文 Fig.8（代理模型选择）。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对应论文 Fig.5（response length）。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先定义反转，再说后果，最后给四个未证实的假设。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先立靶子：MDE 不可靠，除法很脆弱。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MDE 小是“剖面平”，不是“文本不抖”。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同一个流畅分，只换分母，结论翻转。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 的均值和标准差来自 50 条人类参考文本。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70 token 的完整计算：参考集也要同长度。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λ 是验证集扫出来的，不是拍的。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先报数字，再主动说局限，防止被追问。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伦理四条对应课程要求。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结论页停 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分工：技术 A；数据 B；论文与伦理 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ICLR 2025  ·  Training-free LLM-generated Text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78992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免训练 AI 文本检测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78992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0">
                <a:solidFill>
                  <a:srgbClr val="DE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Lastde：从 token 概率序列中挖掘局部统计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14800"/>
            <a:ext cx="2011680" cy="54864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论文复现与实验报告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组员：【A / B / C】     课程：【人工智能应用】     日期：【2026.xx】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论文：arXiv:2410.06072   ·   代码：D:\Lastde_Detector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8132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53619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文本为什么能被检测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4028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35000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5856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1343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token 的概率是怎么算的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1752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2724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03580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9067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五步流水线 + 一个公式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79476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90448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81304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我们的复现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86791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主结果、消融、鲁棒性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7200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68172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590288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64515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方向反转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349240"/>
            <a:ext cx="822960" cy="640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458968"/>
            <a:ext cx="82296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67527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422392"/>
            <a:ext cx="6583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加权融合 + 长度校准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问题：AI 文本已经很难分辨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训练型检测器要标注、要训练；免训练是另一条路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4480560" cy="33832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9319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现实中的滥用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93192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假新闻、批量生成的评论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学术写作中的代写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模型用 AI 数据训练导致退化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349240" y="1508760"/>
          <a:ext cx="6309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做法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缺点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训练型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抽特征 → 训二分类器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要标注、换领域掉点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免训练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统计量直接打分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只用全局、采样慢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349240" y="3977639"/>
            <a:ext cx="6309360" cy="1143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32120" y="4096512"/>
            <a:ext cx="5943600" cy="8686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本文要补的缺口：现有免训练方法只看“整段平均”，忽略了概率曲线的局部形状。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49149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 token 的概率怎么算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前文 → 5 万个分数 → softmax → 取真实词 → 取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6517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2651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31720"/>
            <a:ext cx="2651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 99 个 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645920"/>
            <a:ext cx="26517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965960"/>
            <a:ext cx="2651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31720"/>
            <a:ext cx="2651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万个候选各一个分数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645920"/>
            <a:ext cx="26517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65960"/>
            <a:ext cx="2651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softmax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31720"/>
            <a:ext cx="2651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分数变概率，和 =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55448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1645920"/>
            <a:ext cx="26517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965960"/>
            <a:ext cx="2651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31720"/>
            <a:ext cx="2651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取真实词那一项，再取 log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22960" y="338328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如果作者实际写的是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模型给的概率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log p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图上的高度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approve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6.07%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−2.80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偏上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fund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0.72%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−4.93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中间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procrastinate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 0.00004%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−14.7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针尖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同一个前文，模型给的分布一样；写的词越“冷门”，点掉得越深。图里那些向下的尖就是这些词。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核心洞察：人写的曲线更“毛躁”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同一开头，人续写 vs AI 续写，概率曲线的形状不同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120640" cy="3840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TPS：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被模型预测的概率，按顺序排成一条序列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橙色（人）：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常有模型没想到的词，曲线出现深谷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绿色（AI）：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按模型分布采样，曲线贴着顶部、很平</a:t>
            </a:r>
          </a:p>
        </p:txBody>
      </p:sp>
      <p:pic>
        <p:nvPicPr>
          <p:cNvPr id="8" name="Picture 7" descr="fig1a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031" y="1463040"/>
            <a:ext cx="4830417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52160" y="5715000"/>
            <a:ext cx="58521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图源：论文 Fig.1(a)，OPT-2.7 续写的 TPS 对比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只取平均，会丢掉什么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前人的免训练方法：把整段 TPS 压成一个数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69847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怎么压成一个数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 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只看向整体，忽略波动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LogRank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log(真实词排名)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换了刻度，还是平均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DetectLRR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 ÷ LogRank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两个平均相除，还是平均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3703320"/>
            <a:ext cx="10698480" cy="210312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822191"/>
            <a:ext cx="103327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一个反例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A: -1  -5  -1  -5  -1  -5     平均 = -3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B: -3  -3  -3  -3  -3  -3     平均 = -3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Likelihood 判不出区别；但 A 在剧烈震荡（人），B 很平（AI）。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291465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平均只看总和，不看顺序。Lastde </a:t>
            </a:r>
            <a:r>
              <a:rPr lang="zh-CN"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补齐了局部的顺序特征</a:t>
            </a:r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92608"/>
            <a:ext cx="10515600" cy="49149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</a:t>
            </a:r>
            <a:r>
              <a:rPr lang="en-US" alt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TPS</a:t>
            </a:r>
            <a:r>
              <a:rPr lang="zh-CN" altLang="en-US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不行</a:t>
            </a:r>
            <a:r>
              <a:rPr lang="en-US" alt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如何挖掘</a:t>
            </a:r>
            <a:r>
              <a:rPr lang="en-US" alt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tps</a:t>
            </a:r>
            <a:r>
              <a:rPr lang="zh-CN" altLang="en-US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进行改良</a:t>
            </a:r>
            <a:r>
              <a:rPr lang="en-US" altLang="zh-CN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作者的思想：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4850" y="1098550"/>
            <a:ext cx="1148588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因为前人在用</a:t>
            </a:r>
            <a:r>
              <a:rPr lang="en-US" altLang="zh-CN"/>
              <a:t>TPS</a:t>
            </a:r>
            <a:r>
              <a:rPr lang="zh-CN" altLang="en-US"/>
              <a:t>去判断这</a:t>
            </a:r>
            <a:r>
              <a:rPr lang="en-US" altLang="zh-CN"/>
              <a:t>100</a:t>
            </a:r>
            <a:r>
              <a:rPr lang="zh-CN" altLang="en-US"/>
              <a:t>个数是不是</a:t>
            </a:r>
            <a:r>
              <a:rPr lang="en-US" altLang="zh-CN"/>
              <a:t>AI</a:t>
            </a:r>
            <a:r>
              <a:rPr lang="zh-CN" altLang="en-US"/>
              <a:t>写的时候，会把他们压成一个分数（假设</a:t>
            </a:r>
            <a:r>
              <a:rPr lang="en-US" altLang="zh-CN"/>
              <a:t>100</a:t>
            </a:r>
            <a:r>
              <a:rPr lang="zh-CN" altLang="en-US"/>
              <a:t>个</a:t>
            </a:r>
            <a:r>
              <a:rPr lang="en-US" altLang="zh-CN"/>
              <a:t>token</a:t>
            </a:r>
            <a:r>
              <a:rPr lang="zh-CN" altLang="en-US"/>
              <a:t>）</a:t>
            </a:r>
            <a:br>
              <a:rPr lang="zh-CN" altLang="en-US"/>
            </a:br>
            <a:r>
              <a:rPr lang="en-US" altLang="zh-CN"/>
              <a:t>eg</a:t>
            </a:r>
            <a:r>
              <a:rPr lang="zh-CN" altLang="en-US"/>
              <a:t>：</a:t>
            </a:r>
          </a:p>
          <a:p>
            <a:r>
              <a:rPr lang="en-US" altLang="zh-CN"/>
              <a:t>Likelihood</a:t>
            </a:r>
            <a:r>
              <a:rPr lang="zh-CN" altLang="en-US"/>
              <a:t>：</a:t>
            </a:r>
            <a:r>
              <a:rPr lang="en-US" altLang="zh-CN"/>
              <a:t>mean</a:t>
            </a:r>
            <a:r>
              <a:rPr lang="zh-CN" altLang="en-US"/>
              <a:t>（</a:t>
            </a:r>
            <a:r>
              <a:rPr lang="en-US" altLang="zh-CN"/>
              <a:t>TPS</a:t>
            </a:r>
            <a:r>
              <a:rPr lang="zh-CN" altLang="en-US"/>
              <a:t>）</a:t>
            </a:r>
            <a:br>
              <a:rPr lang="zh-CN" altLang="en-US"/>
            </a:br>
            <a:r>
              <a:rPr lang="en-US" altLang="zh-CN"/>
              <a:t>LogRank</a:t>
            </a:r>
            <a:r>
              <a:rPr lang="zh-CN" altLang="en-US"/>
              <a:t>：</a:t>
            </a:r>
            <a:r>
              <a:rPr lang="zh-CN"/>
              <a:t>按照文本序列，求每个</a:t>
            </a:r>
            <a:r>
              <a:rPr lang="en-US" altLang="zh-CN"/>
              <a:t>token</a:t>
            </a:r>
            <a:r>
              <a:rPr lang="zh-CN" altLang="en-US"/>
              <a:t>在概率分布里面的排名，然后求</a:t>
            </a:r>
            <a:r>
              <a:rPr lang="en-US" altLang="zh-CN"/>
              <a:t>mean</a:t>
            </a:r>
            <a:r>
              <a:rPr lang="zh-CN" altLang="en-US"/>
              <a:t>（</a:t>
            </a:r>
            <a:r>
              <a:rPr lang="en-US" altLang="zh-CN"/>
              <a:t>rank</a:t>
            </a:r>
            <a:r>
              <a:rPr lang="zh-CN" altLang="en-US"/>
              <a:t>）</a:t>
            </a:r>
            <a:br>
              <a:rPr lang="zh-CN" altLang="en-US"/>
            </a:br>
            <a:r>
              <a:rPr lang="en-US" altLang="zh-CN"/>
              <a:t>DetectLRR</a:t>
            </a:r>
            <a:r>
              <a:rPr lang="zh-CN" altLang="en-US"/>
              <a:t>：</a:t>
            </a:r>
            <a:r>
              <a:rPr lang="en-US"/>
              <a:t>Likelihood</a:t>
            </a:r>
            <a:r>
              <a:rPr lang="zh-CN" altLang="en-US"/>
              <a:t>➗️</a:t>
            </a:r>
            <a:r>
              <a:rPr lang="en-US" altLang="zh-CN"/>
              <a:t>log rank</a:t>
            </a:r>
            <a:br>
              <a:rPr lang="en-US" altLang="zh-CN"/>
            </a:br>
            <a:r>
              <a:rPr lang="zh-CN" altLang="en-US"/>
              <a:t>平均就意味着所有</a:t>
            </a:r>
            <a:r>
              <a:rPr lang="en-US" altLang="zh-CN"/>
              <a:t>token</a:t>
            </a:r>
            <a:r>
              <a:rPr lang="zh-CN" altLang="en-US"/>
              <a:t>的顺序和波动都被抹除了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3501572"/>
            <a:ext cx="5257800" cy="762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06" y="4439602"/>
            <a:ext cx="5553075" cy="15703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方法：把概率曲线当时间序列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五步得到局部统计，再和全局似然结合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 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前向 + 取真实词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多尺度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 τ 个平均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4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滑窗 + 余弦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相邻片段像不像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60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分箱 + 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直方图 → 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1645920"/>
            <a:ext cx="2057400" cy="19202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6920" y="1737360"/>
            <a:ext cx="2057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103120"/>
            <a:ext cx="2057400" cy="4114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 + 相除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560320"/>
            <a:ext cx="205740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 后除以似然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4251960"/>
            <a:ext cx="31089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57200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平均对数似然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4251960"/>
            <a:ext cx="31089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57200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Agg-MDE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4160520"/>
            <a:ext cx="310896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55279" y="4251960"/>
            <a:ext cx="31089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572000"/>
            <a:ext cx="310896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= 全局 ÷ 局部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论文式(9)：Lastde(t) = 平均 log p ÷ Agg-MDE(t)，分数越高越像 AI。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505" y="91440"/>
            <a:ext cx="11485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如何看清局部形状呢？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95" y="608965"/>
            <a:ext cx="3237230" cy="22612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95" y="2915920"/>
            <a:ext cx="3017520" cy="24460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110" y="608330"/>
            <a:ext cx="2362200" cy="22618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3755" y="3229610"/>
            <a:ext cx="2440940" cy="18192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236" y="608965"/>
            <a:ext cx="2179289" cy="249406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8111" y="3229610"/>
            <a:ext cx="2551184" cy="20351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1045" y="603885"/>
            <a:ext cx="3585845" cy="26257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11275" y="3429000"/>
            <a:ext cx="3235615" cy="2305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062566" cy="349190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" y="3565696"/>
            <a:ext cx="3382010" cy="23983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8644" y="188714"/>
            <a:ext cx="7162800" cy="1943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9836" y="2221562"/>
            <a:ext cx="5783623" cy="39450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三个公式，对应三段代码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TPS（式 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56232"/>
            <a:ext cx="6035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L(t) = ( log p(t₁), …, log p(tₙ)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709928"/>
            <a:ext cx="1645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token_logprobs()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多样性熵（式 8）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273552"/>
            <a:ext cx="6035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DE = − Σ pᵢ log pᵢ  /  log 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127248"/>
            <a:ext cx="1645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_de()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434840"/>
            <a:ext cx="10698480" cy="11887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526279"/>
            <a:ext cx="29260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分数（式 9）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90872"/>
            <a:ext cx="6035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Lastde = mean(log p)  /  Agg-MDE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544568"/>
            <a:ext cx="1645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main()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我们的实现与官方 fastMDE.py 对齐：同一输入，误差 &lt; 1e-6。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手算一遍：DE 到底在算什么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5214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 p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余弦范围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占用格子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Agg-MDE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−3.03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0.82 ~ 0.91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/ 120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0.160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−2.84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0.99 ~ 1.00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/ 120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0.000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200400"/>
            <a:ext cx="11064240" cy="237744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3310128"/>
            <a:ext cx="1060704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怎么从余弦到 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57600"/>
            <a:ext cx="10607040" cy="1828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相邻窗口余弦 → 9 个值（人类 0.82~0.91）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按 [-1,1] 分 120 格，数直方图（人类占 5 格）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归一化得 p，算 −Σ p ln p，再除以 ln(120) → DE = 0.318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三个尺度各算一次，取标准差 → Agg-MDE = 0.160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106070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余弦看窗口像不像，DE 看这些相似度散不散。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太光滑，所有余弦挤在 1 格，DE = 0；真实数据不会这么极端（约 0.07）。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评测协议：怎么保证比较公平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每个数据集 150 条人类文本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取前 30 个 token 当提示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让源模型续写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截断到等长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59" y="1691640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AUROC：排序正确率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 = 瞎猜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1.0 = 完美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阈值无关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554480"/>
            <a:ext cx="361188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9" y="1691640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19456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白盒：用源模型打分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黑盒：用代理模型打分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代理默认 GPT-J-6B</a:t>
            </a:r>
          </a:p>
          <a:p>
            <a:pPr>
              <a:spcAft>
                <a:spcPts val="600"/>
              </a:spcAft>
            </a:pPr>
            <a:r>
              <a:rPr sz="9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我们：GPT-2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论文报告的数字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白盒 / 黑盒平均 AUROC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832497"/>
              </p:ext>
            </p:extLst>
          </p:nvPr>
        </p:nvGraphicFramePr>
        <p:xfrm>
          <a:off x="914400" y="1645920"/>
          <a:ext cx="9966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白盒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黑盒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Lastde（本文）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95.89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86.38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endParaRPr sz="1400" b="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400" b="0" dirty="0">
                        <a:solidFill>
                          <a:srgbClr val="59595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Fast-DetectGPT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97.82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85.68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82.54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71.32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5120640"/>
            <a:ext cx="1033272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白盒分数高，因为“出题人就是阅卷人”；黑盒更接近真实场景，普遍掉 10 个点左右。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我们的复现：缩规模，但不缩方法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作者数据 + 作者算法 + 小模型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548640" y="1755648"/>
            <a:ext cx="21031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554480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3017520" y="1755648"/>
            <a:ext cx="83210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作者公开的 XSum 150 对（人类 / GPT-2 XL 续写）</a:t>
            </a:r>
          </a:p>
        </p:txBody>
      </p:sp>
      <p:sp>
        <p:nvSpPr>
          <p:cNvPr id="11" name="Rounded Rectangle 10"/>
          <p:cNvSpPr/>
          <p:nvPr>
            <p:custDataLst>
              <p:tags r:id="rId4"/>
            </p:custDataLst>
          </p:nvPr>
        </p:nvSpPr>
        <p:spPr>
          <a:xfrm>
            <a:off x="548640" y="260603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548640" y="2807208"/>
            <a:ext cx="21031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2606039"/>
            <a:ext cx="8686800" cy="868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3017520" y="2807208"/>
            <a:ext cx="83210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GPT-2（1.24 亿），CPU 推理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6072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824728"/>
            <a:ext cx="106984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和论文不同：论文用 GPT-J 6B（12GB），我们用 GPT-2（525MB）。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主结果：Lastde 高于基线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XSum · 150 对 · GPT-2 打分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926080" cy="8229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4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0.8938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256032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Likelihood 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292608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32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0.8535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329184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5482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 +4.03 个百分点</a:t>
            </a:r>
          </a:p>
        </p:txBody>
      </p:sp>
      <p:pic>
        <p:nvPicPr>
          <p:cNvPr id="12" name="Picture 11" descr="lastd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608124"/>
            <a:ext cx="7498079" cy="4098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23360" y="5852160"/>
            <a:ext cx="7498079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样本数：300（人类 150 / AI 150）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492443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三个自检</a:t>
            </a:r>
            <a:r>
              <a:rPr sz="26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73736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论文方向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是否符合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 p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-3.280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-2.815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更高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Agg-MDE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0.0736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0.0754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人类更高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否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 均值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-44.7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-37.6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更高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00600"/>
            <a:ext cx="10789920" cy="2923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第二行是复现中出现的异常：Agg-MDE</a:t>
            </a:r>
            <a:r>
              <a:rPr sz="13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方向和论文相反</a:t>
            </a:r>
            <a:r>
              <a:rPr sz="13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消融：全局和局部，缺一不可？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737360"/>
          <a:ext cx="10241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打分方式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AUROC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Lastde（LL ÷ Agg-MDE）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0.8938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论文方法，最高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 LL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0.8535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最简单基线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 Agg-MDE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0.4096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低于 0.5，方向反了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572000"/>
            <a:ext cx="1024128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组合最高（0.8938）→ 复现了“全局 + 局部”的结论；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 Agg-MDE 只有 0.4096，说明局部项单独用会反向，必须靠似然校准。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鲁棒性一：代理模型越大越准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模型变大，AUROC 单调上升，但 MDE 方向仍未恢复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代理模型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参数量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 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distilgpt2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0.82 亿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0.8655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0.7917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0.0758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gpt2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1.24 亿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0.8938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0.8535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0.0736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0.0754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gpt2-medium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3.55 亿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0.9137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0.8217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0.0693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0.0737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480560"/>
            <a:ext cx="10789920" cy="11887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结论：代理越大，Lastde 越准（0.866 → 0.894 → 0.914）；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但人类 MDE 始终低于 AI，方向没有恢复，差距反而扩大到 0.0044。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78992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注意：Likelihood 基线并非随模型变大单调上升（0.792 → 0.854 → 0.822），所以“提升”列不能单独解读。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鲁棒性二：文本越短越难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与论文 Fig.5 的结论一致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max-tokens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Lastde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Likelihood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 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0.6975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0.6894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0.0897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0.0912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0.8576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0.7997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0.0785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0.0807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256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0.8938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0.8535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0.0736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480560"/>
            <a:ext cx="1078992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结论：长度从 256 降到 64，AUROC 由 0.894 降到 0.698；</a:t>
            </a:r>
          </a:p>
          <a:p>
            <a:pPr algn="l"/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短文本下 MDE 从 0.074 升至 0.090，Lastde 相对基线的优势从 4.0 pp 缩到 0.8 pp。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78992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原因和论文 Fig.5 一样：token 少，可用尺度少，DE 的方差大。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复现中的异常：MDE 方向反了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论文说人写得更“毛躁”，我们的数据却相反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31089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什么叫“反转”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10896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论文：人类 MDE &gt; AI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我们：人类 0.0736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AI　 0.0754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 0.0018，很小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554480"/>
            <a:ext cx="3566160" cy="35661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664208"/>
            <a:ext cx="31089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为什么与论文相悖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310896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方向反了，MDE 从“人类信号”变成“AI 信号”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按论文方向用：AUROC 0.4096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反着用：0.5904，也不高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1664208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排查过程（五步）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103120"/>
            <a:ext cx="3200400" cy="2743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差 0.0018，先问是否噪声</a:t>
            </a:r>
          </a:p>
          <a:p>
            <a:pPr algn="l"/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bootstrap：区间不含 0，显著但小</a:t>
            </a:r>
          </a:p>
          <a:p>
            <a:pPr algn="l"/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换三个代理都反 → 不是容量</a:t>
            </a:r>
          </a:p>
          <a:p>
            <a:pPr algn="l"/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同长度截断 → 不是长度</a:t>
            </a:r>
          </a:p>
          <a:p>
            <a:pPr algn="l"/>
            <a:endParaRPr sz="1000" b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推测：源/代理同家族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458968"/>
            <a:ext cx="10607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方向不确定，所以改进不假设方向，改用加权融合。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不可靠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三个观察：方向、跨模型、单独使用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2004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 0.0736  &lt;  AI 0.0754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32004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论文假设人类更高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59" y="171907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换模型也没用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148840"/>
            <a:ext cx="32004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三个代理全部相反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852928"/>
            <a:ext cx="32004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不是模型容量问题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00200"/>
            <a:ext cx="3566160" cy="182880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9" y="1719072"/>
            <a:ext cx="32004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4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单独用更差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2148840"/>
            <a:ext cx="320040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AUROC 0.4096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2852928"/>
            <a:ext cx="3200400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按论文方向算，比瞎猜差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630936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一个真实例子（XSum · GPT-2 · 人类 191 / AI 200 token）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977639"/>
          <a:ext cx="6309360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log p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Agg-MDE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原分数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−3.654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−45.88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−2.776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0.0603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−46.07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5596128"/>
            <a:ext cx="63093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 256 token；这两条是 191 / 200，未截断。</a:t>
            </a:r>
          </a:p>
          <a:p>
            <a:pPr algn="l"/>
            <a:r>
              <a:rPr sz="10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排序：人类 −45.88 &gt; AI −46.07，判成 AI。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3703320"/>
            <a:ext cx="4480560" cy="22860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0" y="3794760"/>
            <a:ext cx="4114800" cy="2103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为什么错：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的 log p 很像 AI（−2.78），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 MDE 异常小（0.0603），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除以小数 → 分数被拉到 −46。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一个指标异常，就盖掉另一个。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为什么会偏小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测的不是抖动，是“抖动随尺度的变化”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0881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τ=1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τ=2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τ=3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τ=4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τ=5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0.671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0.615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0.546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0.511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0.474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0.080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0.669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0.641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0.593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0.563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0.518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0.060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520440"/>
            <a:ext cx="6675120" cy="19202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“降幅” = τ=1 减 τ=5：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 0.671−0.474 = 0.197；AI 0.669−0.518 = 0.151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降幅大：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多样性集中在细尺度，一平滑就掉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降幅小：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多样性跨尺度持续，平滑后还在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个数越接近：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标准差越小，MDE 越小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520440"/>
            <a:ext cx="3931920" cy="192024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3611880"/>
            <a:ext cx="3566160" cy="17373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所以：MDE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小 ≠ </a:t>
            </a:r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文本不抖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 algn="l"/>
            <a:endParaRPr sz="1000" b="0" dirty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抖”指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 </a:t>
            </a:r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高（局部形状变化大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</a:p>
          <a:p>
            <a:pPr algn="l"/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 </a:t>
            </a:r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很高的文本，只要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个尺度的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 </a:t>
            </a:r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差不多，MDE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0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也可以很小</a:t>
            </a:r>
            <a:r>
              <a:rPr sz="1000" b="0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5687568"/>
            <a:ext cx="105156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这也解释了方向为什么会反：MDE 由“跨尺度是否一致”决定，不由平滑程度决定。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当分母的问题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同一个流畅分，除以不同的抖动分，结论会翻转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6583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假设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抖动分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分数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判断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MDE 正常（人类均值）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0.0796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−34.9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MDE 异常小（实际值）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0.0603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−46.1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91840"/>
            <a:ext cx="658368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 AI 文本，流畅分都是 −2.776；</a:t>
            </a:r>
          </a:p>
          <a:p>
            <a:pPr algn="l"/>
            <a:r>
              <a:rPr sz="12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只是分母从 0.0796 变成 0.0603。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91640"/>
            <a:ext cx="4114800" cy="237744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0" y="1810512"/>
            <a:ext cx="3749039" cy="21031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分母小 24%</a:t>
            </a:r>
          </a:p>
          <a:p>
            <a:pPr algn="l"/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 −34.9 → −46.1</a:t>
            </a:r>
          </a:p>
          <a:p>
            <a:pPr algn="l"/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 11.2 分</a:t>
            </a:r>
          </a:p>
          <a:p>
            <a:pPr algn="l"/>
            <a:r>
              <a:rPr sz="12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判决：AI → 人类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389120"/>
            <a:ext cx="10972800" cy="128016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515600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分母就像放大镜的倍数：倍数一变，负分被放大的程度就变。</a:t>
            </a:r>
          </a:p>
          <a:p>
            <a:pPr algn="l"/>
            <a:r>
              <a:rPr sz="13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只差 0.02，结论就翻。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改进：加权 z 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不再假设方向，让权重从验证集里学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原方法（没有标准化）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4937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score = 平均 log p ÷ Agg-MDE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12801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改进（两项都 z 后相加）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965960"/>
            <a:ext cx="493776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score = z(log p) + λ · z(MDE)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里的两个数从哪来？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64992"/>
            <a:ext cx="548640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200"/>
              </a:spcAft>
            </a:pPr>
            <a:r>
              <a:rPr sz="7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参考集：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50 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条人类文本（不参与测试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</a:p>
          <a:p>
            <a:pPr>
              <a:spcAft>
                <a:spcPts val="200"/>
              </a:spcAft>
            </a:pPr>
            <a:r>
              <a:rPr sz="7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 </a:t>
            </a:r>
            <a:r>
              <a:rPr sz="10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p：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−3.246，标准差 0.510</a:t>
            </a:r>
          </a:p>
          <a:p>
            <a:pPr>
              <a:spcAft>
                <a:spcPts val="200"/>
              </a:spcAft>
            </a:pPr>
            <a:r>
              <a:rPr sz="7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Agg-MDE：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 0.0741，标准差 0.0078</a:t>
            </a:r>
          </a:p>
          <a:p>
            <a:pPr>
              <a:spcAft>
                <a:spcPts val="200"/>
              </a:spcAft>
            </a:pPr>
            <a:r>
              <a:rPr sz="7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z(x) =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(x − 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÷ 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标准差</a:t>
            </a:r>
            <a:endParaRPr sz="10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3640" y="3017520"/>
            <a:ext cx="548640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例：第 19 页那对文本（XSum · GPT-2）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364992"/>
            <a:ext cx="5486400" cy="1645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人类（191 token）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z(log p)=−0.80，z(MDE)=+0.71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→ −0.80+0.6×0.71 = −0.37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AI（200 token）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z(log p)=+0.92，z(MDE)=−1.77</a:t>
            </a:r>
          </a:p>
          <a:p>
            <a:pPr algn="l"/>
            <a:r>
              <a:rPr sz="950" b="0">
                <a:solidFill>
                  <a:srgbClr val="595959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→ +0.92+0.6×(−1.77) = −0.14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= 0.6 在验证集上选出；测试集只报最终结果。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限制：只调了一个系数，但用了 125 条带标签验证集，属于弱监督。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算一遍：30 token 提示 + 40 token 续写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 token 的文本，怎么从 TPS 走到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6424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 token  →  69 个 log 概率（第 1 个 token 没有前文）  →  平均 log p、MDE  →  z  →  score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文本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 log p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MDE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z(log p)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z(MDE)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score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人类（30+40）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−3.390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0.0933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+0.22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+0.29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0.39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AI（30+40）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−2.870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0.0999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+1.00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+0.76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1.45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3832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474720"/>
            <a:ext cx="1060704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参考集：50 条人类文本（同样截到 70 token）</a:t>
            </a:r>
          </a:p>
          <a:p>
            <a:pPr algn="l"/>
            <a:r>
              <a:rPr sz="1000" b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 p：均值 −3.535，标准差 0.666；MDE：均值 0.0891，标准差 0.0143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1064240" cy="1280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300"/>
              </a:spcAft>
            </a:pPr>
            <a:r>
              <a:rPr sz="7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 dirty="0" err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人类：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(log p) = (−3.390 + 3.535) ÷ 0.666 = +0.22；z(MDE) = (0.0933 − 0.0891) ÷ 0.0143 = +0.29</a:t>
            </a:r>
          </a:p>
          <a:p>
            <a:pPr>
              <a:spcAft>
                <a:spcPts val="300"/>
              </a:spcAft>
            </a:pPr>
            <a:r>
              <a:rPr sz="7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score：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0.22 + 0.6 × 0.29 = 0.39；AI 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那条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1.45 → AI 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更高，判对</a:t>
            </a:r>
            <a:endParaRPr sz="10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7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000" b="1" dirty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整体（300 条，70 token）：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baseline 0.7150 → </a:t>
            </a:r>
            <a:r>
              <a:rPr sz="10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</a:t>
            </a:r>
            <a:r>
              <a:rPr sz="10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0.7355（+2.0 pp）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0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短文本仍比 256 token 难：0.7355 vs 0.8955。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λ 为什么按“AUROC 最高”来选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不是拍脑袋：验证集上扫一遍，取峰点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</a:p>
        </p:txBody>
      </p:sp>
      <p:pic>
        <p:nvPicPr>
          <p:cNvPr id="7" name="Picture 6" descr="lambda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49552"/>
            <a:ext cx="7132320" cy="37246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1737360"/>
            <a:ext cx="4114800" cy="3474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−1.5 到 1.5，每 0.1 一个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λ：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在验证集算一次 AUROC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取峰点：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0.6，AUROC 0.9344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为什么不用准确率：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要先定阈值</a:t>
            </a:r>
          </a:p>
          <a:p>
            <a:pPr>
              <a:spcAft>
                <a:spcPts val="6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为什么不在测试集选：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那是作弊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 λ 只看验证集；测试集只报最终结果。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改进结果：+1.2 个百分点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同一测试集、同一批数据，只换组合方式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6035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AUROC</a:t>
                      </a:r>
                    </a:p>
                  </a:txBody>
                  <a:tcPr marL="73152" marR="73152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 Lastde（除法）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0.8835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只用平均 log p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0.8885</a:t>
                      </a:r>
                    </a:p>
                  </a:txBody>
                  <a:tcPr marL="73152" marR="73152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加权融合（本文）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0.8955</a:t>
                      </a:r>
                    </a:p>
                  </a:txBody>
                  <a:tcPr marL="73152" marR="73152"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49440" y="1691640"/>
            <a:ext cx="4663440" cy="178308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1828800"/>
            <a:ext cx="429768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辅助改进：长度校准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240280"/>
            <a:ext cx="4206240" cy="11887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混合长度：0.8206 → 0.8322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 token 误报率：12% → 8%</a:t>
            </a:r>
          </a:p>
          <a:p>
            <a:pPr>
              <a:spcAft>
                <a:spcPts val="400"/>
              </a:spcAft>
            </a:pPr>
            <a:r>
              <a:rPr sz="8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1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等长基准上无效（桶内不变）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603504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1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全量 300 条基线为 0.8938；不同切分不能直接比较。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09160"/>
            <a:ext cx="10789920" cy="86868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818888"/>
            <a:ext cx="10424160" cy="7315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2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边界：λ 来自验证集；测试集只有 125 条，1.2 个点有波动；</a:t>
            </a:r>
          </a:p>
          <a:p>
            <a:pPr algn="l"/>
            <a:r>
              <a:rPr sz="1200" b="0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长度校准只对“混合长度部署”有意义，对论文的等长基准无效。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知道边界，才算真的复现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四点局限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93776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代理模型 GPT-2 替代 GPT-J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只用了 1 个数据集（XSum）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没有实现 Lastde++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截断长度与论文不完全一致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B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500" b="1">
                <a:solidFill>
                  <a:srgbClr val="C55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伦理与社会责任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93776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800"/>
              </a:spcAft>
            </a:pPr>
            <a:r>
              <a:rPr sz="10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误判：套话式的人类写作会被判成</a:t>
            </a:r>
            <a:r>
              <a:rPr sz="13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偏差：语言、领域、非母语作者</a:t>
            </a:r>
            <a:endParaRPr sz="13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军备竞赛：检测与反检测</a:t>
            </a:r>
            <a:endParaRPr sz="13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sz="1000" b="1" dirty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300" b="0" dirty="0" err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隐私：检测需要读取文本</a:t>
            </a:r>
            <a:endParaRPr sz="1300" b="0" dirty="0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13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四句话总结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复现  ·  AI for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/>
            <a:r>
              <a:rPr sz="900" b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98480" cy="3566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方法有效：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Lastde 把概率曲线当时间序列，用局部熵补充全局似然。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复现成立：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作者数据上，Lastde 的 AUROC 高于 Likelihood 基线（0.894 vs 0.854）。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改进有效：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MDE 不可靠，改用加权 z 融合，同一测试集 0.8835 → 0.8955（+1.2 pp）。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</a:t>
            </a:r>
            <a:r>
              <a:rPr sz="15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边界清楚：</a:t>
            </a:r>
            <a:r>
              <a:rPr sz="1500" b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短文本仍弱；长度校准只对混合长度部署有效，对等长基准无效。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184648"/>
            <a:ext cx="10241280" cy="685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复现的价值不在于把 95.89 抄成一样，而在于能说清“差在哪、为什么”。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2000" b="0">
                <a:solidFill>
                  <a:srgbClr val="DEEB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谢谢，欢迎提问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/>
            <a:r>
              <a:rPr sz="12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代码：D:\Lastde_Detector   ·   数据：datasets/human_llm_data_for_experiment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992125984245,&quot;left&quot;:43.2,&quot;top&quot;:122.4,&quot;width&quot;:849.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992125984245,&quot;left&quot;:43.2,&quot;top&quot;:122.4,&quot;width&quot;:849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992125984245,&quot;left&quot;:43.2,&quot;top&quot;:122.4,&quot;width&quot;:849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992125984245,&quot;left&quot;:43.2,&quot;top&quot;:122.4,&quot;width&quot;:849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992125984245,&quot;left&quot;:43.2,&quot;top&quot;:122.4,&quot;width&quot;:849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6.79992125984245,&quot;left&quot;:43.2,&quot;top&quot;:122.4,&quot;width&quot;:849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2535</Words>
  <Application>Microsoft Office PowerPoint</Application>
  <PresentationFormat>宽屏</PresentationFormat>
  <Paragraphs>577</Paragraphs>
  <Slides>31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wenjie shi</dc:creator>
  <dc:description>generated using python-pptx</dc:description>
  <cp:lastModifiedBy>2260032489@student.must.edu.mo</cp:lastModifiedBy>
  <cp:revision>5</cp:revision>
  <dcterms:created xsi:type="dcterms:W3CDTF">2013-01-27T09:14:00Z</dcterms:created>
  <dcterms:modified xsi:type="dcterms:W3CDTF">2026-10-26T07:56:09Z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D7943E1C669A408FAA423F95528C2873_12</vt:lpwstr>
  </property>
  <property fmtid="{D5CDD505-2E9C-101B-9397-08002B2CF9AE}" pid="3" name="KSOProductBuildVer">
    <vt:lpwstr>2052-12.1.0.29161</vt:lpwstr>
  </property>
</Properties>
</file>